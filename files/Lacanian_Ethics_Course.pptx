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B2F"/>
        </a:solidFill>
      </p:bgPr>
    </p:bg>
    <p:spTree>
      <p:nvGrpSpPr>
        <p:cNvPr id="1" name=""/>
        <p:cNvGrpSpPr/>
        <p:nvPr/>
      </p:nvGrpSpPr>
      <p:grpSpPr>
        <a:xfrm>
          <a:off x="0" y="0"/>
          <a:ext cx="0" cy="0"/>
          <a:chOff x="0" y="0"/>
          <a:chExt cx="0" cy="0"/>
        </a:xfrm>
      </p:grpSpPr>
      <p:sp>
        <p:nvSpPr>
          <p:cNvPr id="2" name="Shape 0"/>
          <p:cNvSpPr/>
          <p:nvPr/>
        </p:nvSpPr>
        <p:spPr>
          <a:xfrm>
            <a:off x="8778240" y="-2011680"/>
            <a:ext cx="6400800" cy="6400800"/>
          </a:xfrm>
          <a:prstGeom prst="ellipse">
            <a:avLst/>
          </a:prstGeom>
          <a:solidFill>
            <a:srgbClr val="2A2A47"/>
          </a:solidFill>
          <a:ln/>
        </p:spPr>
      </p:sp>
      <p:sp>
        <p:nvSpPr>
          <p:cNvPr id="3" name="Shape 1"/>
          <p:cNvSpPr/>
          <p:nvPr/>
        </p:nvSpPr>
        <p:spPr>
          <a:xfrm>
            <a:off x="10241280" y="-548640"/>
            <a:ext cx="3291840" cy="3291840"/>
          </a:xfrm>
          <a:prstGeom prst="ellipse">
            <a:avLst/>
          </a:prstGeom>
          <a:solidFill>
            <a:srgbClr val="4A4E69"/>
          </a:solidFill>
          <a:ln/>
        </p:spPr>
      </p:sp>
      <p:sp>
        <p:nvSpPr>
          <p:cNvPr id="4" name="Text 2"/>
          <p:cNvSpPr/>
          <p:nvPr/>
        </p:nvSpPr>
        <p:spPr>
          <a:xfrm>
            <a:off x="822960" y="1371600"/>
            <a:ext cx="7315200" cy="365760"/>
          </a:xfrm>
          <a:prstGeom prst="rect">
            <a:avLst/>
          </a:prstGeom>
          <a:noFill/>
          <a:ln/>
        </p:spPr>
        <p:txBody>
          <a:bodyPr wrap="square" rtlCol="0" anchor="ctr"/>
          <a:lstStyle/>
          <a:p>
            <a:pPr indent="0" marL="0">
              <a:buNone/>
            </a:pPr>
            <a:r>
              <a:rPr lang="en-US" sz="1300" b="1" spc="300" kern="0" dirty="0">
                <a:solidFill>
                  <a:srgbClr val="C9A227"/>
                </a:solidFill>
                <a:latin typeface="Calibri" pitchFamily="34" charset="0"/>
                <a:ea typeface="Calibri" pitchFamily="34" charset="-122"/>
                <a:cs typeface="Calibri" pitchFamily="34" charset="-120"/>
              </a:rPr>
              <a:t>AN INSTRUCTIONAL DESIGN MODEL</a:t>
            </a:r>
            <a:endParaRPr lang="en-US" sz="1300" dirty="0"/>
          </a:p>
        </p:txBody>
      </p:sp>
      <p:sp>
        <p:nvSpPr>
          <p:cNvPr id="5" name="Text 3"/>
          <p:cNvSpPr/>
          <p:nvPr/>
        </p:nvSpPr>
        <p:spPr>
          <a:xfrm>
            <a:off x="822960" y="1783080"/>
            <a:ext cx="9692640" cy="155448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Lacanian Ethics in the Digital Age</a:t>
            </a:r>
            <a:endParaRPr lang="en-US" sz="4400" dirty="0"/>
          </a:p>
        </p:txBody>
      </p:sp>
      <p:sp>
        <p:nvSpPr>
          <p:cNvPr id="6" name="Text 4"/>
          <p:cNvSpPr/>
          <p:nvPr/>
        </p:nvSpPr>
        <p:spPr>
          <a:xfrm>
            <a:off x="822960" y="3246120"/>
            <a:ext cx="8686800" cy="1005840"/>
          </a:xfrm>
          <a:prstGeom prst="rect">
            <a:avLst/>
          </a:prstGeom>
          <a:noFill/>
          <a:ln/>
        </p:spPr>
        <p:txBody>
          <a:bodyPr wrap="square" rtlCol="0" anchor="ctr"/>
          <a:lstStyle/>
          <a:p>
            <a:pPr indent="0" marL="0">
              <a:lnSpc>
                <a:spcPct val="125000"/>
              </a:lnSpc>
              <a:buNone/>
            </a:pPr>
            <a:r>
              <a:rPr lang="en-US" sz="1700" dirty="0">
                <a:solidFill>
                  <a:srgbClr val="E8E6F0"/>
                </a:solidFill>
                <a:latin typeface="Calibri" pitchFamily="34" charset="0"/>
                <a:ea typeface="Calibri" pitchFamily="34" charset="-122"/>
                <a:cs typeface="Calibri" pitchFamily="34" charset="-120"/>
              </a:rPr>
              <a:t>Applying psychoanalytic theory to business, AI, and sustainable</a:t>
            </a:r>
            <a:endParaRPr lang="en-US" sz="1700" dirty="0"/>
          </a:p>
          <a:p>
            <a:pPr indent="0" marL="0">
              <a:lnSpc>
                <a:spcPct val="125000"/>
              </a:lnSpc>
              <a:buNone/>
            </a:pPr>
            <a:r>
              <a:rPr lang="en-US" sz="1700" dirty="0">
                <a:solidFill>
                  <a:srgbClr val="E8E6F0"/>
                </a:solidFill>
                <a:latin typeface="Calibri" pitchFamily="34" charset="0"/>
                <a:ea typeface="Calibri" pitchFamily="34" charset="-122"/>
                <a:cs typeface="Calibri" pitchFamily="34" charset="-120"/>
              </a:rPr>
              <a:t>decision-making through the ADDIE framework</a:t>
            </a:r>
            <a:endParaRPr lang="en-US" sz="1700" dirty="0"/>
          </a:p>
        </p:txBody>
      </p:sp>
      <p:sp>
        <p:nvSpPr>
          <p:cNvPr id="7" name="Shape 5"/>
          <p:cNvSpPr/>
          <p:nvPr/>
        </p:nvSpPr>
        <p:spPr>
          <a:xfrm>
            <a:off x="822960" y="4709160"/>
            <a:ext cx="566928" cy="566928"/>
          </a:xfrm>
          <a:prstGeom prst="ellipse">
            <a:avLst/>
          </a:prstGeom>
          <a:solidFill>
            <a:srgbClr val="2A2A47"/>
          </a:solidFill>
          <a:ln/>
        </p:spPr>
      </p:sp>
      <p:pic>
        <p:nvPicPr>
          <p:cNvPr id="8" name="Image 0" descr="preencoded.png">    </p:cNvPr>
          <p:cNvPicPr>
            <a:picLocks noChangeAspect="1"/>
          </p:cNvPicPr>
          <p:nvPr/>
        </p:nvPicPr>
        <p:blipFill>
          <a:blip r:embed="rId1"/>
          <a:stretch>
            <a:fillRect/>
          </a:stretch>
        </p:blipFill>
        <p:spPr>
          <a:xfrm>
            <a:off x="896661" y="4782861"/>
            <a:ext cx="419527" cy="419527"/>
          </a:xfrm>
          <a:prstGeom prst="rect">
            <a:avLst/>
          </a:prstGeom>
        </p:spPr>
      </p:pic>
      <p:sp>
        <p:nvSpPr>
          <p:cNvPr id="9" name="Text 6"/>
          <p:cNvSpPr/>
          <p:nvPr/>
        </p:nvSpPr>
        <p:spPr>
          <a:xfrm>
            <a:off x="1554480" y="4736592"/>
            <a:ext cx="7315200" cy="512064"/>
          </a:xfrm>
          <a:prstGeom prst="rect">
            <a:avLst/>
          </a:prstGeom>
          <a:noFill/>
          <a:ln/>
        </p:spPr>
        <p:txBody>
          <a:bodyPr wrap="square" rtlCol="0" anchor="ctr"/>
          <a:lstStyle/>
          <a:p>
            <a:pPr indent="0" marL="0">
              <a:buNone/>
            </a:pPr>
            <a:r>
              <a:rPr lang="en-US" sz="1300" dirty="0">
                <a:solidFill>
                  <a:srgbClr val="E8E6F0"/>
                </a:solidFill>
                <a:latin typeface="Calibri" pitchFamily="34" charset="0"/>
                <a:ea typeface="Calibri" pitchFamily="34" charset="-122"/>
                <a:cs typeface="Calibri" pitchFamily="34" charset="-120"/>
              </a:rPr>
              <a:t>Desire  ·  The Big Other  ·  Jouissance  ·  Organizational Ethics</a:t>
            </a:r>
            <a:endParaRPr lang="en-US" sz="1300" dirty="0"/>
          </a:p>
        </p:txBody>
      </p:sp>
      <p:sp>
        <p:nvSpPr>
          <p:cNvPr id="10" name="Text 7"/>
          <p:cNvSpPr/>
          <p:nvPr/>
        </p:nvSpPr>
        <p:spPr>
          <a:xfrm>
            <a:off x="822960" y="6172200"/>
            <a:ext cx="5486400" cy="365760"/>
          </a:xfrm>
          <a:prstGeom prst="rect">
            <a:avLst/>
          </a:prstGeom>
          <a:noFill/>
          <a:ln/>
        </p:spPr>
        <p:txBody>
          <a:bodyPr wrap="square" rtlCol="0" anchor="ctr"/>
          <a:lstStyle/>
          <a:p>
            <a:pPr indent="0" marL="0">
              <a:buNone/>
            </a:pPr>
            <a:r>
              <a:rPr lang="en-US" sz="1200" dirty="0">
                <a:solidFill>
                  <a:srgbClr val="9A9AB8"/>
                </a:solidFill>
                <a:latin typeface="Calibri" pitchFamily="34" charset="0"/>
                <a:ea typeface="Calibri" pitchFamily="34" charset="-122"/>
                <a:cs typeface="Calibri" pitchFamily="34" charset="-120"/>
              </a:rPr>
              <a:t>Berry Lab Pal  |  Instructional Design Portfolio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WHY THIS COURSE</a:t>
            </a:r>
            <a:endParaRPr lang="en-US" sz="1300" dirty="0"/>
          </a:p>
        </p:txBody>
      </p:sp>
      <p:sp>
        <p:nvSpPr>
          <p:cNvPr id="3" name="Text 1"/>
          <p:cNvSpPr/>
          <p:nvPr/>
        </p:nvSpPr>
        <p:spPr>
          <a:xfrm>
            <a:off x="640080" y="822960"/>
            <a:ext cx="9601200" cy="822960"/>
          </a:xfrm>
          <a:prstGeom prst="rect">
            <a:avLst/>
          </a:prstGeom>
          <a:noFill/>
          <a:ln/>
        </p:spPr>
        <p:txBody>
          <a:bodyPr wrap="square" rtlCol="0" anchor="ctr"/>
          <a:lstStyle/>
          <a:p>
            <a:pPr indent="0" marL="0">
              <a:buNone/>
            </a:pPr>
            <a:r>
              <a:rPr lang="en-US" sz="3000" b="1" dirty="0">
                <a:solidFill>
                  <a:srgbClr val="1B1B2F"/>
                </a:solidFill>
                <a:latin typeface="Cambria" pitchFamily="34" charset="0"/>
                <a:ea typeface="Cambria" pitchFamily="34" charset="-122"/>
                <a:cs typeface="Cambria" pitchFamily="34" charset="-120"/>
              </a:rPr>
              <a:t>Rules are not the only thing that fail</a:t>
            </a:r>
            <a:endParaRPr lang="en-US" sz="3000" dirty="0"/>
          </a:p>
        </p:txBody>
      </p:sp>
      <p:sp>
        <p:nvSpPr>
          <p:cNvPr id="4" name="Text 2"/>
          <p:cNvSpPr/>
          <p:nvPr/>
        </p:nvSpPr>
        <p:spPr>
          <a:xfrm>
            <a:off x="640080" y="1691640"/>
            <a:ext cx="5852160" cy="1828800"/>
          </a:xfrm>
          <a:prstGeom prst="rect">
            <a:avLst/>
          </a:prstGeom>
          <a:noFill/>
          <a:ln/>
        </p:spPr>
        <p:txBody>
          <a:bodyPr wrap="square" rtlCol="0" anchor="ctr"/>
          <a:lstStyle/>
          <a:p>
            <a:pPr indent="0" marL="0">
              <a:lnSpc>
                <a:spcPct val="135000"/>
              </a:lnSpc>
              <a:buNone/>
            </a:pPr>
            <a:r>
              <a:rPr lang="en-US" sz="1500" dirty="0">
                <a:solidFill>
                  <a:srgbClr val="6B6B80"/>
                </a:solidFill>
                <a:latin typeface="Calibri" pitchFamily="34" charset="0"/>
                <a:ea typeface="Calibri" pitchFamily="34" charset="-122"/>
                <a:cs typeface="Calibri" pitchFamily="34" charset="-120"/>
              </a:rPr>
              <a:t>Most contemporary ethical failures don't come from ignorance of the rules. They come from hidden motivations, organizational culture, economic incentive, and unconscious patterns of desire — forces traditional ethics training rarely names.</a:t>
            </a:r>
            <a:endParaRPr lang="en-US" sz="1500" dirty="0"/>
          </a:p>
        </p:txBody>
      </p:sp>
      <p:sp>
        <p:nvSpPr>
          <p:cNvPr id="5" name="Text 3"/>
          <p:cNvSpPr/>
          <p:nvPr/>
        </p:nvSpPr>
        <p:spPr>
          <a:xfrm>
            <a:off x="640080" y="3611880"/>
            <a:ext cx="5852160" cy="1554480"/>
          </a:xfrm>
          <a:prstGeom prst="rect">
            <a:avLst/>
          </a:prstGeom>
          <a:noFill/>
          <a:ln/>
        </p:spPr>
        <p:txBody>
          <a:bodyPr wrap="square" rtlCol="0" anchor="ctr"/>
          <a:lstStyle/>
          <a:p>
            <a:pPr indent="0" marL="0">
              <a:lnSpc>
                <a:spcPct val="135000"/>
              </a:lnSpc>
              <a:buNone/>
            </a:pPr>
            <a:r>
              <a:rPr lang="en-US" sz="1500" b="1" dirty="0">
                <a:solidFill>
                  <a:srgbClr val="1B1B2F"/>
                </a:solidFill>
                <a:latin typeface="Calibri" pitchFamily="34" charset="0"/>
                <a:ea typeface="Calibri" pitchFamily="34" charset="-122"/>
                <a:cs typeface="Calibri" pitchFamily="34" charset="-120"/>
              </a:rPr>
              <a:t>This course reframes the question. </a:t>
            </a:r>
            <a:pPr indent="0" marL="0">
              <a:lnSpc>
                <a:spcPct val="135000"/>
              </a:lnSpc>
              <a:buNone/>
            </a:pPr>
            <a:r>
              <a:rPr lang="en-US" sz="1500" dirty="0">
                <a:solidFill>
                  <a:srgbClr val="6B6B80"/>
                </a:solidFill>
                <a:latin typeface="Calibri" pitchFamily="34" charset="0"/>
                <a:ea typeface="Calibri" pitchFamily="34" charset="-122"/>
                <a:cs typeface="Calibri" pitchFamily="34" charset="-120"/>
              </a:rPr>
              <a:t>Instead of only asking </a:t>
            </a:r>
            <a:pPr indent="0" marL="0">
              <a:lnSpc>
                <a:spcPct val="135000"/>
              </a:lnSpc>
              <a:buNone/>
            </a:pPr>
            <a:r>
              <a:rPr lang="en-US" sz="1500" i="1" dirty="0">
                <a:solidFill>
                  <a:srgbClr val="4A4E69"/>
                </a:solidFill>
                <a:latin typeface="Calibri" pitchFamily="34" charset="0"/>
                <a:ea typeface="Calibri" pitchFamily="34" charset="-122"/>
                <a:cs typeface="Calibri" pitchFamily="34" charset="-120"/>
              </a:rPr>
              <a:t>“What is the ethical action?” </a:t>
            </a:r>
            <a:pPr indent="0" marL="0">
              <a:lnSpc>
                <a:spcPct val="135000"/>
              </a:lnSpc>
              <a:buNone/>
            </a:pPr>
            <a:r>
              <a:rPr lang="en-US" sz="1500" dirty="0">
                <a:solidFill>
                  <a:srgbClr val="6B6B80"/>
                </a:solidFill>
                <a:latin typeface="Calibri" pitchFamily="34" charset="0"/>
                <a:ea typeface="Calibri" pitchFamily="34" charset="-122"/>
                <a:cs typeface="Calibri" pitchFamily="34" charset="-120"/>
              </a:rPr>
              <a:t>it asks </a:t>
            </a:r>
            <a:pPr indent="0" marL="0">
              <a:lnSpc>
                <a:spcPct val="135000"/>
              </a:lnSpc>
              <a:buNone/>
            </a:pPr>
            <a:r>
              <a:rPr lang="en-US" sz="1500" i="1" dirty="0">
                <a:solidFill>
                  <a:srgbClr val="4A4E69"/>
                </a:solidFill>
                <a:latin typeface="Calibri" pitchFamily="34" charset="0"/>
                <a:ea typeface="Calibri" pitchFamily="34" charset="-122"/>
                <a:cs typeface="Calibri" pitchFamily="34" charset="-120"/>
              </a:rPr>
              <a:t>“What unconscious desires, fantasies, and symbolic structures are shaping this decision?”</a:t>
            </a:r>
            <a:endParaRPr lang="en-US" sz="1500" dirty="0"/>
          </a:p>
        </p:txBody>
      </p:sp>
      <p:sp>
        <p:nvSpPr>
          <p:cNvPr id="6" name="Shape 4"/>
          <p:cNvSpPr/>
          <p:nvPr/>
        </p:nvSpPr>
        <p:spPr>
          <a:xfrm>
            <a:off x="6995160" y="914400"/>
            <a:ext cx="4526280" cy="4846320"/>
          </a:xfrm>
          <a:prstGeom prst="roundRect">
            <a:avLst>
              <a:gd name="adj" fmla="val 2424"/>
            </a:avLst>
          </a:prstGeom>
          <a:solidFill>
            <a:srgbClr val="F4F3F7"/>
          </a:solidFill>
          <a:ln/>
          <a:effectLst>
            <a:outerShdw sx="100000" sy="100000" kx="0" ky="0" algn="bl" rotWithShape="0" blurRad="101600" dist="38100" dir="2700000">
              <a:srgbClr val="000000">
                <a:alpha val="14000"/>
              </a:srgbClr>
            </a:outerShdw>
          </a:effectLst>
        </p:spPr>
      </p:sp>
      <p:sp>
        <p:nvSpPr>
          <p:cNvPr id="7" name="Text 5"/>
          <p:cNvSpPr/>
          <p:nvPr/>
        </p:nvSpPr>
        <p:spPr>
          <a:xfrm>
            <a:off x="7360920" y="1188720"/>
            <a:ext cx="3657600" cy="32004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BUILT FOR</a:t>
            </a:r>
            <a:endParaRPr lang="en-US" sz="1200" dirty="0"/>
          </a:p>
        </p:txBody>
      </p:sp>
      <p:sp>
        <p:nvSpPr>
          <p:cNvPr id="8" name="Shape 6"/>
          <p:cNvSpPr/>
          <p:nvPr/>
        </p:nvSpPr>
        <p:spPr>
          <a:xfrm>
            <a:off x="7360920" y="1746504"/>
            <a:ext cx="128016" cy="128016"/>
          </a:xfrm>
          <a:prstGeom prst="ellipse">
            <a:avLst/>
          </a:prstGeom>
          <a:solidFill>
            <a:srgbClr val="C9A227"/>
          </a:solidFill>
          <a:ln/>
        </p:spPr>
      </p:sp>
      <p:sp>
        <p:nvSpPr>
          <p:cNvPr id="9" name="Text 7"/>
          <p:cNvSpPr/>
          <p:nvPr/>
        </p:nvSpPr>
        <p:spPr>
          <a:xfrm>
            <a:off x="7635240" y="1554480"/>
            <a:ext cx="3749040" cy="685800"/>
          </a:xfrm>
          <a:prstGeom prst="rect">
            <a:avLst/>
          </a:prstGeom>
          <a:noFill/>
          <a:ln/>
        </p:spPr>
        <p:txBody>
          <a:bodyPr wrap="square" rtlCol="0" anchor="ctr"/>
          <a:lstStyle/>
          <a:p>
            <a:pPr indent="0" marL="0">
              <a:lnSpc>
                <a:spcPct val="115000"/>
              </a:lnSpc>
              <a:buNone/>
            </a:pPr>
            <a:r>
              <a:rPr lang="en-US" sz="1350" dirty="0">
                <a:solidFill>
                  <a:srgbClr val="1B1B2F"/>
                </a:solidFill>
                <a:latin typeface="Calibri" pitchFamily="34" charset="0"/>
                <a:ea typeface="Calibri" pitchFamily="34" charset="-122"/>
                <a:cs typeface="Calibri" pitchFamily="34" charset="-120"/>
              </a:rPr>
              <a:t>L&amp;D and corporate ethics teams</a:t>
            </a:r>
            <a:endParaRPr lang="en-US" sz="1350" dirty="0"/>
          </a:p>
        </p:txBody>
      </p:sp>
      <p:sp>
        <p:nvSpPr>
          <p:cNvPr id="10" name="Shape 8"/>
          <p:cNvSpPr/>
          <p:nvPr/>
        </p:nvSpPr>
        <p:spPr>
          <a:xfrm>
            <a:off x="7360920" y="2706624"/>
            <a:ext cx="128016" cy="128016"/>
          </a:xfrm>
          <a:prstGeom prst="ellipse">
            <a:avLst/>
          </a:prstGeom>
          <a:solidFill>
            <a:srgbClr val="C9A227"/>
          </a:solidFill>
          <a:ln/>
        </p:spPr>
      </p:sp>
      <p:sp>
        <p:nvSpPr>
          <p:cNvPr id="11" name="Text 9"/>
          <p:cNvSpPr/>
          <p:nvPr/>
        </p:nvSpPr>
        <p:spPr>
          <a:xfrm>
            <a:off x="7635240" y="2514600"/>
            <a:ext cx="3749040" cy="685800"/>
          </a:xfrm>
          <a:prstGeom prst="rect">
            <a:avLst/>
          </a:prstGeom>
          <a:noFill/>
          <a:ln/>
        </p:spPr>
        <p:txBody>
          <a:bodyPr wrap="square" rtlCol="0" anchor="ctr"/>
          <a:lstStyle/>
          <a:p>
            <a:pPr indent="0" marL="0">
              <a:lnSpc>
                <a:spcPct val="115000"/>
              </a:lnSpc>
              <a:buNone/>
            </a:pPr>
            <a:r>
              <a:rPr lang="en-US" sz="1350" dirty="0">
                <a:solidFill>
                  <a:srgbClr val="1B1B2F"/>
                </a:solidFill>
                <a:latin typeface="Calibri" pitchFamily="34" charset="0"/>
                <a:ea typeface="Calibri" pitchFamily="34" charset="-122"/>
                <a:cs typeface="Calibri" pitchFamily="34" charset="-120"/>
              </a:rPr>
              <a:t>AI product and governance leads</a:t>
            </a:r>
            <a:endParaRPr lang="en-US" sz="1350" dirty="0"/>
          </a:p>
        </p:txBody>
      </p:sp>
      <p:sp>
        <p:nvSpPr>
          <p:cNvPr id="12" name="Shape 10"/>
          <p:cNvSpPr/>
          <p:nvPr/>
        </p:nvSpPr>
        <p:spPr>
          <a:xfrm>
            <a:off x="7360920" y="3666744"/>
            <a:ext cx="128016" cy="128016"/>
          </a:xfrm>
          <a:prstGeom prst="ellipse">
            <a:avLst/>
          </a:prstGeom>
          <a:solidFill>
            <a:srgbClr val="C9A227"/>
          </a:solidFill>
          <a:ln/>
        </p:spPr>
      </p:sp>
      <p:sp>
        <p:nvSpPr>
          <p:cNvPr id="13" name="Text 11"/>
          <p:cNvSpPr/>
          <p:nvPr/>
        </p:nvSpPr>
        <p:spPr>
          <a:xfrm>
            <a:off x="7635240" y="3474720"/>
            <a:ext cx="3749040" cy="685800"/>
          </a:xfrm>
          <a:prstGeom prst="rect">
            <a:avLst/>
          </a:prstGeom>
          <a:noFill/>
          <a:ln/>
        </p:spPr>
        <p:txBody>
          <a:bodyPr wrap="square" rtlCol="0" anchor="ctr"/>
          <a:lstStyle/>
          <a:p>
            <a:pPr indent="0" marL="0">
              <a:lnSpc>
                <a:spcPct val="115000"/>
              </a:lnSpc>
              <a:buNone/>
            </a:pPr>
            <a:r>
              <a:rPr lang="en-US" sz="1350" dirty="0">
                <a:solidFill>
                  <a:srgbClr val="1B1B2F"/>
                </a:solidFill>
                <a:latin typeface="Calibri" pitchFamily="34" charset="0"/>
                <a:ea typeface="Calibri" pitchFamily="34" charset="-122"/>
                <a:cs typeface="Calibri" pitchFamily="34" charset="-120"/>
              </a:rPr>
              <a:t>MBA / executive-education cohorts</a:t>
            </a:r>
            <a:endParaRPr lang="en-US" sz="1350" dirty="0"/>
          </a:p>
        </p:txBody>
      </p:sp>
      <p:sp>
        <p:nvSpPr>
          <p:cNvPr id="14" name="Shape 12"/>
          <p:cNvSpPr/>
          <p:nvPr/>
        </p:nvSpPr>
        <p:spPr>
          <a:xfrm>
            <a:off x="7360920" y="4626864"/>
            <a:ext cx="128016" cy="128016"/>
          </a:xfrm>
          <a:prstGeom prst="ellipse">
            <a:avLst/>
          </a:prstGeom>
          <a:solidFill>
            <a:srgbClr val="C9A227"/>
          </a:solidFill>
          <a:ln/>
        </p:spPr>
      </p:sp>
      <p:sp>
        <p:nvSpPr>
          <p:cNvPr id="15" name="Text 13"/>
          <p:cNvSpPr/>
          <p:nvPr/>
        </p:nvSpPr>
        <p:spPr>
          <a:xfrm>
            <a:off x="7635240" y="4434840"/>
            <a:ext cx="3749040" cy="685800"/>
          </a:xfrm>
          <a:prstGeom prst="rect">
            <a:avLst/>
          </a:prstGeom>
          <a:noFill/>
          <a:ln/>
        </p:spPr>
        <p:txBody>
          <a:bodyPr wrap="square" rtlCol="0" anchor="ctr"/>
          <a:lstStyle/>
          <a:p>
            <a:pPr indent="0" marL="0">
              <a:lnSpc>
                <a:spcPct val="115000"/>
              </a:lnSpc>
              <a:buNone/>
            </a:pPr>
            <a:r>
              <a:rPr lang="en-US" sz="1350" dirty="0">
                <a:solidFill>
                  <a:srgbClr val="1B1B2F"/>
                </a:solidFill>
                <a:latin typeface="Calibri" pitchFamily="34" charset="0"/>
                <a:ea typeface="Calibri" pitchFamily="34" charset="-122"/>
                <a:cs typeface="Calibri" pitchFamily="34" charset="-120"/>
              </a:rPr>
              <a:t>Instructional designers building</a:t>
            </a:r>
            <a:endParaRPr lang="en-US" sz="1350" dirty="0"/>
          </a:p>
          <a:p>
            <a:pPr indent="0" marL="0">
              <a:lnSpc>
                <a:spcPct val="115000"/>
              </a:lnSpc>
              <a:buNone/>
            </a:pPr>
            <a:r>
              <a:rPr lang="en-US" sz="1350" dirty="0">
                <a:solidFill>
                  <a:srgbClr val="1B1B2F"/>
                </a:solidFill>
                <a:latin typeface="Calibri" pitchFamily="34" charset="0"/>
                <a:ea typeface="Calibri" pitchFamily="34" charset="-122"/>
                <a:cs typeface="Calibri" pitchFamily="34" charset="-120"/>
              </a:rPr>
              <a:t>beyond-compliance training</a:t>
            </a:r>
            <a:endParaRPr lang="en-US" sz="1350" dirty="0"/>
          </a:p>
        </p:txBody>
      </p:sp>
      <p:sp>
        <p:nvSpPr>
          <p:cNvPr id="16" name="Text 14"/>
          <p:cNvSpPr/>
          <p:nvPr/>
        </p:nvSpPr>
        <p:spPr>
          <a:xfrm>
            <a:off x="11000232" y="6400800"/>
            <a:ext cx="914400" cy="320040"/>
          </a:xfrm>
          <a:prstGeom prst="rect">
            <a:avLst/>
          </a:prstGeom>
          <a:noFill/>
          <a:ln/>
        </p:spPr>
        <p:txBody>
          <a:bodyPr wrap="square" rtlCol="0" anchor="ctr"/>
          <a:lstStyle/>
          <a:p>
            <a:pPr algn="r" indent="0" marL="0">
              <a:buNone/>
            </a:pPr>
            <a:r>
              <a:rPr lang="en-US" sz="1000" dirty="0">
                <a:solidFill>
                  <a:srgbClr val="6B6B80"/>
                </a:solidFill>
                <a:latin typeface="Calibri" pitchFamily="34" charset="0"/>
                <a:ea typeface="Calibri" pitchFamily="34" charset="-122"/>
                <a:cs typeface="Calibri" pitchFamily="34" charset="-120"/>
              </a:rPr>
              <a:t>02 / 14</a:t>
            </a:r>
            <a:endParaRPr lang="en-US" sz="1000" dirty="0"/>
          </a:p>
        </p:txBody>
      </p:sp>
      <p:sp>
        <p:nvSpPr>
          <p:cNvPr id="17" name="Text 15"/>
          <p:cNvSpPr/>
          <p:nvPr/>
        </p:nvSpPr>
        <p:spPr>
          <a:xfrm>
            <a:off x="548640" y="6400800"/>
            <a:ext cx="5486400" cy="320040"/>
          </a:xfrm>
          <a:prstGeom prst="rect">
            <a:avLst/>
          </a:prstGeom>
          <a:noFill/>
          <a:ln/>
        </p:spPr>
        <p:txBody>
          <a:bodyPr wrap="square" rtlCol="0" anchor="ctr"/>
          <a:lstStyle/>
          <a:p>
            <a:pPr indent="0" marL="0">
              <a:buNone/>
            </a:pPr>
            <a:r>
              <a:rPr lang="en-US" sz="1000" spc="100" kern="0" dirty="0">
                <a:solidFill>
                  <a:srgbClr val="6B6B80"/>
                </a:solidFill>
                <a:latin typeface="Calibri" pitchFamily="34" charset="0"/>
                <a:ea typeface="Calibri" pitchFamily="34" charset="-122"/>
                <a:cs typeface="Calibri" pitchFamily="34" charset="-120"/>
              </a:rPr>
              <a:t>LACANIAN ETHICS IN THE DIGITAL AGE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36576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MODULE 1</a:t>
            </a:r>
            <a:endParaRPr lang="en-US" sz="1300" dirty="0"/>
          </a:p>
        </p:txBody>
      </p:sp>
      <p:sp>
        <p:nvSpPr>
          <p:cNvPr id="3" name="Text 1"/>
          <p:cNvSpPr/>
          <p:nvPr/>
        </p:nvSpPr>
        <p:spPr>
          <a:xfrm>
            <a:off x="640080" y="822960"/>
            <a:ext cx="7315200" cy="685800"/>
          </a:xfrm>
          <a:prstGeom prst="rect">
            <a:avLst/>
          </a:prstGeom>
          <a:noFill/>
          <a:ln/>
        </p:spPr>
        <p:txBody>
          <a:bodyPr wrap="square" rtlCol="0" anchor="ctr"/>
          <a:lstStyle/>
          <a:p>
            <a:pPr indent="0" marL="0">
              <a:buNone/>
            </a:pPr>
            <a:r>
              <a:rPr lang="en-US" sz="3000" b="1" dirty="0">
                <a:solidFill>
                  <a:srgbClr val="1B1B2F"/>
                </a:solidFill>
                <a:latin typeface="Cambria" pitchFamily="34" charset="0"/>
                <a:ea typeface="Cambria" pitchFamily="34" charset="-122"/>
                <a:cs typeface="Cambria" pitchFamily="34" charset="-120"/>
              </a:rPr>
              <a:t>Understanding Ethics</a:t>
            </a:r>
            <a:endParaRPr lang="en-US" sz="3000" dirty="0"/>
          </a:p>
        </p:txBody>
      </p:sp>
      <p:sp>
        <p:nvSpPr>
          <p:cNvPr id="4" name="Text 2"/>
          <p:cNvSpPr/>
          <p:nvPr/>
        </p:nvSpPr>
        <p:spPr>
          <a:xfrm>
            <a:off x="640080" y="1481328"/>
            <a:ext cx="7315200" cy="365760"/>
          </a:xfrm>
          <a:prstGeom prst="rect">
            <a:avLst/>
          </a:prstGeom>
          <a:noFill/>
          <a:ln/>
        </p:spPr>
        <p:txBody>
          <a:bodyPr wrap="square" rtlCol="0" anchor="ctr"/>
          <a:lstStyle/>
          <a:p>
            <a:pPr indent="0" marL="0">
              <a:buNone/>
            </a:pPr>
            <a:r>
              <a:rPr lang="en-US" sz="1400" dirty="0">
                <a:solidFill>
                  <a:srgbClr val="6B6B80"/>
                </a:solidFill>
                <a:latin typeface="Calibri" pitchFamily="34" charset="0"/>
                <a:ea typeface="Calibri" pitchFamily="34" charset="-122"/>
                <a:cs typeface="Calibri" pitchFamily="34" charset="-120"/>
              </a:rPr>
              <a:t>Ethics as a strategic asset, not just a compliance mechanism.</a:t>
            </a:r>
            <a:endParaRPr lang="en-US" sz="1400" dirty="0"/>
          </a:p>
        </p:txBody>
      </p:sp>
      <p:sp>
        <p:nvSpPr>
          <p:cNvPr id="5" name="Shape 3"/>
          <p:cNvSpPr/>
          <p:nvPr/>
        </p:nvSpPr>
        <p:spPr>
          <a:xfrm>
            <a:off x="640080" y="2148840"/>
            <a:ext cx="3520440" cy="1691640"/>
          </a:xfrm>
          <a:prstGeom prst="roundRect">
            <a:avLst>
              <a:gd name="adj" fmla="val 5405"/>
            </a:avLst>
          </a:prstGeom>
          <a:solidFill>
            <a:srgbClr val="F4F3F7"/>
          </a:solidFill>
          <a:ln/>
          <a:effectLst>
            <a:outerShdw sx="100000" sy="100000" kx="0" ky="0" algn="bl" rotWithShape="0" blurRad="101600" dist="38100" dir="2700000">
              <a:srgbClr val="000000">
                <a:alpha val="14000"/>
              </a:srgbClr>
            </a:outerShdw>
          </a:effectLst>
        </p:spPr>
      </p:sp>
      <p:sp>
        <p:nvSpPr>
          <p:cNvPr id="6" name="Shape 4"/>
          <p:cNvSpPr/>
          <p:nvPr/>
        </p:nvSpPr>
        <p:spPr>
          <a:xfrm>
            <a:off x="868680" y="2377440"/>
            <a:ext cx="502920" cy="502920"/>
          </a:xfrm>
          <a:prstGeom prst="ellipse">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934060" y="2442820"/>
            <a:ext cx="372161" cy="372161"/>
          </a:xfrm>
          <a:prstGeom prst="rect">
            <a:avLst/>
          </a:prstGeom>
        </p:spPr>
      </p:pic>
      <p:sp>
        <p:nvSpPr>
          <p:cNvPr id="8" name="Text 5"/>
          <p:cNvSpPr/>
          <p:nvPr/>
        </p:nvSpPr>
        <p:spPr>
          <a:xfrm>
            <a:off x="868680" y="2990088"/>
            <a:ext cx="3063240" cy="365760"/>
          </a:xfrm>
          <a:prstGeom prst="rect">
            <a:avLst/>
          </a:prstGeom>
          <a:noFill/>
          <a:ln/>
        </p:spPr>
        <p:txBody>
          <a:bodyPr wrap="square" rtlCol="0" anchor="ctr"/>
          <a:lstStyle/>
          <a:p>
            <a:pPr indent="0" marL="0">
              <a:buNone/>
            </a:pPr>
            <a:r>
              <a:rPr lang="en-US" sz="1450" b="1" dirty="0">
                <a:solidFill>
                  <a:srgbClr val="1B1B2F"/>
                </a:solidFill>
                <a:latin typeface="Calibri" pitchFamily="34" charset="0"/>
                <a:ea typeface="Calibri" pitchFamily="34" charset="-122"/>
                <a:cs typeface="Calibri" pitchFamily="34" charset="-120"/>
              </a:rPr>
              <a:t>Responsible decision-making</a:t>
            </a:r>
            <a:endParaRPr lang="en-US" sz="1450" dirty="0"/>
          </a:p>
        </p:txBody>
      </p:sp>
      <p:sp>
        <p:nvSpPr>
          <p:cNvPr id="9" name="Text 6"/>
          <p:cNvSpPr/>
          <p:nvPr/>
        </p:nvSpPr>
        <p:spPr>
          <a:xfrm>
            <a:off x="868680" y="3355848"/>
            <a:ext cx="3063240" cy="457200"/>
          </a:xfrm>
          <a:prstGeom prst="rect">
            <a:avLst/>
          </a:prstGeom>
          <a:noFill/>
          <a:ln/>
        </p:spPr>
        <p:txBody>
          <a:bodyPr wrap="square" rtlCol="0" anchor="ctr"/>
          <a:lstStyle/>
          <a:p>
            <a:pPr indent="0" marL="0">
              <a:lnSpc>
                <a:spcPct val="115000"/>
              </a:lnSpc>
              <a:buNone/>
            </a:pPr>
            <a:r>
              <a:rPr lang="en-US" sz="1150" dirty="0">
                <a:solidFill>
                  <a:srgbClr val="6B6B80"/>
                </a:solidFill>
                <a:latin typeface="Calibri" pitchFamily="34" charset="0"/>
                <a:ea typeface="Calibri" pitchFamily="34" charset="-122"/>
                <a:cs typeface="Calibri" pitchFamily="34" charset="-120"/>
              </a:rPr>
              <a:t>Guides action under uncertainty</a:t>
            </a:r>
            <a:endParaRPr lang="en-US" sz="1150" dirty="0"/>
          </a:p>
        </p:txBody>
      </p:sp>
      <p:sp>
        <p:nvSpPr>
          <p:cNvPr id="10" name="Shape 7"/>
          <p:cNvSpPr/>
          <p:nvPr/>
        </p:nvSpPr>
        <p:spPr>
          <a:xfrm>
            <a:off x="4416552" y="2148840"/>
            <a:ext cx="3520440" cy="1691640"/>
          </a:xfrm>
          <a:prstGeom prst="roundRect">
            <a:avLst>
              <a:gd name="adj" fmla="val 5405"/>
            </a:avLst>
          </a:prstGeom>
          <a:solidFill>
            <a:srgbClr val="F4F3F7"/>
          </a:solidFill>
          <a:ln/>
          <a:effectLst>
            <a:outerShdw sx="100000" sy="100000" kx="0" ky="0" algn="bl" rotWithShape="0" blurRad="101600" dist="38100" dir="2700000">
              <a:srgbClr val="000000">
                <a:alpha val="14000"/>
              </a:srgbClr>
            </a:outerShdw>
          </a:effectLst>
        </p:spPr>
      </p:sp>
      <p:sp>
        <p:nvSpPr>
          <p:cNvPr id="11" name="Shape 8"/>
          <p:cNvSpPr/>
          <p:nvPr/>
        </p:nvSpPr>
        <p:spPr>
          <a:xfrm>
            <a:off x="4645152" y="2377440"/>
            <a:ext cx="502920" cy="502920"/>
          </a:xfrm>
          <a:prstGeom prst="ellipse">
            <a:avLst/>
          </a:prstGeom>
          <a:solidFill>
            <a:srgbClr val="FFFFFF"/>
          </a:solidFill>
          <a:ln/>
        </p:spPr>
      </p:sp>
      <p:pic>
        <p:nvPicPr>
          <p:cNvPr id="12" name="Image 1" descr="preencoded.png">    </p:cNvPr>
          <p:cNvPicPr>
            <a:picLocks noChangeAspect="1"/>
          </p:cNvPicPr>
          <p:nvPr/>
        </p:nvPicPr>
        <p:blipFill>
          <a:blip r:embed="rId2"/>
          <a:stretch>
            <a:fillRect/>
          </a:stretch>
        </p:blipFill>
        <p:spPr>
          <a:xfrm>
            <a:off x="4710532" y="2442820"/>
            <a:ext cx="372161" cy="372161"/>
          </a:xfrm>
          <a:prstGeom prst="rect">
            <a:avLst/>
          </a:prstGeom>
        </p:spPr>
      </p:pic>
      <p:sp>
        <p:nvSpPr>
          <p:cNvPr id="13" name="Text 9"/>
          <p:cNvSpPr/>
          <p:nvPr/>
        </p:nvSpPr>
        <p:spPr>
          <a:xfrm>
            <a:off x="4645152" y="2990088"/>
            <a:ext cx="3063240" cy="365760"/>
          </a:xfrm>
          <a:prstGeom prst="rect">
            <a:avLst/>
          </a:prstGeom>
          <a:noFill/>
          <a:ln/>
        </p:spPr>
        <p:txBody>
          <a:bodyPr wrap="square" rtlCol="0" anchor="ctr"/>
          <a:lstStyle/>
          <a:p>
            <a:pPr indent="0" marL="0">
              <a:buNone/>
            </a:pPr>
            <a:r>
              <a:rPr lang="en-US" sz="1450" b="1" dirty="0">
                <a:solidFill>
                  <a:srgbClr val="1B1B2F"/>
                </a:solidFill>
                <a:latin typeface="Calibri" pitchFamily="34" charset="0"/>
                <a:ea typeface="Calibri" pitchFamily="34" charset="-122"/>
                <a:cs typeface="Calibri" pitchFamily="34" charset="-120"/>
              </a:rPr>
              <a:t>Stakeholder trust</a:t>
            </a:r>
            <a:endParaRPr lang="en-US" sz="1450" dirty="0"/>
          </a:p>
        </p:txBody>
      </p:sp>
      <p:sp>
        <p:nvSpPr>
          <p:cNvPr id="14" name="Text 10"/>
          <p:cNvSpPr/>
          <p:nvPr/>
        </p:nvSpPr>
        <p:spPr>
          <a:xfrm>
            <a:off x="4645152" y="3355848"/>
            <a:ext cx="3063240" cy="457200"/>
          </a:xfrm>
          <a:prstGeom prst="rect">
            <a:avLst/>
          </a:prstGeom>
          <a:noFill/>
          <a:ln/>
        </p:spPr>
        <p:txBody>
          <a:bodyPr wrap="square" rtlCol="0" anchor="ctr"/>
          <a:lstStyle/>
          <a:p>
            <a:pPr indent="0" marL="0">
              <a:lnSpc>
                <a:spcPct val="115000"/>
              </a:lnSpc>
              <a:buNone/>
            </a:pPr>
            <a:r>
              <a:rPr lang="en-US" sz="1150" dirty="0">
                <a:solidFill>
                  <a:srgbClr val="6B6B80"/>
                </a:solidFill>
                <a:latin typeface="Calibri" pitchFamily="34" charset="0"/>
                <a:ea typeface="Calibri" pitchFamily="34" charset="-122"/>
                <a:cs typeface="Calibri" pitchFamily="34" charset="-120"/>
              </a:rPr>
              <a:t>Builds confidence across employees, customers, investors</a:t>
            </a:r>
            <a:endParaRPr lang="en-US" sz="1150" dirty="0"/>
          </a:p>
        </p:txBody>
      </p:sp>
      <p:sp>
        <p:nvSpPr>
          <p:cNvPr id="15" name="Shape 11"/>
          <p:cNvSpPr/>
          <p:nvPr/>
        </p:nvSpPr>
        <p:spPr>
          <a:xfrm>
            <a:off x="8193024" y="2148840"/>
            <a:ext cx="3520440" cy="1691640"/>
          </a:xfrm>
          <a:prstGeom prst="roundRect">
            <a:avLst>
              <a:gd name="adj" fmla="val 5405"/>
            </a:avLst>
          </a:prstGeom>
          <a:solidFill>
            <a:srgbClr val="F4F3F7"/>
          </a:solidFill>
          <a:ln/>
          <a:effectLst>
            <a:outerShdw sx="100000" sy="100000" kx="0" ky="0" algn="bl" rotWithShape="0" blurRad="101600" dist="38100" dir="2700000">
              <a:srgbClr val="000000">
                <a:alpha val="14000"/>
              </a:srgbClr>
            </a:outerShdw>
          </a:effectLst>
        </p:spPr>
      </p:sp>
      <p:sp>
        <p:nvSpPr>
          <p:cNvPr id="16" name="Shape 12"/>
          <p:cNvSpPr/>
          <p:nvPr/>
        </p:nvSpPr>
        <p:spPr>
          <a:xfrm>
            <a:off x="8421624" y="2377440"/>
            <a:ext cx="502920" cy="502920"/>
          </a:xfrm>
          <a:prstGeom prst="ellipse">
            <a:avLst/>
          </a:prstGeom>
          <a:solidFill>
            <a:srgbClr val="FFFFFF"/>
          </a:solidFill>
          <a:ln/>
        </p:spPr>
      </p:sp>
      <p:pic>
        <p:nvPicPr>
          <p:cNvPr id="17" name="Image 2" descr="preencoded.png">    </p:cNvPr>
          <p:cNvPicPr>
            <a:picLocks noChangeAspect="1"/>
          </p:cNvPicPr>
          <p:nvPr/>
        </p:nvPicPr>
        <p:blipFill>
          <a:blip r:embed="rId3"/>
          <a:stretch>
            <a:fillRect/>
          </a:stretch>
        </p:blipFill>
        <p:spPr>
          <a:xfrm>
            <a:off x="8487004" y="2442820"/>
            <a:ext cx="372161" cy="372161"/>
          </a:xfrm>
          <a:prstGeom prst="rect">
            <a:avLst/>
          </a:prstGeom>
        </p:spPr>
      </p:pic>
      <p:sp>
        <p:nvSpPr>
          <p:cNvPr id="18" name="Text 13"/>
          <p:cNvSpPr/>
          <p:nvPr/>
        </p:nvSpPr>
        <p:spPr>
          <a:xfrm>
            <a:off x="8421624" y="2990088"/>
            <a:ext cx="3063240" cy="365760"/>
          </a:xfrm>
          <a:prstGeom prst="rect">
            <a:avLst/>
          </a:prstGeom>
          <a:noFill/>
          <a:ln/>
        </p:spPr>
        <p:txBody>
          <a:bodyPr wrap="square" rtlCol="0" anchor="ctr"/>
          <a:lstStyle/>
          <a:p>
            <a:pPr indent="0" marL="0">
              <a:buNone/>
            </a:pPr>
            <a:r>
              <a:rPr lang="en-US" sz="1450" b="1" dirty="0">
                <a:solidFill>
                  <a:srgbClr val="1B1B2F"/>
                </a:solidFill>
                <a:latin typeface="Calibri" pitchFamily="34" charset="0"/>
                <a:ea typeface="Calibri" pitchFamily="34" charset="-122"/>
                <a:cs typeface="Calibri" pitchFamily="34" charset="-120"/>
              </a:rPr>
              <a:t>Rights and dignity</a:t>
            </a:r>
            <a:endParaRPr lang="en-US" sz="1450" dirty="0"/>
          </a:p>
        </p:txBody>
      </p:sp>
      <p:sp>
        <p:nvSpPr>
          <p:cNvPr id="19" name="Text 14"/>
          <p:cNvSpPr/>
          <p:nvPr/>
        </p:nvSpPr>
        <p:spPr>
          <a:xfrm>
            <a:off x="8421624" y="3355848"/>
            <a:ext cx="3063240" cy="457200"/>
          </a:xfrm>
          <a:prstGeom prst="rect">
            <a:avLst/>
          </a:prstGeom>
          <a:noFill/>
          <a:ln/>
        </p:spPr>
        <p:txBody>
          <a:bodyPr wrap="square" rtlCol="0" anchor="ctr"/>
          <a:lstStyle/>
          <a:p>
            <a:pPr indent="0" marL="0">
              <a:lnSpc>
                <a:spcPct val="115000"/>
              </a:lnSpc>
              <a:buNone/>
            </a:pPr>
            <a:r>
              <a:rPr lang="en-US" sz="1150" dirty="0">
                <a:solidFill>
                  <a:srgbClr val="6B6B80"/>
                </a:solidFill>
                <a:latin typeface="Calibri" pitchFamily="34" charset="0"/>
                <a:ea typeface="Calibri" pitchFamily="34" charset="-122"/>
                <a:cs typeface="Calibri" pitchFamily="34" charset="-120"/>
              </a:rPr>
              <a:t>Protects individuals within institutional systems</a:t>
            </a:r>
            <a:endParaRPr lang="en-US" sz="1150" dirty="0"/>
          </a:p>
        </p:txBody>
      </p:sp>
      <p:sp>
        <p:nvSpPr>
          <p:cNvPr id="20" name="Shape 15"/>
          <p:cNvSpPr/>
          <p:nvPr/>
        </p:nvSpPr>
        <p:spPr>
          <a:xfrm>
            <a:off x="640080" y="4114800"/>
            <a:ext cx="3520440" cy="1691640"/>
          </a:xfrm>
          <a:prstGeom prst="roundRect">
            <a:avLst>
              <a:gd name="adj" fmla="val 5405"/>
            </a:avLst>
          </a:prstGeom>
          <a:solidFill>
            <a:srgbClr val="F4F3F7"/>
          </a:solidFill>
          <a:ln/>
          <a:effectLst>
            <a:outerShdw sx="100000" sy="100000" kx="0" ky="0" algn="bl" rotWithShape="0" blurRad="101600" dist="38100" dir="2700000">
              <a:srgbClr val="000000">
                <a:alpha val="14000"/>
              </a:srgbClr>
            </a:outerShdw>
          </a:effectLst>
        </p:spPr>
      </p:sp>
      <p:sp>
        <p:nvSpPr>
          <p:cNvPr id="21" name="Shape 16"/>
          <p:cNvSpPr/>
          <p:nvPr/>
        </p:nvSpPr>
        <p:spPr>
          <a:xfrm>
            <a:off x="868680" y="4343400"/>
            <a:ext cx="502920" cy="502920"/>
          </a:xfrm>
          <a:prstGeom prst="ellipse">
            <a:avLst/>
          </a:prstGeom>
          <a:solidFill>
            <a:srgbClr val="FFFFFF"/>
          </a:solidFill>
          <a:ln/>
        </p:spPr>
      </p:sp>
      <p:pic>
        <p:nvPicPr>
          <p:cNvPr id="22" name="Image 3" descr="preencoded.png">    </p:cNvPr>
          <p:cNvPicPr>
            <a:picLocks noChangeAspect="1"/>
          </p:cNvPicPr>
          <p:nvPr/>
        </p:nvPicPr>
        <p:blipFill>
          <a:blip r:embed="rId4"/>
          <a:stretch>
            <a:fillRect/>
          </a:stretch>
        </p:blipFill>
        <p:spPr>
          <a:xfrm>
            <a:off x="934060" y="4408780"/>
            <a:ext cx="372161" cy="372161"/>
          </a:xfrm>
          <a:prstGeom prst="rect">
            <a:avLst/>
          </a:prstGeom>
        </p:spPr>
      </p:pic>
      <p:sp>
        <p:nvSpPr>
          <p:cNvPr id="23" name="Text 17"/>
          <p:cNvSpPr/>
          <p:nvPr/>
        </p:nvSpPr>
        <p:spPr>
          <a:xfrm>
            <a:off x="868680" y="4956048"/>
            <a:ext cx="3063240" cy="365760"/>
          </a:xfrm>
          <a:prstGeom prst="rect">
            <a:avLst/>
          </a:prstGeom>
          <a:noFill/>
          <a:ln/>
        </p:spPr>
        <p:txBody>
          <a:bodyPr wrap="square" rtlCol="0" anchor="ctr"/>
          <a:lstStyle/>
          <a:p>
            <a:pPr indent="0" marL="0">
              <a:buNone/>
            </a:pPr>
            <a:r>
              <a:rPr lang="en-US" sz="1450" b="1" dirty="0">
                <a:solidFill>
                  <a:srgbClr val="1B1B2F"/>
                </a:solidFill>
                <a:latin typeface="Calibri" pitchFamily="34" charset="0"/>
                <a:ea typeface="Calibri" pitchFamily="34" charset="-122"/>
                <a:cs typeface="Calibri" pitchFamily="34" charset="-120"/>
              </a:rPr>
              <a:t>Long-term resilience</a:t>
            </a:r>
            <a:endParaRPr lang="en-US" sz="1450" dirty="0"/>
          </a:p>
        </p:txBody>
      </p:sp>
      <p:sp>
        <p:nvSpPr>
          <p:cNvPr id="24" name="Text 18"/>
          <p:cNvSpPr/>
          <p:nvPr/>
        </p:nvSpPr>
        <p:spPr>
          <a:xfrm>
            <a:off x="868680" y="5321808"/>
            <a:ext cx="3063240" cy="457200"/>
          </a:xfrm>
          <a:prstGeom prst="rect">
            <a:avLst/>
          </a:prstGeom>
          <a:noFill/>
          <a:ln/>
        </p:spPr>
        <p:txBody>
          <a:bodyPr wrap="square" rtlCol="0" anchor="ctr"/>
          <a:lstStyle/>
          <a:p>
            <a:pPr indent="0" marL="0">
              <a:lnSpc>
                <a:spcPct val="115000"/>
              </a:lnSpc>
              <a:buNone/>
            </a:pPr>
            <a:r>
              <a:rPr lang="en-US" sz="1150" dirty="0">
                <a:solidFill>
                  <a:srgbClr val="6B6B80"/>
                </a:solidFill>
                <a:latin typeface="Calibri" pitchFamily="34" charset="0"/>
                <a:ea typeface="Calibri" pitchFamily="34" charset="-122"/>
                <a:cs typeface="Calibri" pitchFamily="34" charset="-120"/>
              </a:rPr>
              <a:t>Supports sustainability beyond quarterly results</a:t>
            </a:r>
            <a:endParaRPr lang="en-US" sz="1150" dirty="0"/>
          </a:p>
        </p:txBody>
      </p:sp>
      <p:sp>
        <p:nvSpPr>
          <p:cNvPr id="25" name="Shape 19"/>
          <p:cNvSpPr/>
          <p:nvPr/>
        </p:nvSpPr>
        <p:spPr>
          <a:xfrm>
            <a:off x="4416552" y="4114800"/>
            <a:ext cx="3520440" cy="1691640"/>
          </a:xfrm>
          <a:prstGeom prst="roundRect">
            <a:avLst>
              <a:gd name="adj" fmla="val 5405"/>
            </a:avLst>
          </a:prstGeom>
          <a:solidFill>
            <a:srgbClr val="F4F3F7"/>
          </a:solidFill>
          <a:ln/>
          <a:effectLst>
            <a:outerShdw sx="100000" sy="100000" kx="0" ky="0" algn="bl" rotWithShape="0" blurRad="101600" dist="38100" dir="2700000">
              <a:srgbClr val="000000">
                <a:alpha val="14000"/>
              </a:srgbClr>
            </a:outerShdw>
          </a:effectLst>
        </p:spPr>
      </p:sp>
      <p:sp>
        <p:nvSpPr>
          <p:cNvPr id="26" name="Shape 20"/>
          <p:cNvSpPr/>
          <p:nvPr/>
        </p:nvSpPr>
        <p:spPr>
          <a:xfrm>
            <a:off x="4645152" y="4343400"/>
            <a:ext cx="502920" cy="502920"/>
          </a:xfrm>
          <a:prstGeom prst="ellipse">
            <a:avLst/>
          </a:prstGeom>
          <a:solidFill>
            <a:srgbClr val="FFFFFF"/>
          </a:solidFill>
          <a:ln/>
        </p:spPr>
      </p:sp>
      <p:pic>
        <p:nvPicPr>
          <p:cNvPr id="27" name="Image 4" descr="preencoded.png">    </p:cNvPr>
          <p:cNvPicPr>
            <a:picLocks noChangeAspect="1"/>
          </p:cNvPicPr>
          <p:nvPr/>
        </p:nvPicPr>
        <p:blipFill>
          <a:blip r:embed="rId5"/>
          <a:stretch>
            <a:fillRect/>
          </a:stretch>
        </p:blipFill>
        <p:spPr>
          <a:xfrm>
            <a:off x="4710532" y="4408780"/>
            <a:ext cx="372161" cy="372161"/>
          </a:xfrm>
          <a:prstGeom prst="rect">
            <a:avLst/>
          </a:prstGeom>
        </p:spPr>
      </p:pic>
      <p:sp>
        <p:nvSpPr>
          <p:cNvPr id="28" name="Text 21"/>
          <p:cNvSpPr/>
          <p:nvPr/>
        </p:nvSpPr>
        <p:spPr>
          <a:xfrm>
            <a:off x="4645152" y="4956048"/>
            <a:ext cx="3063240" cy="365760"/>
          </a:xfrm>
          <a:prstGeom prst="rect">
            <a:avLst/>
          </a:prstGeom>
          <a:noFill/>
          <a:ln/>
        </p:spPr>
        <p:txBody>
          <a:bodyPr wrap="square" rtlCol="0" anchor="ctr"/>
          <a:lstStyle/>
          <a:p>
            <a:pPr indent="0" marL="0">
              <a:buNone/>
            </a:pPr>
            <a:r>
              <a:rPr lang="en-US" sz="1450" b="1" dirty="0">
                <a:solidFill>
                  <a:srgbClr val="1B1B2F"/>
                </a:solidFill>
                <a:latin typeface="Calibri" pitchFamily="34" charset="0"/>
                <a:ea typeface="Calibri" pitchFamily="34" charset="-122"/>
                <a:cs typeface="Calibri" pitchFamily="34" charset="-120"/>
              </a:rPr>
              <a:t>Balance of interests</a:t>
            </a:r>
            <a:endParaRPr lang="en-US" sz="1450" dirty="0"/>
          </a:p>
        </p:txBody>
      </p:sp>
      <p:sp>
        <p:nvSpPr>
          <p:cNvPr id="29" name="Text 22"/>
          <p:cNvSpPr/>
          <p:nvPr/>
        </p:nvSpPr>
        <p:spPr>
          <a:xfrm>
            <a:off x="4645152" y="5321808"/>
            <a:ext cx="3063240" cy="457200"/>
          </a:xfrm>
          <a:prstGeom prst="rect">
            <a:avLst/>
          </a:prstGeom>
          <a:noFill/>
          <a:ln/>
        </p:spPr>
        <p:txBody>
          <a:bodyPr wrap="square" rtlCol="0" anchor="ctr"/>
          <a:lstStyle/>
          <a:p>
            <a:pPr indent="0" marL="0">
              <a:lnSpc>
                <a:spcPct val="115000"/>
              </a:lnSpc>
              <a:buNone/>
            </a:pPr>
            <a:r>
              <a:rPr lang="en-US" sz="1150" dirty="0">
                <a:solidFill>
                  <a:srgbClr val="6B6B80"/>
                </a:solidFill>
                <a:latin typeface="Calibri" pitchFamily="34" charset="0"/>
                <a:ea typeface="Calibri" pitchFamily="34" charset="-122"/>
                <a:cs typeface="Calibri" pitchFamily="34" charset="-120"/>
              </a:rPr>
              <a:t>Weighs competing claims across the organization</a:t>
            </a:r>
            <a:endParaRPr lang="en-US" sz="1150" dirty="0"/>
          </a:p>
        </p:txBody>
      </p:sp>
      <p:sp>
        <p:nvSpPr>
          <p:cNvPr id="30" name="Shape 23"/>
          <p:cNvSpPr/>
          <p:nvPr/>
        </p:nvSpPr>
        <p:spPr>
          <a:xfrm>
            <a:off x="8193024" y="4114800"/>
            <a:ext cx="3520440" cy="1691640"/>
          </a:xfrm>
          <a:prstGeom prst="roundRect">
            <a:avLst>
              <a:gd name="adj" fmla="val 5405"/>
            </a:avLst>
          </a:prstGeom>
          <a:solidFill>
            <a:srgbClr val="F4F3F7"/>
          </a:solidFill>
          <a:ln/>
          <a:effectLst>
            <a:outerShdw sx="100000" sy="100000" kx="0" ky="0" algn="bl" rotWithShape="0" blurRad="101600" dist="38100" dir="2700000">
              <a:srgbClr val="000000">
                <a:alpha val="14000"/>
              </a:srgbClr>
            </a:outerShdw>
          </a:effectLst>
        </p:spPr>
      </p:sp>
      <p:sp>
        <p:nvSpPr>
          <p:cNvPr id="31" name="Shape 24"/>
          <p:cNvSpPr/>
          <p:nvPr/>
        </p:nvSpPr>
        <p:spPr>
          <a:xfrm>
            <a:off x="8421624" y="4343400"/>
            <a:ext cx="502920" cy="502920"/>
          </a:xfrm>
          <a:prstGeom prst="ellipse">
            <a:avLst/>
          </a:prstGeom>
          <a:solidFill>
            <a:srgbClr val="FFFFFF"/>
          </a:solidFill>
          <a:ln/>
        </p:spPr>
      </p:sp>
      <p:pic>
        <p:nvPicPr>
          <p:cNvPr id="32" name="Image 5" descr="preencoded.png">    </p:cNvPr>
          <p:cNvPicPr>
            <a:picLocks noChangeAspect="1"/>
          </p:cNvPicPr>
          <p:nvPr/>
        </p:nvPicPr>
        <p:blipFill>
          <a:blip r:embed="rId6"/>
          <a:stretch>
            <a:fillRect/>
          </a:stretch>
        </p:blipFill>
        <p:spPr>
          <a:xfrm>
            <a:off x="8487004" y="4408780"/>
            <a:ext cx="372161" cy="372161"/>
          </a:xfrm>
          <a:prstGeom prst="rect">
            <a:avLst/>
          </a:prstGeom>
        </p:spPr>
      </p:pic>
      <p:sp>
        <p:nvSpPr>
          <p:cNvPr id="33" name="Text 25"/>
          <p:cNvSpPr/>
          <p:nvPr/>
        </p:nvSpPr>
        <p:spPr>
          <a:xfrm>
            <a:off x="8421624" y="4956048"/>
            <a:ext cx="3063240" cy="365760"/>
          </a:xfrm>
          <a:prstGeom prst="rect">
            <a:avLst/>
          </a:prstGeom>
          <a:noFill/>
          <a:ln/>
        </p:spPr>
        <p:txBody>
          <a:bodyPr wrap="square" rtlCol="0" anchor="ctr"/>
          <a:lstStyle/>
          <a:p>
            <a:pPr indent="0" marL="0">
              <a:buNone/>
            </a:pPr>
            <a:r>
              <a:rPr lang="en-US" sz="1450" b="1" dirty="0">
                <a:solidFill>
                  <a:srgbClr val="1B1B2F"/>
                </a:solidFill>
                <a:latin typeface="Calibri" pitchFamily="34" charset="0"/>
                <a:ea typeface="Calibri" pitchFamily="34" charset="-122"/>
                <a:cs typeface="Calibri" pitchFamily="34" charset="-120"/>
              </a:rPr>
              <a:t>Accountability</a:t>
            </a:r>
            <a:endParaRPr lang="en-US" sz="1450" dirty="0"/>
          </a:p>
        </p:txBody>
      </p:sp>
      <p:sp>
        <p:nvSpPr>
          <p:cNvPr id="34" name="Text 26"/>
          <p:cNvSpPr/>
          <p:nvPr/>
        </p:nvSpPr>
        <p:spPr>
          <a:xfrm>
            <a:off x="8421624" y="5321808"/>
            <a:ext cx="3063240" cy="457200"/>
          </a:xfrm>
          <a:prstGeom prst="rect">
            <a:avLst/>
          </a:prstGeom>
          <a:noFill/>
          <a:ln/>
        </p:spPr>
        <p:txBody>
          <a:bodyPr wrap="square" rtlCol="0" anchor="ctr"/>
          <a:lstStyle/>
          <a:p>
            <a:pPr indent="0" marL="0">
              <a:lnSpc>
                <a:spcPct val="115000"/>
              </a:lnSpc>
              <a:buNone/>
            </a:pPr>
            <a:r>
              <a:rPr lang="en-US" sz="1150" dirty="0">
                <a:solidFill>
                  <a:srgbClr val="6B6B80"/>
                </a:solidFill>
                <a:latin typeface="Calibri" pitchFamily="34" charset="0"/>
                <a:ea typeface="Calibri" pitchFamily="34" charset="-122"/>
                <a:cs typeface="Calibri" pitchFamily="34" charset="-120"/>
              </a:rPr>
              <a:t>Extends responsibility beyond legal minimums</a:t>
            </a:r>
            <a:endParaRPr lang="en-US" sz="1150" dirty="0"/>
          </a:p>
        </p:txBody>
      </p:sp>
      <p:sp>
        <p:nvSpPr>
          <p:cNvPr id="35" name="Text 27"/>
          <p:cNvSpPr/>
          <p:nvPr/>
        </p:nvSpPr>
        <p:spPr>
          <a:xfrm>
            <a:off x="11000232" y="6400800"/>
            <a:ext cx="914400" cy="320040"/>
          </a:xfrm>
          <a:prstGeom prst="rect">
            <a:avLst/>
          </a:prstGeom>
          <a:noFill/>
          <a:ln/>
        </p:spPr>
        <p:txBody>
          <a:bodyPr wrap="square" rtlCol="0" anchor="ctr"/>
          <a:lstStyle/>
          <a:p>
            <a:pPr algn="r" indent="0" marL="0">
              <a:buNone/>
            </a:pPr>
            <a:r>
              <a:rPr lang="en-US" sz="1000" dirty="0">
                <a:solidFill>
                  <a:srgbClr val="6B6B80"/>
                </a:solidFill>
                <a:latin typeface="Calibri" pitchFamily="34" charset="0"/>
                <a:ea typeface="Calibri" pitchFamily="34" charset="-122"/>
                <a:cs typeface="Calibri" pitchFamily="34" charset="-120"/>
              </a:rPr>
              <a:t>03 / 14</a:t>
            </a:r>
            <a:endParaRPr lang="en-US" sz="1000" dirty="0"/>
          </a:p>
        </p:txBody>
      </p:sp>
      <p:sp>
        <p:nvSpPr>
          <p:cNvPr id="36" name="Text 28"/>
          <p:cNvSpPr/>
          <p:nvPr/>
        </p:nvSpPr>
        <p:spPr>
          <a:xfrm>
            <a:off x="548640" y="6400800"/>
            <a:ext cx="5486400" cy="320040"/>
          </a:xfrm>
          <a:prstGeom prst="rect">
            <a:avLst/>
          </a:prstGeom>
          <a:noFill/>
          <a:ln/>
        </p:spPr>
        <p:txBody>
          <a:bodyPr wrap="square" rtlCol="0" anchor="ctr"/>
          <a:lstStyle/>
          <a:p>
            <a:pPr indent="0" marL="0">
              <a:buNone/>
            </a:pPr>
            <a:r>
              <a:rPr lang="en-US" sz="1000" spc="100" kern="0" dirty="0">
                <a:solidFill>
                  <a:srgbClr val="6B6B80"/>
                </a:solidFill>
                <a:latin typeface="Calibri" pitchFamily="34" charset="0"/>
                <a:ea typeface="Calibri" pitchFamily="34" charset="-122"/>
                <a:cs typeface="Calibri" pitchFamily="34" charset="-120"/>
              </a:rPr>
              <a:t>LACANIAN ETHICS IN THE DIGITAL AGE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1B2F"/>
        </a:solidFill>
      </p:bgPr>
    </p:bg>
    <p:spTree>
      <p:nvGrpSpPr>
        <p:cNvPr id="1" name=""/>
        <p:cNvGrpSpPr/>
        <p:nvPr/>
      </p:nvGrpSpPr>
      <p:grpSpPr>
        <a:xfrm>
          <a:off x="0" y="0"/>
          <a:ext cx="0" cy="0"/>
          <a:chOff x="0" y="0"/>
          <a:chExt cx="0" cy="0"/>
        </a:xfrm>
      </p:grpSpPr>
      <p:sp>
        <p:nvSpPr>
          <p:cNvPr id="2" name="Text 0"/>
          <p:cNvSpPr/>
          <p:nvPr/>
        </p:nvSpPr>
        <p:spPr>
          <a:xfrm>
            <a:off x="640080" y="502920"/>
            <a:ext cx="36576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MODULE 2</a:t>
            </a:r>
            <a:endParaRPr lang="en-US" sz="1300" dirty="0"/>
          </a:p>
        </p:txBody>
      </p:sp>
      <p:sp>
        <p:nvSpPr>
          <p:cNvPr id="3" name="Text 1"/>
          <p:cNvSpPr/>
          <p:nvPr/>
        </p:nvSpPr>
        <p:spPr>
          <a:xfrm>
            <a:off x="640080" y="822960"/>
            <a:ext cx="9601200" cy="68580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Ethics Expands into the Digital Age</a:t>
            </a:r>
            <a:endParaRPr lang="en-US" sz="2800" dirty="0"/>
          </a:p>
        </p:txBody>
      </p:sp>
      <p:sp>
        <p:nvSpPr>
          <p:cNvPr id="4" name="Text 2"/>
          <p:cNvSpPr/>
          <p:nvPr/>
        </p:nvSpPr>
        <p:spPr>
          <a:xfrm>
            <a:off x="640080" y="1481328"/>
            <a:ext cx="9601200" cy="411480"/>
          </a:xfrm>
          <a:prstGeom prst="rect">
            <a:avLst/>
          </a:prstGeom>
          <a:noFill/>
          <a:ln/>
        </p:spPr>
        <p:txBody>
          <a:bodyPr wrap="square" rtlCol="0" anchor="ctr"/>
          <a:lstStyle/>
          <a:p>
            <a:pPr indent="0" marL="0">
              <a:buNone/>
            </a:pPr>
            <a:r>
              <a:rPr lang="en-US" sz="1400" dirty="0">
                <a:solidFill>
                  <a:srgbClr val="E8E6F0"/>
                </a:solidFill>
                <a:latin typeface="Calibri" pitchFamily="34" charset="0"/>
                <a:ea typeface="Calibri" pitchFamily="34" charset="-122"/>
                <a:cs typeface="Calibri" pitchFamily="34" charset="-120"/>
              </a:rPr>
              <a:t>Digital ethics examines how technology itself shapes behavior and values — not only how people use it.</a:t>
            </a:r>
            <a:endParaRPr lang="en-US" sz="1400" dirty="0"/>
          </a:p>
        </p:txBody>
      </p:sp>
      <p:sp>
        <p:nvSpPr>
          <p:cNvPr id="5" name="Shape 3"/>
          <p:cNvSpPr/>
          <p:nvPr/>
        </p:nvSpPr>
        <p:spPr>
          <a:xfrm>
            <a:off x="640080" y="2148840"/>
            <a:ext cx="2084832" cy="1417320"/>
          </a:xfrm>
          <a:prstGeom prst="roundRect">
            <a:avLst>
              <a:gd name="adj" fmla="val 6452"/>
            </a:avLst>
          </a:prstGeom>
          <a:solidFill>
            <a:srgbClr val="26264A"/>
          </a:solidFill>
          <a:ln/>
        </p:spPr>
      </p:sp>
      <p:sp>
        <p:nvSpPr>
          <p:cNvPr id="6" name="Shape 4"/>
          <p:cNvSpPr/>
          <p:nvPr/>
        </p:nvSpPr>
        <p:spPr>
          <a:xfrm>
            <a:off x="822960" y="2331720"/>
            <a:ext cx="457200" cy="457200"/>
          </a:xfrm>
          <a:prstGeom prst="ellipse">
            <a:avLst/>
          </a:prstGeom>
          <a:solidFill>
            <a:srgbClr val="343463"/>
          </a:solidFill>
          <a:ln/>
        </p:spPr>
      </p:sp>
      <p:pic>
        <p:nvPicPr>
          <p:cNvPr id="7" name="Image 0" descr="preencoded.png">    </p:cNvPr>
          <p:cNvPicPr>
            <a:picLocks noChangeAspect="1"/>
          </p:cNvPicPr>
          <p:nvPr/>
        </p:nvPicPr>
        <p:blipFill>
          <a:blip r:embed="rId1"/>
          <a:stretch>
            <a:fillRect/>
          </a:stretch>
        </p:blipFill>
        <p:spPr>
          <a:xfrm>
            <a:off x="941832" y="2450592"/>
            <a:ext cx="219456" cy="219456"/>
          </a:xfrm>
          <a:prstGeom prst="rect">
            <a:avLst/>
          </a:prstGeom>
        </p:spPr>
      </p:pic>
      <p:sp>
        <p:nvSpPr>
          <p:cNvPr id="8" name="Text 5"/>
          <p:cNvSpPr/>
          <p:nvPr/>
        </p:nvSpPr>
        <p:spPr>
          <a:xfrm>
            <a:off x="804672" y="2898648"/>
            <a:ext cx="1755648" cy="594360"/>
          </a:xfrm>
          <a:prstGeom prst="rect">
            <a:avLst/>
          </a:prstGeom>
          <a:noFill/>
          <a:ln/>
        </p:spPr>
        <p:txBody>
          <a:bodyPr wrap="square"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Artificial Intelligence</a:t>
            </a:r>
            <a:endParaRPr lang="en-US" sz="1250" dirty="0"/>
          </a:p>
        </p:txBody>
      </p:sp>
      <p:sp>
        <p:nvSpPr>
          <p:cNvPr id="9" name="Shape 6"/>
          <p:cNvSpPr/>
          <p:nvPr/>
        </p:nvSpPr>
        <p:spPr>
          <a:xfrm>
            <a:off x="2889504" y="2148840"/>
            <a:ext cx="2084832" cy="1417320"/>
          </a:xfrm>
          <a:prstGeom prst="roundRect">
            <a:avLst>
              <a:gd name="adj" fmla="val 6452"/>
            </a:avLst>
          </a:prstGeom>
          <a:solidFill>
            <a:srgbClr val="26264A"/>
          </a:solidFill>
          <a:ln/>
        </p:spPr>
      </p:sp>
      <p:sp>
        <p:nvSpPr>
          <p:cNvPr id="10" name="Shape 7"/>
          <p:cNvSpPr/>
          <p:nvPr/>
        </p:nvSpPr>
        <p:spPr>
          <a:xfrm>
            <a:off x="3072384" y="2331720"/>
            <a:ext cx="457200" cy="457200"/>
          </a:xfrm>
          <a:prstGeom prst="ellipse">
            <a:avLst/>
          </a:prstGeom>
          <a:solidFill>
            <a:srgbClr val="343463"/>
          </a:solidFill>
          <a:ln/>
        </p:spPr>
      </p:sp>
      <p:pic>
        <p:nvPicPr>
          <p:cNvPr id="11" name="Image 1" descr="preencoded.png">    </p:cNvPr>
          <p:cNvPicPr>
            <a:picLocks noChangeAspect="1"/>
          </p:cNvPicPr>
          <p:nvPr/>
        </p:nvPicPr>
        <p:blipFill>
          <a:blip r:embed="rId2"/>
          <a:stretch>
            <a:fillRect/>
          </a:stretch>
        </p:blipFill>
        <p:spPr>
          <a:xfrm>
            <a:off x="3191256" y="2450592"/>
            <a:ext cx="219456" cy="219456"/>
          </a:xfrm>
          <a:prstGeom prst="rect">
            <a:avLst/>
          </a:prstGeom>
        </p:spPr>
      </p:pic>
      <p:sp>
        <p:nvSpPr>
          <p:cNvPr id="12" name="Text 8"/>
          <p:cNvSpPr/>
          <p:nvPr/>
        </p:nvSpPr>
        <p:spPr>
          <a:xfrm>
            <a:off x="3054096" y="2898648"/>
            <a:ext cx="1755648" cy="594360"/>
          </a:xfrm>
          <a:prstGeom prst="rect">
            <a:avLst/>
          </a:prstGeom>
          <a:noFill/>
          <a:ln/>
        </p:spPr>
        <p:txBody>
          <a:bodyPr wrap="square"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Algorithmic Bias</a:t>
            </a:r>
            <a:endParaRPr lang="en-US" sz="1250" dirty="0"/>
          </a:p>
        </p:txBody>
      </p:sp>
      <p:sp>
        <p:nvSpPr>
          <p:cNvPr id="13" name="Shape 9"/>
          <p:cNvSpPr/>
          <p:nvPr/>
        </p:nvSpPr>
        <p:spPr>
          <a:xfrm>
            <a:off x="5138928" y="2148840"/>
            <a:ext cx="2084832" cy="1417320"/>
          </a:xfrm>
          <a:prstGeom prst="roundRect">
            <a:avLst>
              <a:gd name="adj" fmla="val 6452"/>
            </a:avLst>
          </a:prstGeom>
          <a:solidFill>
            <a:srgbClr val="26264A"/>
          </a:solidFill>
          <a:ln/>
        </p:spPr>
      </p:sp>
      <p:sp>
        <p:nvSpPr>
          <p:cNvPr id="14" name="Shape 10"/>
          <p:cNvSpPr/>
          <p:nvPr/>
        </p:nvSpPr>
        <p:spPr>
          <a:xfrm>
            <a:off x="5321808" y="2331720"/>
            <a:ext cx="457200" cy="457200"/>
          </a:xfrm>
          <a:prstGeom prst="ellipse">
            <a:avLst/>
          </a:prstGeom>
          <a:solidFill>
            <a:srgbClr val="343463"/>
          </a:solidFill>
          <a:ln/>
        </p:spPr>
      </p:sp>
      <p:pic>
        <p:nvPicPr>
          <p:cNvPr id="15" name="Image 2" descr="preencoded.png">    </p:cNvPr>
          <p:cNvPicPr>
            <a:picLocks noChangeAspect="1"/>
          </p:cNvPicPr>
          <p:nvPr/>
        </p:nvPicPr>
        <p:blipFill>
          <a:blip r:embed="rId3"/>
          <a:stretch>
            <a:fillRect/>
          </a:stretch>
        </p:blipFill>
        <p:spPr>
          <a:xfrm>
            <a:off x="5440680" y="2450592"/>
            <a:ext cx="219456" cy="219456"/>
          </a:xfrm>
          <a:prstGeom prst="rect">
            <a:avLst/>
          </a:prstGeom>
        </p:spPr>
      </p:pic>
      <p:sp>
        <p:nvSpPr>
          <p:cNvPr id="16" name="Text 11"/>
          <p:cNvSpPr/>
          <p:nvPr/>
        </p:nvSpPr>
        <p:spPr>
          <a:xfrm>
            <a:off x="5303520" y="2898648"/>
            <a:ext cx="1755648" cy="594360"/>
          </a:xfrm>
          <a:prstGeom prst="rect">
            <a:avLst/>
          </a:prstGeom>
          <a:noFill/>
          <a:ln/>
        </p:spPr>
        <p:txBody>
          <a:bodyPr wrap="square"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Privacy</a:t>
            </a:r>
            <a:endParaRPr lang="en-US" sz="1250" dirty="0"/>
          </a:p>
        </p:txBody>
      </p:sp>
      <p:sp>
        <p:nvSpPr>
          <p:cNvPr id="17" name="Shape 12"/>
          <p:cNvSpPr/>
          <p:nvPr/>
        </p:nvSpPr>
        <p:spPr>
          <a:xfrm>
            <a:off x="7388352" y="2148840"/>
            <a:ext cx="2084832" cy="1417320"/>
          </a:xfrm>
          <a:prstGeom prst="roundRect">
            <a:avLst>
              <a:gd name="adj" fmla="val 6452"/>
            </a:avLst>
          </a:prstGeom>
          <a:solidFill>
            <a:srgbClr val="26264A"/>
          </a:solidFill>
          <a:ln/>
        </p:spPr>
      </p:sp>
      <p:sp>
        <p:nvSpPr>
          <p:cNvPr id="18" name="Shape 13"/>
          <p:cNvSpPr/>
          <p:nvPr/>
        </p:nvSpPr>
        <p:spPr>
          <a:xfrm>
            <a:off x="7571232" y="2331720"/>
            <a:ext cx="457200" cy="457200"/>
          </a:xfrm>
          <a:prstGeom prst="ellipse">
            <a:avLst/>
          </a:prstGeom>
          <a:solidFill>
            <a:srgbClr val="343463"/>
          </a:solidFill>
          <a:ln/>
        </p:spPr>
      </p:sp>
      <p:pic>
        <p:nvPicPr>
          <p:cNvPr id="19" name="Image 3" descr="preencoded.png">    </p:cNvPr>
          <p:cNvPicPr>
            <a:picLocks noChangeAspect="1"/>
          </p:cNvPicPr>
          <p:nvPr/>
        </p:nvPicPr>
        <p:blipFill>
          <a:blip r:embed="rId4"/>
          <a:stretch>
            <a:fillRect/>
          </a:stretch>
        </p:blipFill>
        <p:spPr>
          <a:xfrm>
            <a:off x="7690104" y="2450592"/>
            <a:ext cx="219456" cy="219456"/>
          </a:xfrm>
          <a:prstGeom prst="rect">
            <a:avLst/>
          </a:prstGeom>
        </p:spPr>
      </p:pic>
      <p:sp>
        <p:nvSpPr>
          <p:cNvPr id="20" name="Text 14"/>
          <p:cNvSpPr/>
          <p:nvPr/>
        </p:nvSpPr>
        <p:spPr>
          <a:xfrm>
            <a:off x="7552944" y="2898648"/>
            <a:ext cx="1755648" cy="594360"/>
          </a:xfrm>
          <a:prstGeom prst="rect">
            <a:avLst/>
          </a:prstGeom>
          <a:noFill/>
          <a:ln/>
        </p:spPr>
        <p:txBody>
          <a:bodyPr wrap="square"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Cybersecurity</a:t>
            </a:r>
            <a:endParaRPr lang="en-US" sz="1250" dirty="0"/>
          </a:p>
        </p:txBody>
      </p:sp>
      <p:sp>
        <p:nvSpPr>
          <p:cNvPr id="21" name="Shape 15"/>
          <p:cNvSpPr/>
          <p:nvPr/>
        </p:nvSpPr>
        <p:spPr>
          <a:xfrm>
            <a:off x="9637776" y="2148840"/>
            <a:ext cx="2084832" cy="1417320"/>
          </a:xfrm>
          <a:prstGeom prst="roundRect">
            <a:avLst>
              <a:gd name="adj" fmla="val 6452"/>
            </a:avLst>
          </a:prstGeom>
          <a:solidFill>
            <a:srgbClr val="26264A"/>
          </a:solidFill>
          <a:ln/>
        </p:spPr>
      </p:sp>
      <p:sp>
        <p:nvSpPr>
          <p:cNvPr id="22" name="Shape 16"/>
          <p:cNvSpPr/>
          <p:nvPr/>
        </p:nvSpPr>
        <p:spPr>
          <a:xfrm>
            <a:off x="9820656" y="2331720"/>
            <a:ext cx="457200" cy="457200"/>
          </a:xfrm>
          <a:prstGeom prst="ellipse">
            <a:avLst/>
          </a:prstGeom>
          <a:solidFill>
            <a:srgbClr val="343463"/>
          </a:solidFill>
          <a:ln/>
        </p:spPr>
      </p:sp>
      <p:pic>
        <p:nvPicPr>
          <p:cNvPr id="23" name="Image 4" descr="preencoded.png">    </p:cNvPr>
          <p:cNvPicPr>
            <a:picLocks noChangeAspect="1"/>
          </p:cNvPicPr>
          <p:nvPr/>
        </p:nvPicPr>
        <p:blipFill>
          <a:blip r:embed="rId5"/>
          <a:stretch>
            <a:fillRect/>
          </a:stretch>
        </p:blipFill>
        <p:spPr>
          <a:xfrm>
            <a:off x="9939528" y="2450592"/>
            <a:ext cx="219456" cy="219456"/>
          </a:xfrm>
          <a:prstGeom prst="rect">
            <a:avLst/>
          </a:prstGeom>
        </p:spPr>
      </p:pic>
      <p:sp>
        <p:nvSpPr>
          <p:cNvPr id="24" name="Text 17"/>
          <p:cNvSpPr/>
          <p:nvPr/>
        </p:nvSpPr>
        <p:spPr>
          <a:xfrm>
            <a:off x="9802368" y="2898648"/>
            <a:ext cx="1755648" cy="594360"/>
          </a:xfrm>
          <a:prstGeom prst="rect">
            <a:avLst/>
          </a:prstGeom>
          <a:noFill/>
          <a:ln/>
        </p:spPr>
        <p:txBody>
          <a:bodyPr wrap="square"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Surveillance</a:t>
            </a:r>
            <a:endParaRPr lang="en-US" sz="1250" dirty="0"/>
          </a:p>
        </p:txBody>
      </p:sp>
      <p:sp>
        <p:nvSpPr>
          <p:cNvPr id="25" name="Shape 18"/>
          <p:cNvSpPr/>
          <p:nvPr/>
        </p:nvSpPr>
        <p:spPr>
          <a:xfrm>
            <a:off x="640080" y="3794760"/>
            <a:ext cx="2084832" cy="1417320"/>
          </a:xfrm>
          <a:prstGeom prst="roundRect">
            <a:avLst>
              <a:gd name="adj" fmla="val 6452"/>
            </a:avLst>
          </a:prstGeom>
          <a:solidFill>
            <a:srgbClr val="26264A"/>
          </a:solidFill>
          <a:ln/>
        </p:spPr>
      </p:sp>
      <p:sp>
        <p:nvSpPr>
          <p:cNvPr id="26" name="Shape 19"/>
          <p:cNvSpPr/>
          <p:nvPr/>
        </p:nvSpPr>
        <p:spPr>
          <a:xfrm>
            <a:off x="822960" y="3977640"/>
            <a:ext cx="457200" cy="457200"/>
          </a:xfrm>
          <a:prstGeom prst="ellipse">
            <a:avLst/>
          </a:prstGeom>
          <a:solidFill>
            <a:srgbClr val="343463"/>
          </a:solidFill>
          <a:ln/>
        </p:spPr>
      </p:sp>
      <p:pic>
        <p:nvPicPr>
          <p:cNvPr id="27" name="Image 5" descr="preencoded.png">    </p:cNvPr>
          <p:cNvPicPr>
            <a:picLocks noChangeAspect="1"/>
          </p:cNvPicPr>
          <p:nvPr/>
        </p:nvPicPr>
        <p:blipFill>
          <a:blip r:embed="rId6"/>
          <a:stretch>
            <a:fillRect/>
          </a:stretch>
        </p:blipFill>
        <p:spPr>
          <a:xfrm>
            <a:off x="941832" y="4096512"/>
            <a:ext cx="219456" cy="219456"/>
          </a:xfrm>
          <a:prstGeom prst="rect">
            <a:avLst/>
          </a:prstGeom>
        </p:spPr>
      </p:pic>
      <p:sp>
        <p:nvSpPr>
          <p:cNvPr id="28" name="Text 20"/>
          <p:cNvSpPr/>
          <p:nvPr/>
        </p:nvSpPr>
        <p:spPr>
          <a:xfrm>
            <a:off x="804672" y="4544568"/>
            <a:ext cx="1755648" cy="594360"/>
          </a:xfrm>
          <a:prstGeom prst="rect">
            <a:avLst/>
          </a:prstGeom>
          <a:noFill/>
          <a:ln/>
        </p:spPr>
        <p:txBody>
          <a:bodyPr wrap="square"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Environmental Sustainability</a:t>
            </a:r>
            <a:endParaRPr lang="en-US" sz="1250" dirty="0"/>
          </a:p>
        </p:txBody>
      </p:sp>
      <p:sp>
        <p:nvSpPr>
          <p:cNvPr id="29" name="Shape 21"/>
          <p:cNvSpPr/>
          <p:nvPr/>
        </p:nvSpPr>
        <p:spPr>
          <a:xfrm>
            <a:off x="2889504" y="3794760"/>
            <a:ext cx="2084832" cy="1417320"/>
          </a:xfrm>
          <a:prstGeom prst="roundRect">
            <a:avLst>
              <a:gd name="adj" fmla="val 6452"/>
            </a:avLst>
          </a:prstGeom>
          <a:solidFill>
            <a:srgbClr val="26264A"/>
          </a:solidFill>
          <a:ln/>
        </p:spPr>
      </p:sp>
      <p:sp>
        <p:nvSpPr>
          <p:cNvPr id="30" name="Shape 22"/>
          <p:cNvSpPr/>
          <p:nvPr/>
        </p:nvSpPr>
        <p:spPr>
          <a:xfrm>
            <a:off x="3072384" y="3977640"/>
            <a:ext cx="457200" cy="457200"/>
          </a:xfrm>
          <a:prstGeom prst="ellipse">
            <a:avLst/>
          </a:prstGeom>
          <a:solidFill>
            <a:srgbClr val="343463"/>
          </a:solidFill>
          <a:ln/>
        </p:spPr>
      </p:sp>
      <p:pic>
        <p:nvPicPr>
          <p:cNvPr id="31" name="Image 6" descr="preencoded.png">    </p:cNvPr>
          <p:cNvPicPr>
            <a:picLocks noChangeAspect="1"/>
          </p:cNvPicPr>
          <p:nvPr/>
        </p:nvPicPr>
        <p:blipFill>
          <a:blip r:embed="rId7"/>
          <a:stretch>
            <a:fillRect/>
          </a:stretch>
        </p:blipFill>
        <p:spPr>
          <a:xfrm>
            <a:off x="3191256" y="4096512"/>
            <a:ext cx="219456" cy="219456"/>
          </a:xfrm>
          <a:prstGeom prst="rect">
            <a:avLst/>
          </a:prstGeom>
        </p:spPr>
      </p:pic>
      <p:sp>
        <p:nvSpPr>
          <p:cNvPr id="32" name="Text 23"/>
          <p:cNvSpPr/>
          <p:nvPr/>
        </p:nvSpPr>
        <p:spPr>
          <a:xfrm>
            <a:off x="3054096" y="4544568"/>
            <a:ext cx="1755648" cy="594360"/>
          </a:xfrm>
          <a:prstGeom prst="rect">
            <a:avLst/>
          </a:prstGeom>
          <a:noFill/>
          <a:ln/>
        </p:spPr>
        <p:txBody>
          <a:bodyPr wrap="square"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Platform Governance</a:t>
            </a:r>
            <a:endParaRPr lang="en-US" sz="1250" dirty="0"/>
          </a:p>
        </p:txBody>
      </p:sp>
      <p:sp>
        <p:nvSpPr>
          <p:cNvPr id="33" name="Shape 24"/>
          <p:cNvSpPr/>
          <p:nvPr/>
        </p:nvSpPr>
        <p:spPr>
          <a:xfrm>
            <a:off x="5138928" y="3794760"/>
            <a:ext cx="2084832" cy="1417320"/>
          </a:xfrm>
          <a:prstGeom prst="roundRect">
            <a:avLst>
              <a:gd name="adj" fmla="val 6452"/>
            </a:avLst>
          </a:prstGeom>
          <a:solidFill>
            <a:srgbClr val="26264A"/>
          </a:solidFill>
          <a:ln/>
        </p:spPr>
      </p:sp>
      <p:sp>
        <p:nvSpPr>
          <p:cNvPr id="34" name="Shape 25"/>
          <p:cNvSpPr/>
          <p:nvPr/>
        </p:nvSpPr>
        <p:spPr>
          <a:xfrm>
            <a:off x="5321808" y="3977640"/>
            <a:ext cx="457200" cy="457200"/>
          </a:xfrm>
          <a:prstGeom prst="ellipse">
            <a:avLst/>
          </a:prstGeom>
          <a:solidFill>
            <a:srgbClr val="343463"/>
          </a:solidFill>
          <a:ln/>
        </p:spPr>
      </p:sp>
      <p:pic>
        <p:nvPicPr>
          <p:cNvPr id="35" name="Image 7" descr="preencoded.png">    </p:cNvPr>
          <p:cNvPicPr>
            <a:picLocks noChangeAspect="1"/>
          </p:cNvPicPr>
          <p:nvPr/>
        </p:nvPicPr>
        <p:blipFill>
          <a:blip r:embed="rId8"/>
          <a:stretch>
            <a:fillRect/>
          </a:stretch>
        </p:blipFill>
        <p:spPr>
          <a:xfrm>
            <a:off x="5440680" y="4096512"/>
            <a:ext cx="219456" cy="219456"/>
          </a:xfrm>
          <a:prstGeom prst="rect">
            <a:avLst/>
          </a:prstGeom>
        </p:spPr>
      </p:pic>
      <p:sp>
        <p:nvSpPr>
          <p:cNvPr id="36" name="Text 26"/>
          <p:cNvSpPr/>
          <p:nvPr/>
        </p:nvSpPr>
        <p:spPr>
          <a:xfrm>
            <a:off x="5303520" y="4544568"/>
            <a:ext cx="1755648" cy="594360"/>
          </a:xfrm>
          <a:prstGeom prst="rect">
            <a:avLst/>
          </a:prstGeom>
          <a:noFill/>
          <a:ln/>
        </p:spPr>
        <p:txBody>
          <a:bodyPr wrap="square"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Digital Well-being</a:t>
            </a:r>
            <a:endParaRPr lang="en-US" sz="1250" dirty="0"/>
          </a:p>
        </p:txBody>
      </p:sp>
      <p:sp>
        <p:nvSpPr>
          <p:cNvPr id="37" name="Shape 27"/>
          <p:cNvSpPr/>
          <p:nvPr/>
        </p:nvSpPr>
        <p:spPr>
          <a:xfrm>
            <a:off x="7388352" y="3794760"/>
            <a:ext cx="2084832" cy="1417320"/>
          </a:xfrm>
          <a:prstGeom prst="roundRect">
            <a:avLst>
              <a:gd name="adj" fmla="val 6452"/>
            </a:avLst>
          </a:prstGeom>
          <a:solidFill>
            <a:srgbClr val="26264A"/>
          </a:solidFill>
          <a:ln/>
        </p:spPr>
      </p:sp>
      <p:sp>
        <p:nvSpPr>
          <p:cNvPr id="38" name="Shape 28"/>
          <p:cNvSpPr/>
          <p:nvPr/>
        </p:nvSpPr>
        <p:spPr>
          <a:xfrm>
            <a:off x="7571232" y="3977640"/>
            <a:ext cx="457200" cy="457200"/>
          </a:xfrm>
          <a:prstGeom prst="ellipse">
            <a:avLst/>
          </a:prstGeom>
          <a:solidFill>
            <a:srgbClr val="343463"/>
          </a:solidFill>
          <a:ln/>
        </p:spPr>
      </p:sp>
      <p:pic>
        <p:nvPicPr>
          <p:cNvPr id="39" name="Image 8" descr="preencoded.png">    </p:cNvPr>
          <p:cNvPicPr>
            <a:picLocks noChangeAspect="1"/>
          </p:cNvPicPr>
          <p:nvPr/>
        </p:nvPicPr>
        <p:blipFill>
          <a:blip r:embed="rId9"/>
          <a:stretch>
            <a:fillRect/>
          </a:stretch>
        </p:blipFill>
        <p:spPr>
          <a:xfrm>
            <a:off x="7690104" y="4096512"/>
            <a:ext cx="219456" cy="219456"/>
          </a:xfrm>
          <a:prstGeom prst="rect">
            <a:avLst/>
          </a:prstGeom>
        </p:spPr>
      </p:pic>
      <p:sp>
        <p:nvSpPr>
          <p:cNvPr id="40" name="Text 29"/>
          <p:cNvSpPr/>
          <p:nvPr/>
        </p:nvSpPr>
        <p:spPr>
          <a:xfrm>
            <a:off x="7552944" y="4544568"/>
            <a:ext cx="1755648" cy="594360"/>
          </a:xfrm>
          <a:prstGeom prst="rect">
            <a:avLst/>
          </a:prstGeom>
          <a:noFill/>
          <a:ln/>
        </p:spPr>
        <p:txBody>
          <a:bodyPr wrap="square"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Misinformation</a:t>
            </a:r>
            <a:endParaRPr lang="en-US" sz="1250" dirty="0"/>
          </a:p>
        </p:txBody>
      </p:sp>
      <p:sp>
        <p:nvSpPr>
          <p:cNvPr id="41" name="Shape 30"/>
          <p:cNvSpPr/>
          <p:nvPr/>
        </p:nvSpPr>
        <p:spPr>
          <a:xfrm>
            <a:off x="9637776" y="3794760"/>
            <a:ext cx="2084832" cy="1417320"/>
          </a:xfrm>
          <a:prstGeom prst="roundRect">
            <a:avLst>
              <a:gd name="adj" fmla="val 6452"/>
            </a:avLst>
          </a:prstGeom>
          <a:solidFill>
            <a:srgbClr val="26264A"/>
          </a:solidFill>
          <a:ln/>
        </p:spPr>
      </p:sp>
      <p:sp>
        <p:nvSpPr>
          <p:cNvPr id="42" name="Shape 31"/>
          <p:cNvSpPr/>
          <p:nvPr/>
        </p:nvSpPr>
        <p:spPr>
          <a:xfrm>
            <a:off x="9820656" y="3977640"/>
            <a:ext cx="457200" cy="457200"/>
          </a:xfrm>
          <a:prstGeom prst="ellipse">
            <a:avLst/>
          </a:prstGeom>
          <a:solidFill>
            <a:srgbClr val="343463"/>
          </a:solidFill>
          <a:ln/>
        </p:spPr>
      </p:sp>
      <p:pic>
        <p:nvPicPr>
          <p:cNvPr id="43" name="Image 9" descr="preencoded.png">    </p:cNvPr>
          <p:cNvPicPr>
            <a:picLocks noChangeAspect="1"/>
          </p:cNvPicPr>
          <p:nvPr/>
        </p:nvPicPr>
        <p:blipFill>
          <a:blip r:embed="rId10"/>
          <a:stretch>
            <a:fillRect/>
          </a:stretch>
        </p:blipFill>
        <p:spPr>
          <a:xfrm>
            <a:off x="9939528" y="4096512"/>
            <a:ext cx="219456" cy="219456"/>
          </a:xfrm>
          <a:prstGeom prst="rect">
            <a:avLst/>
          </a:prstGeom>
        </p:spPr>
      </p:pic>
      <p:sp>
        <p:nvSpPr>
          <p:cNvPr id="44" name="Text 32"/>
          <p:cNvSpPr/>
          <p:nvPr/>
        </p:nvSpPr>
        <p:spPr>
          <a:xfrm>
            <a:off x="9802368" y="4544568"/>
            <a:ext cx="1755648" cy="594360"/>
          </a:xfrm>
          <a:prstGeom prst="rect">
            <a:avLst/>
          </a:prstGeom>
          <a:noFill/>
          <a:ln/>
        </p:spPr>
        <p:txBody>
          <a:bodyPr wrap="square"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Automation</a:t>
            </a:r>
            <a:endParaRPr lang="en-US" sz="1250" dirty="0"/>
          </a:p>
        </p:txBody>
      </p:sp>
      <p:sp>
        <p:nvSpPr>
          <p:cNvPr id="45" name="Text 33"/>
          <p:cNvSpPr/>
          <p:nvPr/>
        </p:nvSpPr>
        <p:spPr>
          <a:xfrm>
            <a:off x="11000232" y="6400800"/>
            <a:ext cx="914400" cy="320040"/>
          </a:xfrm>
          <a:prstGeom prst="rect">
            <a:avLst/>
          </a:prstGeom>
          <a:noFill/>
          <a:ln/>
        </p:spPr>
        <p:txBody>
          <a:bodyPr wrap="square" rtlCol="0" anchor="ctr"/>
          <a:lstStyle/>
          <a:p>
            <a:pPr algn="r" indent="0" marL="0">
              <a:buNone/>
            </a:pPr>
            <a:r>
              <a:rPr lang="en-US" sz="1000" dirty="0">
                <a:solidFill>
                  <a:srgbClr val="E8E6F0"/>
                </a:solidFill>
                <a:latin typeface="Calibri" pitchFamily="34" charset="0"/>
                <a:ea typeface="Calibri" pitchFamily="34" charset="-122"/>
                <a:cs typeface="Calibri" pitchFamily="34" charset="-120"/>
              </a:rPr>
              <a:t>04 / 14</a:t>
            </a:r>
            <a:endParaRPr lang="en-US" sz="1000" dirty="0"/>
          </a:p>
        </p:txBody>
      </p:sp>
      <p:sp>
        <p:nvSpPr>
          <p:cNvPr id="46" name="Text 34"/>
          <p:cNvSpPr/>
          <p:nvPr/>
        </p:nvSpPr>
        <p:spPr>
          <a:xfrm>
            <a:off x="548640" y="6400800"/>
            <a:ext cx="5486400" cy="320040"/>
          </a:xfrm>
          <a:prstGeom prst="rect">
            <a:avLst/>
          </a:prstGeom>
          <a:noFill/>
          <a:ln/>
        </p:spPr>
        <p:txBody>
          <a:bodyPr wrap="square" rtlCol="0" anchor="ctr"/>
          <a:lstStyle/>
          <a:p>
            <a:pPr indent="0" marL="0">
              <a:buNone/>
            </a:pPr>
            <a:r>
              <a:rPr lang="en-US" sz="1000" spc="100" kern="0" dirty="0">
                <a:solidFill>
                  <a:srgbClr val="E8E6F0"/>
                </a:solidFill>
                <a:latin typeface="Calibri" pitchFamily="34" charset="0"/>
                <a:ea typeface="Calibri" pitchFamily="34" charset="-122"/>
                <a:cs typeface="Calibri" pitchFamily="34" charset="-120"/>
              </a:rPr>
              <a:t>LACANIAN ETHICS IN THE DIGITAL AGE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36576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MODULE 3</a:t>
            </a:r>
            <a:endParaRPr lang="en-US" sz="1300" dirty="0"/>
          </a:p>
        </p:txBody>
      </p:sp>
      <p:sp>
        <p:nvSpPr>
          <p:cNvPr id="3" name="Text 1"/>
          <p:cNvSpPr/>
          <p:nvPr/>
        </p:nvSpPr>
        <p:spPr>
          <a:xfrm>
            <a:off x="640080" y="822960"/>
            <a:ext cx="9144000" cy="685800"/>
          </a:xfrm>
          <a:prstGeom prst="rect">
            <a:avLst/>
          </a:prstGeom>
          <a:noFill/>
          <a:ln/>
        </p:spPr>
        <p:txBody>
          <a:bodyPr wrap="square" rtlCol="0" anchor="ctr"/>
          <a:lstStyle/>
          <a:p>
            <a:pPr indent="0" marL="0">
              <a:buNone/>
            </a:pPr>
            <a:r>
              <a:rPr lang="en-US" sz="3000" b="1" dirty="0">
                <a:solidFill>
                  <a:srgbClr val="1B1B2F"/>
                </a:solidFill>
                <a:latin typeface="Cambria" pitchFamily="34" charset="0"/>
                <a:ea typeface="Cambria" pitchFamily="34" charset="-122"/>
                <a:cs typeface="Cambria" pitchFamily="34" charset="-120"/>
              </a:rPr>
              <a:t>Introduction to Lacanian Theory</a:t>
            </a:r>
            <a:endParaRPr lang="en-US" sz="3000" dirty="0"/>
          </a:p>
        </p:txBody>
      </p:sp>
      <p:sp>
        <p:nvSpPr>
          <p:cNvPr id="4" name="Shape 2"/>
          <p:cNvSpPr/>
          <p:nvPr/>
        </p:nvSpPr>
        <p:spPr>
          <a:xfrm>
            <a:off x="640080" y="1691640"/>
            <a:ext cx="5212080" cy="4297680"/>
          </a:xfrm>
          <a:prstGeom prst="roundRect">
            <a:avLst>
              <a:gd name="adj" fmla="val 2553"/>
            </a:avLst>
          </a:prstGeom>
          <a:solidFill>
            <a:srgbClr val="1B1B2F"/>
          </a:solidFill>
          <a:ln/>
          <a:effectLst>
            <a:outerShdw sx="100000" sy="100000" kx="0" ky="0" algn="bl" rotWithShape="0" blurRad="101600" dist="38100" dir="2700000">
              <a:srgbClr val="000000">
                <a:alpha val="14000"/>
              </a:srgbClr>
            </a:outerShdw>
          </a:effectLst>
        </p:spPr>
      </p:sp>
      <p:sp>
        <p:nvSpPr>
          <p:cNvPr id="5" name="Shape 3"/>
          <p:cNvSpPr/>
          <p:nvPr/>
        </p:nvSpPr>
        <p:spPr>
          <a:xfrm>
            <a:off x="1005840" y="2011680"/>
            <a:ext cx="685800" cy="685800"/>
          </a:xfrm>
          <a:prstGeom prst="ellipse">
            <a:avLst/>
          </a:prstGeom>
          <a:solidFill>
            <a:srgbClr val="2A2A47"/>
          </a:solidFill>
          <a:ln/>
        </p:spPr>
      </p:sp>
      <p:pic>
        <p:nvPicPr>
          <p:cNvPr id="6" name="Image 0" descr="preencoded.png">    </p:cNvPr>
          <p:cNvPicPr>
            <a:picLocks noChangeAspect="1"/>
          </p:cNvPicPr>
          <p:nvPr/>
        </p:nvPicPr>
        <p:blipFill>
          <a:blip r:embed="rId1"/>
          <a:stretch>
            <a:fillRect/>
          </a:stretch>
        </p:blipFill>
        <p:spPr>
          <a:xfrm>
            <a:off x="1094994" y="2100834"/>
            <a:ext cx="507492" cy="507492"/>
          </a:xfrm>
          <a:prstGeom prst="rect">
            <a:avLst/>
          </a:prstGeom>
        </p:spPr>
      </p:pic>
      <p:sp>
        <p:nvSpPr>
          <p:cNvPr id="7" name="Text 4"/>
          <p:cNvSpPr/>
          <p:nvPr/>
        </p:nvSpPr>
        <p:spPr>
          <a:xfrm>
            <a:off x="1874520" y="2084832"/>
            <a:ext cx="365760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Jacques Lacan</a:t>
            </a:r>
            <a:endParaRPr lang="en-US" sz="2000" dirty="0"/>
          </a:p>
        </p:txBody>
      </p:sp>
      <p:sp>
        <p:nvSpPr>
          <p:cNvPr id="8" name="Text 5"/>
          <p:cNvSpPr/>
          <p:nvPr/>
        </p:nvSpPr>
        <p:spPr>
          <a:xfrm>
            <a:off x="1874520" y="2487168"/>
            <a:ext cx="3657600" cy="320040"/>
          </a:xfrm>
          <a:prstGeom prst="rect">
            <a:avLst/>
          </a:prstGeom>
          <a:noFill/>
          <a:ln/>
        </p:spPr>
        <p:txBody>
          <a:bodyPr wrap="square" rtlCol="0" anchor="ctr"/>
          <a:lstStyle/>
          <a:p>
            <a:pPr indent="0" marL="0">
              <a:buNone/>
            </a:pPr>
            <a:r>
              <a:rPr lang="en-US" sz="1200" dirty="0">
                <a:solidFill>
                  <a:srgbClr val="C9A227"/>
                </a:solidFill>
                <a:latin typeface="Calibri" pitchFamily="34" charset="0"/>
                <a:ea typeface="Calibri" pitchFamily="34" charset="-122"/>
                <a:cs typeface="Calibri" pitchFamily="34" charset="-120"/>
              </a:rPr>
              <a:t>French psychoanalyst, 20th century</a:t>
            </a:r>
            <a:endParaRPr lang="en-US" sz="1200" dirty="0"/>
          </a:p>
        </p:txBody>
      </p:sp>
      <p:sp>
        <p:nvSpPr>
          <p:cNvPr id="9" name="Text 6"/>
          <p:cNvSpPr/>
          <p:nvPr/>
        </p:nvSpPr>
        <p:spPr>
          <a:xfrm>
            <a:off x="1005840" y="3063240"/>
            <a:ext cx="4480560" cy="1554480"/>
          </a:xfrm>
          <a:prstGeom prst="rect">
            <a:avLst/>
          </a:prstGeom>
          <a:noFill/>
          <a:ln/>
        </p:spPr>
        <p:txBody>
          <a:bodyPr wrap="square" rtlCol="0" anchor="ctr"/>
          <a:lstStyle/>
          <a:p>
            <a:pPr indent="0" marL="0">
              <a:lnSpc>
                <a:spcPct val="130000"/>
              </a:lnSpc>
              <a:buNone/>
            </a:pPr>
            <a:r>
              <a:rPr lang="en-US" sz="1350" dirty="0">
                <a:solidFill>
                  <a:srgbClr val="E8E6F0"/>
                </a:solidFill>
                <a:latin typeface="Calibri" pitchFamily="34" charset="0"/>
                <a:ea typeface="Calibri" pitchFamily="34" charset="-122"/>
                <a:cs typeface="Calibri" pitchFamily="34" charset="-120"/>
              </a:rPr>
              <a:t>Lacan reinterpreted Freud through linguistics, philosophy, and structuralism. He did not propose a conventional ethical theory — but his work gives us tools for understanding the psychological foundations of ethical behavior itself.</a:t>
            </a:r>
            <a:endParaRPr lang="en-US" sz="1350" dirty="0"/>
          </a:p>
        </p:txBody>
      </p:sp>
      <p:sp>
        <p:nvSpPr>
          <p:cNvPr id="10" name="Text 7"/>
          <p:cNvSpPr/>
          <p:nvPr/>
        </p:nvSpPr>
        <p:spPr>
          <a:xfrm>
            <a:off x="1005840" y="4709160"/>
            <a:ext cx="4480560" cy="1051560"/>
          </a:xfrm>
          <a:prstGeom prst="rect">
            <a:avLst/>
          </a:prstGeom>
          <a:noFill/>
          <a:ln/>
        </p:spPr>
        <p:txBody>
          <a:bodyPr wrap="square" rtlCol="0" anchor="ctr"/>
          <a:lstStyle/>
          <a:p>
            <a:pPr indent="0" marL="0">
              <a:lnSpc>
                <a:spcPct val="130000"/>
              </a:lnSpc>
              <a:buNone/>
            </a:pPr>
            <a:r>
              <a:rPr lang="en-US" sz="1300" i="1" dirty="0">
                <a:solidFill>
                  <a:srgbClr val="C9A227"/>
                </a:solidFill>
                <a:latin typeface="Calibri" pitchFamily="34" charset="0"/>
                <a:ea typeface="Calibri" pitchFamily="34" charset="-122"/>
                <a:cs typeface="Calibri" pitchFamily="34" charset="-120"/>
              </a:rPr>
              <a:t>His central move: look past conscious reasoning to the unconscious desire, language, and symbolic structure that shape decisions.</a:t>
            </a:r>
            <a:endParaRPr lang="en-US" sz="1300" dirty="0"/>
          </a:p>
        </p:txBody>
      </p:sp>
      <p:sp>
        <p:nvSpPr>
          <p:cNvPr id="11" name="Text 8"/>
          <p:cNvSpPr/>
          <p:nvPr/>
        </p:nvSpPr>
        <p:spPr>
          <a:xfrm>
            <a:off x="6263640" y="1783080"/>
            <a:ext cx="3657600" cy="32004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FROM → TO</a:t>
            </a:r>
            <a:endParaRPr lang="en-US" sz="1200" dirty="0"/>
          </a:p>
        </p:txBody>
      </p:sp>
      <p:sp>
        <p:nvSpPr>
          <p:cNvPr id="12" name="Shape 9"/>
          <p:cNvSpPr/>
          <p:nvPr/>
        </p:nvSpPr>
        <p:spPr>
          <a:xfrm>
            <a:off x="6263640" y="2148840"/>
            <a:ext cx="5257800" cy="1371600"/>
          </a:xfrm>
          <a:prstGeom prst="roundRect">
            <a:avLst>
              <a:gd name="adj" fmla="val 6667"/>
            </a:avLst>
          </a:prstGeom>
          <a:solidFill>
            <a:srgbClr val="F4F3F7"/>
          </a:solidFill>
          <a:ln/>
        </p:spPr>
      </p:sp>
      <p:sp>
        <p:nvSpPr>
          <p:cNvPr id="13" name="Text 10"/>
          <p:cNvSpPr/>
          <p:nvPr/>
        </p:nvSpPr>
        <p:spPr>
          <a:xfrm>
            <a:off x="6537960" y="2331720"/>
            <a:ext cx="4754880" cy="457200"/>
          </a:xfrm>
          <a:prstGeom prst="rect">
            <a:avLst/>
          </a:prstGeom>
          <a:noFill/>
          <a:ln/>
        </p:spPr>
        <p:txBody>
          <a:bodyPr wrap="square" rtlCol="0" anchor="ctr"/>
          <a:lstStyle/>
          <a:p>
            <a:pPr indent="0" marL="0">
              <a:buNone/>
            </a:pPr>
            <a:r>
              <a:rPr lang="en-US" sz="1600" i="1" dirty="0">
                <a:solidFill>
                  <a:srgbClr val="4A4E69"/>
                </a:solidFill>
                <a:latin typeface="Calibri" pitchFamily="34" charset="0"/>
                <a:ea typeface="Calibri" pitchFamily="34" charset="-122"/>
                <a:cs typeface="Calibri" pitchFamily="34" charset="-120"/>
              </a:rPr>
              <a:t>“What is the ethical action?”</a:t>
            </a:r>
            <a:endParaRPr lang="en-US" sz="1600" dirty="0"/>
          </a:p>
        </p:txBody>
      </p:sp>
      <p:sp>
        <p:nvSpPr>
          <p:cNvPr id="14" name="Text 11"/>
          <p:cNvSpPr/>
          <p:nvPr/>
        </p:nvSpPr>
        <p:spPr>
          <a:xfrm>
            <a:off x="6537960" y="2834640"/>
            <a:ext cx="4754880" cy="548640"/>
          </a:xfrm>
          <a:prstGeom prst="rect">
            <a:avLst/>
          </a:prstGeom>
          <a:noFill/>
          <a:ln/>
        </p:spPr>
        <p:txBody>
          <a:bodyPr wrap="square" rtlCol="0" anchor="ctr"/>
          <a:lstStyle/>
          <a:p>
            <a:pPr indent="0" marL="0">
              <a:buNone/>
            </a:pPr>
            <a:r>
              <a:rPr lang="en-US" sz="1200" dirty="0">
                <a:solidFill>
                  <a:srgbClr val="6B6B80"/>
                </a:solidFill>
                <a:latin typeface="Calibri" pitchFamily="34" charset="0"/>
                <a:ea typeface="Calibri" pitchFamily="34" charset="-122"/>
                <a:cs typeface="Calibri" pitchFamily="34" charset="-120"/>
              </a:rPr>
              <a:t>Traditional ethics — rules, principles, outcomes</a:t>
            </a:r>
            <a:endParaRPr lang="en-US" sz="1200" dirty="0"/>
          </a:p>
        </p:txBody>
      </p:sp>
      <p:sp>
        <p:nvSpPr>
          <p:cNvPr id="15" name="Shape 12"/>
          <p:cNvSpPr/>
          <p:nvPr/>
        </p:nvSpPr>
        <p:spPr>
          <a:xfrm>
            <a:off x="6263640" y="3794760"/>
            <a:ext cx="5257800" cy="1371600"/>
          </a:xfrm>
          <a:prstGeom prst="roundRect">
            <a:avLst>
              <a:gd name="adj" fmla="val 6667"/>
            </a:avLst>
          </a:prstGeom>
          <a:solidFill>
            <a:srgbClr val="FBF3DD"/>
          </a:solidFill>
          <a:ln/>
        </p:spPr>
      </p:sp>
      <p:sp>
        <p:nvSpPr>
          <p:cNvPr id="16" name="Text 13"/>
          <p:cNvSpPr/>
          <p:nvPr/>
        </p:nvSpPr>
        <p:spPr>
          <a:xfrm>
            <a:off x="6537960" y="3977640"/>
            <a:ext cx="4754880" cy="457200"/>
          </a:xfrm>
          <a:prstGeom prst="rect">
            <a:avLst/>
          </a:prstGeom>
          <a:noFill/>
          <a:ln/>
        </p:spPr>
        <p:txBody>
          <a:bodyPr wrap="square" rtlCol="0" anchor="ctr"/>
          <a:lstStyle/>
          <a:p>
            <a:pPr indent="0" marL="0">
              <a:buNone/>
            </a:pPr>
            <a:r>
              <a:rPr lang="en-US" sz="1600" b="1" i="1" dirty="0">
                <a:solidFill>
                  <a:srgbClr val="1B1B2F"/>
                </a:solidFill>
                <a:latin typeface="Calibri" pitchFamily="34" charset="0"/>
                <a:ea typeface="Calibri" pitchFamily="34" charset="-122"/>
                <a:cs typeface="Calibri" pitchFamily="34" charset="-120"/>
              </a:rPr>
              <a:t>“What unconscious desire shapes this decision?”</a:t>
            </a:r>
            <a:endParaRPr lang="en-US" sz="1600" dirty="0"/>
          </a:p>
        </p:txBody>
      </p:sp>
      <p:sp>
        <p:nvSpPr>
          <p:cNvPr id="17" name="Text 14"/>
          <p:cNvSpPr/>
          <p:nvPr/>
        </p:nvSpPr>
        <p:spPr>
          <a:xfrm>
            <a:off x="6537960" y="4480560"/>
            <a:ext cx="4754880" cy="548640"/>
          </a:xfrm>
          <a:prstGeom prst="rect">
            <a:avLst/>
          </a:prstGeom>
          <a:noFill/>
          <a:ln/>
        </p:spPr>
        <p:txBody>
          <a:bodyPr wrap="square" rtlCol="0" anchor="ctr"/>
          <a:lstStyle/>
          <a:p>
            <a:pPr indent="0" marL="0">
              <a:buNone/>
            </a:pPr>
            <a:r>
              <a:rPr lang="en-US" sz="1200" dirty="0">
                <a:solidFill>
                  <a:srgbClr val="6B6B80"/>
                </a:solidFill>
                <a:latin typeface="Calibri" pitchFamily="34" charset="0"/>
                <a:ea typeface="Calibri" pitchFamily="34" charset="-122"/>
                <a:cs typeface="Calibri" pitchFamily="34" charset="-120"/>
              </a:rPr>
              <a:t>Lacanian ethics — fantasy, symbolic structure, the Big Other</a:t>
            </a:r>
            <a:endParaRPr lang="en-US" sz="1200" dirty="0"/>
          </a:p>
        </p:txBody>
      </p:sp>
      <p:sp>
        <p:nvSpPr>
          <p:cNvPr id="18" name="Text 15"/>
          <p:cNvSpPr/>
          <p:nvPr/>
        </p:nvSpPr>
        <p:spPr>
          <a:xfrm>
            <a:off x="6263640" y="5349240"/>
            <a:ext cx="5257800" cy="640080"/>
          </a:xfrm>
          <a:prstGeom prst="rect">
            <a:avLst/>
          </a:prstGeom>
          <a:noFill/>
          <a:ln/>
        </p:spPr>
        <p:txBody>
          <a:bodyPr wrap="square" rtlCol="0" anchor="ctr"/>
          <a:lstStyle/>
          <a:p>
            <a:pPr indent="0" marL="0">
              <a:lnSpc>
                <a:spcPct val="125000"/>
              </a:lnSpc>
              <a:buNone/>
            </a:pPr>
            <a:r>
              <a:rPr lang="en-US" sz="1250" i="1" dirty="0">
                <a:solidFill>
                  <a:srgbClr val="6B6B80"/>
                </a:solidFill>
                <a:latin typeface="Calibri" pitchFamily="34" charset="0"/>
                <a:ea typeface="Calibri" pitchFamily="34" charset="-122"/>
                <a:cs typeface="Calibri" pitchFamily="34" charset="-120"/>
              </a:rPr>
              <a:t>Together, the two perspectives explain not just what organizations ought to do, but why they struggle to do it.</a:t>
            </a:r>
            <a:endParaRPr lang="en-US" sz="1250" dirty="0"/>
          </a:p>
        </p:txBody>
      </p:sp>
      <p:sp>
        <p:nvSpPr>
          <p:cNvPr id="19" name="Text 16"/>
          <p:cNvSpPr/>
          <p:nvPr/>
        </p:nvSpPr>
        <p:spPr>
          <a:xfrm>
            <a:off x="11000232" y="6400800"/>
            <a:ext cx="914400" cy="320040"/>
          </a:xfrm>
          <a:prstGeom prst="rect">
            <a:avLst/>
          </a:prstGeom>
          <a:noFill/>
          <a:ln/>
        </p:spPr>
        <p:txBody>
          <a:bodyPr wrap="square" rtlCol="0" anchor="ctr"/>
          <a:lstStyle/>
          <a:p>
            <a:pPr algn="r" indent="0" marL="0">
              <a:buNone/>
            </a:pPr>
            <a:r>
              <a:rPr lang="en-US" sz="1000" dirty="0">
                <a:solidFill>
                  <a:srgbClr val="6B6B80"/>
                </a:solidFill>
                <a:latin typeface="Calibri" pitchFamily="34" charset="0"/>
                <a:ea typeface="Calibri" pitchFamily="34" charset="-122"/>
                <a:cs typeface="Calibri" pitchFamily="34" charset="-120"/>
              </a:rPr>
              <a:t>05 / 14</a:t>
            </a:r>
            <a:endParaRPr lang="en-US" sz="1000" dirty="0"/>
          </a:p>
        </p:txBody>
      </p:sp>
      <p:sp>
        <p:nvSpPr>
          <p:cNvPr id="20" name="Text 17"/>
          <p:cNvSpPr/>
          <p:nvPr/>
        </p:nvSpPr>
        <p:spPr>
          <a:xfrm>
            <a:off x="548640" y="6400800"/>
            <a:ext cx="5486400" cy="320040"/>
          </a:xfrm>
          <a:prstGeom prst="rect">
            <a:avLst/>
          </a:prstGeom>
          <a:noFill/>
          <a:ln/>
        </p:spPr>
        <p:txBody>
          <a:bodyPr wrap="square" rtlCol="0" anchor="ctr"/>
          <a:lstStyle/>
          <a:p>
            <a:pPr indent="0" marL="0">
              <a:buNone/>
            </a:pPr>
            <a:r>
              <a:rPr lang="en-US" sz="1000" spc="100" kern="0" dirty="0">
                <a:solidFill>
                  <a:srgbClr val="6B6B80"/>
                </a:solidFill>
                <a:latin typeface="Calibri" pitchFamily="34" charset="0"/>
                <a:ea typeface="Calibri" pitchFamily="34" charset="-122"/>
                <a:cs typeface="Calibri" pitchFamily="34" charset="-120"/>
              </a:rPr>
              <a:t>LACANIAN ETHICS IN THE DIGITAL AGE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MODULE 3 · KEY CONCEPTS (1 OF 2)</a:t>
            </a:r>
            <a:endParaRPr lang="en-US" sz="1300" dirty="0"/>
          </a:p>
        </p:txBody>
      </p:sp>
      <p:sp>
        <p:nvSpPr>
          <p:cNvPr id="3" name="Text 1"/>
          <p:cNvSpPr/>
          <p:nvPr/>
        </p:nvSpPr>
        <p:spPr>
          <a:xfrm>
            <a:off x="640080" y="822960"/>
            <a:ext cx="9144000" cy="685800"/>
          </a:xfrm>
          <a:prstGeom prst="rect">
            <a:avLst/>
          </a:prstGeom>
          <a:noFill/>
          <a:ln/>
        </p:spPr>
        <p:txBody>
          <a:bodyPr wrap="square" rtlCol="0" anchor="ctr"/>
          <a:lstStyle/>
          <a:p>
            <a:pPr indent="0" marL="0">
              <a:buNone/>
            </a:pPr>
            <a:r>
              <a:rPr lang="en-US" sz="2800" b="1" dirty="0">
                <a:solidFill>
                  <a:srgbClr val="1B1B2F"/>
                </a:solidFill>
                <a:latin typeface="Cambria" pitchFamily="34" charset="0"/>
                <a:ea typeface="Cambria" pitchFamily="34" charset="-122"/>
                <a:cs typeface="Cambria" pitchFamily="34" charset="-120"/>
              </a:rPr>
              <a:t>The Registers of Experience</a:t>
            </a:r>
            <a:endParaRPr lang="en-US" sz="2800" dirty="0"/>
          </a:p>
        </p:txBody>
      </p:sp>
      <p:sp>
        <p:nvSpPr>
          <p:cNvPr id="4" name="Shape 2"/>
          <p:cNvSpPr/>
          <p:nvPr/>
        </p:nvSpPr>
        <p:spPr>
          <a:xfrm>
            <a:off x="640080" y="1828800"/>
            <a:ext cx="5349240" cy="1965960"/>
          </a:xfrm>
          <a:prstGeom prst="roundRect">
            <a:avLst>
              <a:gd name="adj" fmla="val 5581"/>
            </a:avLst>
          </a:prstGeom>
          <a:solidFill>
            <a:srgbClr val="F4F3F7"/>
          </a:solidFill>
          <a:ln/>
          <a:effectLst>
            <a:outerShdw sx="100000" sy="100000" kx="0" ky="0" algn="bl" rotWithShape="0" blurRad="101600" dist="38100" dir="2700000">
              <a:srgbClr val="000000">
                <a:alpha val="14000"/>
              </a:srgbClr>
            </a:outerShdw>
          </a:effectLst>
        </p:spPr>
      </p:sp>
      <p:sp>
        <p:nvSpPr>
          <p:cNvPr id="5" name="Shape 3"/>
          <p:cNvSpPr/>
          <p:nvPr/>
        </p:nvSpPr>
        <p:spPr>
          <a:xfrm>
            <a:off x="914400" y="2103120"/>
            <a:ext cx="566928" cy="566928"/>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988101" y="2176821"/>
            <a:ext cx="419527" cy="419527"/>
          </a:xfrm>
          <a:prstGeom prst="rect">
            <a:avLst/>
          </a:prstGeom>
        </p:spPr>
      </p:pic>
      <p:sp>
        <p:nvSpPr>
          <p:cNvPr id="7" name="Text 4"/>
          <p:cNvSpPr/>
          <p:nvPr/>
        </p:nvSpPr>
        <p:spPr>
          <a:xfrm>
            <a:off x="1645920" y="2121408"/>
            <a:ext cx="4069080" cy="411480"/>
          </a:xfrm>
          <a:prstGeom prst="rect">
            <a:avLst/>
          </a:prstGeom>
          <a:noFill/>
          <a:ln/>
        </p:spPr>
        <p:txBody>
          <a:bodyPr wrap="square" rtlCol="0" anchor="ctr"/>
          <a:lstStyle/>
          <a:p>
            <a:pPr indent="0" marL="0">
              <a:buNone/>
            </a:pPr>
            <a:r>
              <a:rPr lang="en-US" sz="1700" b="1" dirty="0">
                <a:solidFill>
                  <a:srgbClr val="1B1B2F"/>
                </a:solidFill>
                <a:latin typeface="Cambria" pitchFamily="34" charset="0"/>
                <a:ea typeface="Cambria" pitchFamily="34" charset="-122"/>
                <a:cs typeface="Cambria" pitchFamily="34" charset="-120"/>
              </a:rPr>
              <a:t>Mirror Stage</a:t>
            </a:r>
            <a:endParaRPr lang="en-US" sz="1700" dirty="0"/>
          </a:p>
        </p:txBody>
      </p:sp>
      <p:sp>
        <p:nvSpPr>
          <p:cNvPr id="8" name="Text 5"/>
          <p:cNvSpPr/>
          <p:nvPr/>
        </p:nvSpPr>
        <p:spPr>
          <a:xfrm>
            <a:off x="914400" y="2852928"/>
            <a:ext cx="4800600" cy="868680"/>
          </a:xfrm>
          <a:prstGeom prst="rect">
            <a:avLst/>
          </a:prstGeom>
          <a:noFill/>
          <a:ln/>
        </p:spPr>
        <p:txBody>
          <a:bodyPr wrap="square" rtlCol="0" anchor="ctr"/>
          <a:lstStyle/>
          <a:p>
            <a:pPr indent="0" marL="0">
              <a:lnSpc>
                <a:spcPct val="125000"/>
              </a:lnSpc>
              <a:buNone/>
            </a:pPr>
            <a:r>
              <a:rPr lang="en-US" sz="1250" dirty="0">
                <a:solidFill>
                  <a:srgbClr val="6B6B80"/>
                </a:solidFill>
                <a:latin typeface="Calibri" pitchFamily="34" charset="0"/>
                <a:ea typeface="Calibri" pitchFamily="34" charset="-122"/>
                <a:cs typeface="Calibri" pitchFamily="34" charset="-120"/>
              </a:rPr>
              <a:t>Identity forms through identification with external images — we build ourselves through social recognition.</a:t>
            </a:r>
            <a:endParaRPr lang="en-US" sz="1250" dirty="0"/>
          </a:p>
        </p:txBody>
      </p:sp>
      <p:sp>
        <p:nvSpPr>
          <p:cNvPr id="9" name="Shape 6"/>
          <p:cNvSpPr/>
          <p:nvPr/>
        </p:nvSpPr>
        <p:spPr>
          <a:xfrm>
            <a:off x="6263640" y="1828800"/>
            <a:ext cx="5349240" cy="1965960"/>
          </a:xfrm>
          <a:prstGeom prst="roundRect">
            <a:avLst>
              <a:gd name="adj" fmla="val 5581"/>
            </a:avLst>
          </a:prstGeom>
          <a:solidFill>
            <a:srgbClr val="F4F3F7"/>
          </a:solidFill>
          <a:ln/>
          <a:effectLst>
            <a:outerShdw sx="100000" sy="100000" kx="0" ky="0" algn="bl" rotWithShape="0" blurRad="101600" dist="38100" dir="2700000">
              <a:srgbClr val="000000">
                <a:alpha val="14000"/>
              </a:srgbClr>
            </a:outerShdw>
          </a:effectLst>
        </p:spPr>
      </p:sp>
      <p:sp>
        <p:nvSpPr>
          <p:cNvPr id="10" name="Shape 7"/>
          <p:cNvSpPr/>
          <p:nvPr/>
        </p:nvSpPr>
        <p:spPr>
          <a:xfrm>
            <a:off x="6537960" y="2103120"/>
            <a:ext cx="566928" cy="566928"/>
          </a:xfrm>
          <a:prstGeom prst="ellipse">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6611661" y="2176821"/>
            <a:ext cx="419527" cy="419527"/>
          </a:xfrm>
          <a:prstGeom prst="rect">
            <a:avLst/>
          </a:prstGeom>
        </p:spPr>
      </p:pic>
      <p:sp>
        <p:nvSpPr>
          <p:cNvPr id="12" name="Text 8"/>
          <p:cNvSpPr/>
          <p:nvPr/>
        </p:nvSpPr>
        <p:spPr>
          <a:xfrm>
            <a:off x="7269480" y="2121408"/>
            <a:ext cx="4069080" cy="411480"/>
          </a:xfrm>
          <a:prstGeom prst="rect">
            <a:avLst/>
          </a:prstGeom>
          <a:noFill/>
          <a:ln/>
        </p:spPr>
        <p:txBody>
          <a:bodyPr wrap="square" rtlCol="0" anchor="ctr"/>
          <a:lstStyle/>
          <a:p>
            <a:pPr indent="0" marL="0">
              <a:buNone/>
            </a:pPr>
            <a:r>
              <a:rPr lang="en-US" sz="1700" b="1" dirty="0">
                <a:solidFill>
                  <a:srgbClr val="1B1B2F"/>
                </a:solidFill>
                <a:latin typeface="Cambria" pitchFamily="34" charset="0"/>
                <a:ea typeface="Cambria" pitchFamily="34" charset="-122"/>
                <a:cs typeface="Cambria" pitchFamily="34" charset="-120"/>
              </a:rPr>
              <a:t>The Imaginary</a:t>
            </a:r>
            <a:endParaRPr lang="en-US" sz="1700" dirty="0"/>
          </a:p>
        </p:txBody>
      </p:sp>
      <p:sp>
        <p:nvSpPr>
          <p:cNvPr id="13" name="Text 9"/>
          <p:cNvSpPr/>
          <p:nvPr/>
        </p:nvSpPr>
        <p:spPr>
          <a:xfrm>
            <a:off x="6537960" y="2852928"/>
            <a:ext cx="4800600" cy="868680"/>
          </a:xfrm>
          <a:prstGeom prst="rect">
            <a:avLst/>
          </a:prstGeom>
          <a:noFill/>
          <a:ln/>
        </p:spPr>
        <p:txBody>
          <a:bodyPr wrap="square" rtlCol="0" anchor="ctr"/>
          <a:lstStyle/>
          <a:p>
            <a:pPr indent="0" marL="0">
              <a:lnSpc>
                <a:spcPct val="125000"/>
              </a:lnSpc>
              <a:buNone/>
            </a:pPr>
            <a:r>
              <a:rPr lang="en-US" sz="1250" dirty="0">
                <a:solidFill>
                  <a:srgbClr val="6B6B80"/>
                </a:solidFill>
                <a:latin typeface="Calibri" pitchFamily="34" charset="0"/>
                <a:ea typeface="Calibri" pitchFamily="34" charset="-122"/>
                <a:cs typeface="Calibri" pitchFamily="34" charset="-120"/>
              </a:rPr>
              <a:t>The realm of images, self-perception, and personal identity.</a:t>
            </a:r>
            <a:endParaRPr lang="en-US" sz="1250" dirty="0"/>
          </a:p>
        </p:txBody>
      </p:sp>
      <p:sp>
        <p:nvSpPr>
          <p:cNvPr id="14" name="Shape 10"/>
          <p:cNvSpPr/>
          <p:nvPr/>
        </p:nvSpPr>
        <p:spPr>
          <a:xfrm>
            <a:off x="640080" y="4069080"/>
            <a:ext cx="5349240" cy="1965960"/>
          </a:xfrm>
          <a:prstGeom prst="roundRect">
            <a:avLst>
              <a:gd name="adj" fmla="val 5581"/>
            </a:avLst>
          </a:prstGeom>
          <a:solidFill>
            <a:srgbClr val="F4F3F7"/>
          </a:solidFill>
          <a:ln/>
          <a:effectLst>
            <a:outerShdw sx="100000" sy="100000" kx="0" ky="0" algn="bl" rotWithShape="0" blurRad="101600" dist="38100" dir="2700000">
              <a:srgbClr val="000000">
                <a:alpha val="14000"/>
              </a:srgbClr>
            </a:outerShdw>
          </a:effectLst>
        </p:spPr>
      </p:sp>
      <p:sp>
        <p:nvSpPr>
          <p:cNvPr id="15" name="Shape 11"/>
          <p:cNvSpPr/>
          <p:nvPr/>
        </p:nvSpPr>
        <p:spPr>
          <a:xfrm>
            <a:off x="914400" y="4343400"/>
            <a:ext cx="566928" cy="566928"/>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988101" y="4417101"/>
            <a:ext cx="419527" cy="419527"/>
          </a:xfrm>
          <a:prstGeom prst="rect">
            <a:avLst/>
          </a:prstGeom>
        </p:spPr>
      </p:pic>
      <p:sp>
        <p:nvSpPr>
          <p:cNvPr id="17" name="Text 12"/>
          <p:cNvSpPr/>
          <p:nvPr/>
        </p:nvSpPr>
        <p:spPr>
          <a:xfrm>
            <a:off x="1645920" y="4361688"/>
            <a:ext cx="4069080" cy="411480"/>
          </a:xfrm>
          <a:prstGeom prst="rect">
            <a:avLst/>
          </a:prstGeom>
          <a:noFill/>
          <a:ln/>
        </p:spPr>
        <p:txBody>
          <a:bodyPr wrap="square" rtlCol="0" anchor="ctr"/>
          <a:lstStyle/>
          <a:p>
            <a:pPr indent="0" marL="0">
              <a:buNone/>
            </a:pPr>
            <a:r>
              <a:rPr lang="en-US" sz="1700" b="1" dirty="0">
                <a:solidFill>
                  <a:srgbClr val="1B1B2F"/>
                </a:solidFill>
                <a:latin typeface="Cambria" pitchFamily="34" charset="0"/>
                <a:ea typeface="Cambria" pitchFamily="34" charset="-122"/>
                <a:cs typeface="Cambria" pitchFamily="34" charset="-120"/>
              </a:rPr>
              <a:t>The Symbolic</a:t>
            </a:r>
            <a:endParaRPr lang="en-US" sz="1700" dirty="0"/>
          </a:p>
        </p:txBody>
      </p:sp>
      <p:sp>
        <p:nvSpPr>
          <p:cNvPr id="18" name="Text 13"/>
          <p:cNvSpPr/>
          <p:nvPr/>
        </p:nvSpPr>
        <p:spPr>
          <a:xfrm>
            <a:off x="914400" y="5093208"/>
            <a:ext cx="4800600" cy="868680"/>
          </a:xfrm>
          <a:prstGeom prst="rect">
            <a:avLst/>
          </a:prstGeom>
          <a:noFill/>
          <a:ln/>
        </p:spPr>
        <p:txBody>
          <a:bodyPr wrap="square" rtlCol="0" anchor="ctr"/>
          <a:lstStyle/>
          <a:p>
            <a:pPr indent="0" marL="0">
              <a:lnSpc>
                <a:spcPct val="125000"/>
              </a:lnSpc>
              <a:buNone/>
            </a:pPr>
            <a:r>
              <a:rPr lang="en-US" sz="1250" dirty="0">
                <a:solidFill>
                  <a:srgbClr val="6B6B80"/>
                </a:solidFill>
                <a:latin typeface="Calibri" pitchFamily="34" charset="0"/>
                <a:ea typeface="Calibri" pitchFamily="34" charset="-122"/>
                <a:cs typeface="Calibri" pitchFamily="34" charset="-120"/>
              </a:rPr>
              <a:t>The domain of language, culture, law, organizational rules, and institutional expectation.</a:t>
            </a:r>
            <a:endParaRPr lang="en-US" sz="1250" dirty="0"/>
          </a:p>
        </p:txBody>
      </p:sp>
      <p:sp>
        <p:nvSpPr>
          <p:cNvPr id="19" name="Shape 14"/>
          <p:cNvSpPr/>
          <p:nvPr/>
        </p:nvSpPr>
        <p:spPr>
          <a:xfrm>
            <a:off x="6263640" y="4069080"/>
            <a:ext cx="5349240" cy="1965960"/>
          </a:xfrm>
          <a:prstGeom prst="roundRect">
            <a:avLst>
              <a:gd name="adj" fmla="val 5581"/>
            </a:avLst>
          </a:prstGeom>
          <a:solidFill>
            <a:srgbClr val="F4F3F7"/>
          </a:solidFill>
          <a:ln/>
          <a:effectLst>
            <a:outerShdw sx="100000" sy="100000" kx="0" ky="0" algn="bl" rotWithShape="0" blurRad="101600" dist="38100" dir="2700000">
              <a:srgbClr val="000000">
                <a:alpha val="14000"/>
              </a:srgbClr>
            </a:outerShdw>
          </a:effectLst>
        </p:spPr>
      </p:sp>
      <p:sp>
        <p:nvSpPr>
          <p:cNvPr id="20" name="Shape 15"/>
          <p:cNvSpPr/>
          <p:nvPr/>
        </p:nvSpPr>
        <p:spPr>
          <a:xfrm>
            <a:off x="6537960" y="4343400"/>
            <a:ext cx="566928" cy="566928"/>
          </a:xfrm>
          <a:prstGeom prst="ellipse">
            <a:avLst/>
          </a:prstGeom>
          <a:solidFill>
            <a:srgbClr val="FFFFFF"/>
          </a:solidFill>
          <a:ln/>
        </p:spPr>
      </p:sp>
      <p:pic>
        <p:nvPicPr>
          <p:cNvPr id="21" name="Image 3" descr="preencoded.png">    </p:cNvPr>
          <p:cNvPicPr>
            <a:picLocks noChangeAspect="1"/>
          </p:cNvPicPr>
          <p:nvPr/>
        </p:nvPicPr>
        <p:blipFill>
          <a:blip r:embed="rId4"/>
          <a:stretch>
            <a:fillRect/>
          </a:stretch>
        </p:blipFill>
        <p:spPr>
          <a:xfrm>
            <a:off x="6611661" y="4417101"/>
            <a:ext cx="419527" cy="419527"/>
          </a:xfrm>
          <a:prstGeom prst="rect">
            <a:avLst/>
          </a:prstGeom>
        </p:spPr>
      </p:pic>
      <p:sp>
        <p:nvSpPr>
          <p:cNvPr id="22" name="Text 16"/>
          <p:cNvSpPr/>
          <p:nvPr/>
        </p:nvSpPr>
        <p:spPr>
          <a:xfrm>
            <a:off x="7269480" y="4361688"/>
            <a:ext cx="4069080" cy="411480"/>
          </a:xfrm>
          <a:prstGeom prst="rect">
            <a:avLst/>
          </a:prstGeom>
          <a:noFill/>
          <a:ln/>
        </p:spPr>
        <p:txBody>
          <a:bodyPr wrap="square" rtlCol="0" anchor="ctr"/>
          <a:lstStyle/>
          <a:p>
            <a:pPr indent="0" marL="0">
              <a:buNone/>
            </a:pPr>
            <a:r>
              <a:rPr lang="en-US" sz="1700" b="1" dirty="0">
                <a:solidFill>
                  <a:srgbClr val="1B1B2F"/>
                </a:solidFill>
                <a:latin typeface="Cambria" pitchFamily="34" charset="0"/>
                <a:ea typeface="Cambria" pitchFamily="34" charset="-122"/>
                <a:cs typeface="Cambria" pitchFamily="34" charset="-120"/>
              </a:rPr>
              <a:t>The Real</a:t>
            </a:r>
            <a:endParaRPr lang="en-US" sz="1700" dirty="0"/>
          </a:p>
        </p:txBody>
      </p:sp>
      <p:sp>
        <p:nvSpPr>
          <p:cNvPr id="23" name="Text 17"/>
          <p:cNvSpPr/>
          <p:nvPr/>
        </p:nvSpPr>
        <p:spPr>
          <a:xfrm>
            <a:off x="6537960" y="5093208"/>
            <a:ext cx="4800600" cy="868680"/>
          </a:xfrm>
          <a:prstGeom prst="rect">
            <a:avLst/>
          </a:prstGeom>
          <a:noFill/>
          <a:ln/>
        </p:spPr>
        <p:txBody>
          <a:bodyPr wrap="square" rtlCol="0" anchor="ctr"/>
          <a:lstStyle/>
          <a:p>
            <a:pPr indent="0" marL="0">
              <a:lnSpc>
                <a:spcPct val="125000"/>
              </a:lnSpc>
              <a:buNone/>
            </a:pPr>
            <a:r>
              <a:rPr lang="en-US" sz="1250" dirty="0">
                <a:solidFill>
                  <a:srgbClr val="6B6B80"/>
                </a:solidFill>
                <a:latin typeface="Calibri" pitchFamily="34" charset="0"/>
                <a:ea typeface="Calibri" pitchFamily="34" charset="-122"/>
                <a:cs typeface="Calibri" pitchFamily="34" charset="-120"/>
              </a:rPr>
              <a:t>What resists explanation — the uncertainty, crisis, or trauma that symbols can't fully contain.</a:t>
            </a:r>
            <a:endParaRPr lang="en-US" sz="1250" dirty="0"/>
          </a:p>
        </p:txBody>
      </p:sp>
      <p:sp>
        <p:nvSpPr>
          <p:cNvPr id="24" name="Text 18"/>
          <p:cNvSpPr/>
          <p:nvPr/>
        </p:nvSpPr>
        <p:spPr>
          <a:xfrm>
            <a:off x="11000232" y="6400800"/>
            <a:ext cx="914400" cy="320040"/>
          </a:xfrm>
          <a:prstGeom prst="rect">
            <a:avLst/>
          </a:prstGeom>
          <a:noFill/>
          <a:ln/>
        </p:spPr>
        <p:txBody>
          <a:bodyPr wrap="square" rtlCol="0" anchor="ctr"/>
          <a:lstStyle/>
          <a:p>
            <a:pPr algn="r" indent="0" marL="0">
              <a:buNone/>
            </a:pPr>
            <a:r>
              <a:rPr lang="en-US" sz="1000" dirty="0">
                <a:solidFill>
                  <a:srgbClr val="6B6B80"/>
                </a:solidFill>
                <a:latin typeface="Calibri" pitchFamily="34" charset="0"/>
                <a:ea typeface="Calibri" pitchFamily="34" charset="-122"/>
                <a:cs typeface="Calibri" pitchFamily="34" charset="-120"/>
              </a:rPr>
              <a:t>06 / 14</a:t>
            </a:r>
            <a:endParaRPr lang="en-US" sz="1000" dirty="0"/>
          </a:p>
        </p:txBody>
      </p:sp>
      <p:sp>
        <p:nvSpPr>
          <p:cNvPr id="25" name="Text 19"/>
          <p:cNvSpPr/>
          <p:nvPr/>
        </p:nvSpPr>
        <p:spPr>
          <a:xfrm>
            <a:off x="548640" y="6400800"/>
            <a:ext cx="5486400" cy="320040"/>
          </a:xfrm>
          <a:prstGeom prst="rect">
            <a:avLst/>
          </a:prstGeom>
          <a:noFill/>
          <a:ln/>
        </p:spPr>
        <p:txBody>
          <a:bodyPr wrap="square" rtlCol="0" anchor="ctr"/>
          <a:lstStyle/>
          <a:p>
            <a:pPr indent="0" marL="0">
              <a:buNone/>
            </a:pPr>
            <a:r>
              <a:rPr lang="en-US" sz="1000" spc="100" kern="0" dirty="0">
                <a:solidFill>
                  <a:srgbClr val="6B6B80"/>
                </a:solidFill>
                <a:latin typeface="Calibri" pitchFamily="34" charset="0"/>
                <a:ea typeface="Calibri" pitchFamily="34" charset="-122"/>
                <a:cs typeface="Calibri" pitchFamily="34" charset="-120"/>
              </a:rPr>
              <a:t>LACANIAN ETHICS IN THE DIGITAL AGE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1B2F"/>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MODULE 3 · KEY CONCEPTS (2 OF 2)</a:t>
            </a:r>
            <a:endParaRPr lang="en-US" sz="1300" dirty="0"/>
          </a:p>
        </p:txBody>
      </p:sp>
      <p:sp>
        <p:nvSpPr>
          <p:cNvPr id="3" name="Text 1"/>
          <p:cNvSpPr/>
          <p:nvPr/>
        </p:nvSpPr>
        <p:spPr>
          <a:xfrm>
            <a:off x="640080" y="822960"/>
            <a:ext cx="9144000" cy="68580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The Drives Behind Decisions</a:t>
            </a:r>
            <a:endParaRPr lang="en-US" sz="2800" dirty="0"/>
          </a:p>
        </p:txBody>
      </p:sp>
      <p:sp>
        <p:nvSpPr>
          <p:cNvPr id="4" name="Shape 2"/>
          <p:cNvSpPr/>
          <p:nvPr/>
        </p:nvSpPr>
        <p:spPr>
          <a:xfrm>
            <a:off x="640080" y="1828800"/>
            <a:ext cx="5349240" cy="1965960"/>
          </a:xfrm>
          <a:prstGeom prst="roundRect">
            <a:avLst>
              <a:gd name="adj" fmla="val 5581"/>
            </a:avLst>
          </a:prstGeom>
          <a:solidFill>
            <a:srgbClr val="26264A"/>
          </a:solidFill>
          <a:ln/>
        </p:spPr>
      </p:sp>
      <p:sp>
        <p:nvSpPr>
          <p:cNvPr id="5" name="Shape 3"/>
          <p:cNvSpPr/>
          <p:nvPr/>
        </p:nvSpPr>
        <p:spPr>
          <a:xfrm>
            <a:off x="914400" y="2103120"/>
            <a:ext cx="566928" cy="566928"/>
          </a:xfrm>
          <a:prstGeom prst="ellipse">
            <a:avLst/>
          </a:prstGeom>
          <a:solidFill>
            <a:srgbClr val="2F2F57"/>
          </a:solidFill>
          <a:ln/>
        </p:spPr>
      </p:sp>
      <p:pic>
        <p:nvPicPr>
          <p:cNvPr id="6" name="Image 0" descr="preencoded.png">    </p:cNvPr>
          <p:cNvPicPr>
            <a:picLocks noChangeAspect="1"/>
          </p:cNvPicPr>
          <p:nvPr/>
        </p:nvPicPr>
        <p:blipFill>
          <a:blip r:embed="rId1"/>
          <a:stretch>
            <a:fillRect/>
          </a:stretch>
        </p:blipFill>
        <p:spPr>
          <a:xfrm>
            <a:off x="988101" y="2176821"/>
            <a:ext cx="419527" cy="419527"/>
          </a:xfrm>
          <a:prstGeom prst="rect">
            <a:avLst/>
          </a:prstGeom>
        </p:spPr>
      </p:pic>
      <p:sp>
        <p:nvSpPr>
          <p:cNvPr id="7" name="Text 4"/>
          <p:cNvSpPr/>
          <p:nvPr/>
        </p:nvSpPr>
        <p:spPr>
          <a:xfrm>
            <a:off x="1645920" y="2121408"/>
            <a:ext cx="4069080" cy="411480"/>
          </a:xfrm>
          <a:prstGeom prst="rect">
            <a:avLst/>
          </a:prstGeom>
          <a:noFill/>
          <a:ln/>
        </p:spPr>
        <p:txBody>
          <a:bodyPr wrap="square" rtlCol="0" anchor="ctr"/>
          <a:lstStyle/>
          <a:p>
            <a:pPr indent="0" marL="0">
              <a:buNone/>
            </a:pPr>
            <a:r>
              <a:rPr lang="en-US" sz="1700" b="1" dirty="0">
                <a:solidFill>
                  <a:srgbClr val="C9A227"/>
                </a:solidFill>
                <a:latin typeface="Cambria" pitchFamily="34" charset="0"/>
                <a:ea typeface="Cambria" pitchFamily="34" charset="-122"/>
                <a:cs typeface="Cambria" pitchFamily="34" charset="-120"/>
              </a:rPr>
              <a:t>Desire</a:t>
            </a:r>
            <a:endParaRPr lang="en-US" sz="1700" dirty="0"/>
          </a:p>
        </p:txBody>
      </p:sp>
      <p:sp>
        <p:nvSpPr>
          <p:cNvPr id="8" name="Text 5"/>
          <p:cNvSpPr/>
          <p:nvPr/>
        </p:nvSpPr>
        <p:spPr>
          <a:xfrm>
            <a:off x="914400" y="2852928"/>
            <a:ext cx="4800600" cy="868680"/>
          </a:xfrm>
          <a:prstGeom prst="rect">
            <a:avLst/>
          </a:prstGeom>
          <a:noFill/>
          <a:ln/>
        </p:spPr>
        <p:txBody>
          <a:bodyPr wrap="square" rtlCol="0" anchor="ctr"/>
          <a:lstStyle/>
          <a:p>
            <a:pPr indent="0" marL="0">
              <a:lnSpc>
                <a:spcPct val="125000"/>
              </a:lnSpc>
              <a:buNone/>
            </a:pPr>
            <a:r>
              <a:rPr lang="en-US" sz="1250" dirty="0">
                <a:solidFill>
                  <a:srgbClr val="E8E6F0"/>
                </a:solidFill>
                <a:latin typeface="Calibri" pitchFamily="34" charset="0"/>
                <a:ea typeface="Calibri" pitchFamily="34" charset="-122"/>
                <a:cs typeface="Calibri" pitchFamily="34" charset="-120"/>
              </a:rPr>
              <a:t>Human desire is never fully satisfied — we continually pursue recognition, achievement, and meaning.</a:t>
            </a:r>
            <a:endParaRPr lang="en-US" sz="1250" dirty="0"/>
          </a:p>
        </p:txBody>
      </p:sp>
      <p:sp>
        <p:nvSpPr>
          <p:cNvPr id="9" name="Shape 6"/>
          <p:cNvSpPr/>
          <p:nvPr/>
        </p:nvSpPr>
        <p:spPr>
          <a:xfrm>
            <a:off x="6263640" y="1828800"/>
            <a:ext cx="5349240" cy="1965960"/>
          </a:xfrm>
          <a:prstGeom prst="roundRect">
            <a:avLst>
              <a:gd name="adj" fmla="val 5581"/>
            </a:avLst>
          </a:prstGeom>
          <a:solidFill>
            <a:srgbClr val="26264A"/>
          </a:solidFill>
          <a:ln/>
        </p:spPr>
      </p:sp>
      <p:sp>
        <p:nvSpPr>
          <p:cNvPr id="10" name="Shape 7"/>
          <p:cNvSpPr/>
          <p:nvPr/>
        </p:nvSpPr>
        <p:spPr>
          <a:xfrm>
            <a:off x="6537960" y="2103120"/>
            <a:ext cx="566928" cy="566928"/>
          </a:xfrm>
          <a:prstGeom prst="ellipse">
            <a:avLst/>
          </a:prstGeom>
          <a:solidFill>
            <a:srgbClr val="2F2F57"/>
          </a:solidFill>
          <a:ln/>
        </p:spPr>
      </p:sp>
      <p:pic>
        <p:nvPicPr>
          <p:cNvPr id="11" name="Image 1" descr="preencoded.png">    </p:cNvPr>
          <p:cNvPicPr>
            <a:picLocks noChangeAspect="1"/>
          </p:cNvPicPr>
          <p:nvPr/>
        </p:nvPicPr>
        <p:blipFill>
          <a:blip r:embed="rId2"/>
          <a:stretch>
            <a:fillRect/>
          </a:stretch>
        </p:blipFill>
        <p:spPr>
          <a:xfrm>
            <a:off x="6611661" y="2176821"/>
            <a:ext cx="419527" cy="419527"/>
          </a:xfrm>
          <a:prstGeom prst="rect">
            <a:avLst/>
          </a:prstGeom>
        </p:spPr>
      </p:pic>
      <p:sp>
        <p:nvSpPr>
          <p:cNvPr id="12" name="Text 8"/>
          <p:cNvSpPr/>
          <p:nvPr/>
        </p:nvSpPr>
        <p:spPr>
          <a:xfrm>
            <a:off x="7269480" y="2121408"/>
            <a:ext cx="4069080" cy="411480"/>
          </a:xfrm>
          <a:prstGeom prst="rect">
            <a:avLst/>
          </a:prstGeom>
          <a:noFill/>
          <a:ln/>
        </p:spPr>
        <p:txBody>
          <a:bodyPr wrap="square" rtlCol="0" anchor="ctr"/>
          <a:lstStyle/>
          <a:p>
            <a:pPr indent="0" marL="0">
              <a:buNone/>
            </a:pPr>
            <a:r>
              <a:rPr lang="en-US" sz="1700" b="1" dirty="0">
                <a:solidFill>
                  <a:srgbClr val="C9A227"/>
                </a:solidFill>
                <a:latin typeface="Cambria" pitchFamily="34" charset="0"/>
                <a:ea typeface="Cambria" pitchFamily="34" charset="-122"/>
                <a:cs typeface="Cambria" pitchFamily="34" charset="-120"/>
              </a:rPr>
              <a:t>Lack</a:t>
            </a:r>
            <a:endParaRPr lang="en-US" sz="1700" dirty="0"/>
          </a:p>
        </p:txBody>
      </p:sp>
      <p:sp>
        <p:nvSpPr>
          <p:cNvPr id="13" name="Text 9"/>
          <p:cNvSpPr/>
          <p:nvPr/>
        </p:nvSpPr>
        <p:spPr>
          <a:xfrm>
            <a:off x="6537960" y="2852928"/>
            <a:ext cx="4800600" cy="868680"/>
          </a:xfrm>
          <a:prstGeom prst="rect">
            <a:avLst/>
          </a:prstGeom>
          <a:noFill/>
          <a:ln/>
        </p:spPr>
        <p:txBody>
          <a:bodyPr wrap="square" rtlCol="0" anchor="ctr"/>
          <a:lstStyle/>
          <a:p>
            <a:pPr indent="0" marL="0">
              <a:lnSpc>
                <a:spcPct val="125000"/>
              </a:lnSpc>
              <a:buNone/>
            </a:pPr>
            <a:r>
              <a:rPr lang="en-US" sz="1250" dirty="0">
                <a:solidFill>
                  <a:srgbClr val="E8E6F0"/>
                </a:solidFill>
                <a:latin typeface="Calibri" pitchFamily="34" charset="0"/>
                <a:ea typeface="Calibri" pitchFamily="34" charset="-122"/>
                <a:cs typeface="Calibri" pitchFamily="34" charset="-120"/>
              </a:rPr>
              <a:t>The perpetual sense that something is missing motivates aspiration and consumption.</a:t>
            </a:r>
            <a:endParaRPr lang="en-US" sz="1250" dirty="0"/>
          </a:p>
        </p:txBody>
      </p:sp>
      <p:sp>
        <p:nvSpPr>
          <p:cNvPr id="14" name="Shape 10"/>
          <p:cNvSpPr/>
          <p:nvPr/>
        </p:nvSpPr>
        <p:spPr>
          <a:xfrm>
            <a:off x="640080" y="4069080"/>
            <a:ext cx="5349240" cy="1965960"/>
          </a:xfrm>
          <a:prstGeom prst="roundRect">
            <a:avLst>
              <a:gd name="adj" fmla="val 5581"/>
            </a:avLst>
          </a:prstGeom>
          <a:solidFill>
            <a:srgbClr val="26264A"/>
          </a:solidFill>
          <a:ln/>
        </p:spPr>
      </p:sp>
      <p:sp>
        <p:nvSpPr>
          <p:cNvPr id="15" name="Shape 11"/>
          <p:cNvSpPr/>
          <p:nvPr/>
        </p:nvSpPr>
        <p:spPr>
          <a:xfrm>
            <a:off x="914400" y="4343400"/>
            <a:ext cx="566928" cy="566928"/>
          </a:xfrm>
          <a:prstGeom prst="ellipse">
            <a:avLst/>
          </a:prstGeom>
          <a:solidFill>
            <a:srgbClr val="2F2F57"/>
          </a:solidFill>
          <a:ln/>
        </p:spPr>
      </p:sp>
      <p:pic>
        <p:nvPicPr>
          <p:cNvPr id="16" name="Image 2" descr="preencoded.png">    </p:cNvPr>
          <p:cNvPicPr>
            <a:picLocks noChangeAspect="1"/>
          </p:cNvPicPr>
          <p:nvPr/>
        </p:nvPicPr>
        <p:blipFill>
          <a:blip r:embed="rId3"/>
          <a:stretch>
            <a:fillRect/>
          </a:stretch>
        </p:blipFill>
        <p:spPr>
          <a:xfrm>
            <a:off x="988101" y="4417101"/>
            <a:ext cx="419527" cy="419527"/>
          </a:xfrm>
          <a:prstGeom prst="rect">
            <a:avLst/>
          </a:prstGeom>
        </p:spPr>
      </p:pic>
      <p:sp>
        <p:nvSpPr>
          <p:cNvPr id="17" name="Text 12"/>
          <p:cNvSpPr/>
          <p:nvPr/>
        </p:nvSpPr>
        <p:spPr>
          <a:xfrm>
            <a:off x="1645920" y="4361688"/>
            <a:ext cx="4069080" cy="411480"/>
          </a:xfrm>
          <a:prstGeom prst="rect">
            <a:avLst/>
          </a:prstGeom>
          <a:noFill/>
          <a:ln/>
        </p:spPr>
        <p:txBody>
          <a:bodyPr wrap="square" rtlCol="0" anchor="ctr"/>
          <a:lstStyle/>
          <a:p>
            <a:pPr indent="0" marL="0">
              <a:buNone/>
            </a:pPr>
            <a:r>
              <a:rPr lang="en-US" sz="1700" b="1" dirty="0">
                <a:solidFill>
                  <a:srgbClr val="C9A227"/>
                </a:solidFill>
                <a:latin typeface="Cambria" pitchFamily="34" charset="0"/>
                <a:ea typeface="Cambria" pitchFamily="34" charset="-122"/>
                <a:cs typeface="Cambria" pitchFamily="34" charset="-120"/>
              </a:rPr>
              <a:t>Jouissance</a:t>
            </a:r>
            <a:endParaRPr lang="en-US" sz="1700" dirty="0"/>
          </a:p>
        </p:txBody>
      </p:sp>
      <p:sp>
        <p:nvSpPr>
          <p:cNvPr id="18" name="Text 13"/>
          <p:cNvSpPr/>
          <p:nvPr/>
        </p:nvSpPr>
        <p:spPr>
          <a:xfrm>
            <a:off x="914400" y="5093208"/>
            <a:ext cx="4800600" cy="868680"/>
          </a:xfrm>
          <a:prstGeom prst="rect">
            <a:avLst/>
          </a:prstGeom>
          <a:noFill/>
          <a:ln/>
        </p:spPr>
        <p:txBody>
          <a:bodyPr wrap="square" rtlCol="0" anchor="ctr"/>
          <a:lstStyle/>
          <a:p>
            <a:pPr indent="0" marL="0">
              <a:lnSpc>
                <a:spcPct val="125000"/>
              </a:lnSpc>
              <a:buNone/>
            </a:pPr>
            <a:r>
              <a:rPr lang="en-US" sz="1250" dirty="0">
                <a:solidFill>
                  <a:srgbClr val="E8E6F0"/>
                </a:solidFill>
                <a:latin typeface="Calibri" pitchFamily="34" charset="0"/>
                <a:ea typeface="Calibri" pitchFamily="34" charset="-122"/>
                <a:cs typeface="Calibri" pitchFamily="34" charset="-120"/>
              </a:rPr>
              <a:t>An excessive enjoyment that can persist even when the action becomes harmful or self-defeating.</a:t>
            </a:r>
            <a:endParaRPr lang="en-US" sz="1250" dirty="0"/>
          </a:p>
        </p:txBody>
      </p:sp>
      <p:sp>
        <p:nvSpPr>
          <p:cNvPr id="19" name="Shape 14"/>
          <p:cNvSpPr/>
          <p:nvPr/>
        </p:nvSpPr>
        <p:spPr>
          <a:xfrm>
            <a:off x="6263640" y="4069080"/>
            <a:ext cx="5349240" cy="1965960"/>
          </a:xfrm>
          <a:prstGeom prst="roundRect">
            <a:avLst>
              <a:gd name="adj" fmla="val 5581"/>
            </a:avLst>
          </a:prstGeom>
          <a:solidFill>
            <a:srgbClr val="26264A"/>
          </a:solidFill>
          <a:ln/>
        </p:spPr>
      </p:sp>
      <p:sp>
        <p:nvSpPr>
          <p:cNvPr id="20" name="Shape 15"/>
          <p:cNvSpPr/>
          <p:nvPr/>
        </p:nvSpPr>
        <p:spPr>
          <a:xfrm>
            <a:off x="6537960" y="4343400"/>
            <a:ext cx="566928" cy="566928"/>
          </a:xfrm>
          <a:prstGeom prst="ellipse">
            <a:avLst/>
          </a:prstGeom>
          <a:solidFill>
            <a:srgbClr val="2F2F57"/>
          </a:solidFill>
          <a:ln/>
        </p:spPr>
      </p:sp>
      <p:pic>
        <p:nvPicPr>
          <p:cNvPr id="21" name="Image 3" descr="preencoded.png">    </p:cNvPr>
          <p:cNvPicPr>
            <a:picLocks noChangeAspect="1"/>
          </p:cNvPicPr>
          <p:nvPr/>
        </p:nvPicPr>
        <p:blipFill>
          <a:blip r:embed="rId4"/>
          <a:stretch>
            <a:fillRect/>
          </a:stretch>
        </p:blipFill>
        <p:spPr>
          <a:xfrm>
            <a:off x="6611661" y="4417101"/>
            <a:ext cx="419527" cy="419527"/>
          </a:xfrm>
          <a:prstGeom prst="rect">
            <a:avLst/>
          </a:prstGeom>
        </p:spPr>
      </p:pic>
      <p:sp>
        <p:nvSpPr>
          <p:cNvPr id="22" name="Text 16"/>
          <p:cNvSpPr/>
          <p:nvPr/>
        </p:nvSpPr>
        <p:spPr>
          <a:xfrm>
            <a:off x="7269480" y="4361688"/>
            <a:ext cx="4069080" cy="411480"/>
          </a:xfrm>
          <a:prstGeom prst="rect">
            <a:avLst/>
          </a:prstGeom>
          <a:noFill/>
          <a:ln/>
        </p:spPr>
        <p:txBody>
          <a:bodyPr wrap="square" rtlCol="0" anchor="ctr"/>
          <a:lstStyle/>
          <a:p>
            <a:pPr indent="0" marL="0">
              <a:buNone/>
            </a:pPr>
            <a:r>
              <a:rPr lang="en-US" sz="1700" b="1" dirty="0">
                <a:solidFill>
                  <a:srgbClr val="C9A227"/>
                </a:solidFill>
                <a:latin typeface="Cambria" pitchFamily="34" charset="0"/>
                <a:ea typeface="Cambria" pitchFamily="34" charset="-122"/>
                <a:cs typeface="Cambria" pitchFamily="34" charset="-120"/>
              </a:rPr>
              <a:t>The Big Other</a:t>
            </a:r>
            <a:endParaRPr lang="en-US" sz="1700" dirty="0"/>
          </a:p>
        </p:txBody>
      </p:sp>
      <p:sp>
        <p:nvSpPr>
          <p:cNvPr id="23" name="Text 17"/>
          <p:cNvSpPr/>
          <p:nvPr/>
        </p:nvSpPr>
        <p:spPr>
          <a:xfrm>
            <a:off x="6537960" y="5093208"/>
            <a:ext cx="4800600" cy="868680"/>
          </a:xfrm>
          <a:prstGeom prst="rect">
            <a:avLst/>
          </a:prstGeom>
          <a:noFill/>
          <a:ln/>
        </p:spPr>
        <p:txBody>
          <a:bodyPr wrap="square" rtlCol="0" anchor="ctr"/>
          <a:lstStyle/>
          <a:p>
            <a:pPr indent="0" marL="0">
              <a:lnSpc>
                <a:spcPct val="125000"/>
              </a:lnSpc>
              <a:buNone/>
            </a:pPr>
            <a:r>
              <a:rPr lang="en-US" sz="1250" dirty="0">
                <a:solidFill>
                  <a:srgbClr val="E8E6F0"/>
                </a:solidFill>
                <a:latin typeface="Calibri" pitchFamily="34" charset="0"/>
                <a:ea typeface="Calibri" pitchFamily="34" charset="-122"/>
                <a:cs typeface="Calibri" pitchFamily="34" charset="-120"/>
              </a:rPr>
              <a:t>The symbolic authority of society, institutions, corporate culture — and, increasingly, digital platforms.</a:t>
            </a:r>
            <a:endParaRPr lang="en-US" sz="1250" dirty="0"/>
          </a:p>
        </p:txBody>
      </p:sp>
      <p:sp>
        <p:nvSpPr>
          <p:cNvPr id="24" name="Text 18"/>
          <p:cNvSpPr/>
          <p:nvPr/>
        </p:nvSpPr>
        <p:spPr>
          <a:xfrm>
            <a:off x="11000232" y="6400800"/>
            <a:ext cx="914400" cy="320040"/>
          </a:xfrm>
          <a:prstGeom prst="rect">
            <a:avLst/>
          </a:prstGeom>
          <a:noFill/>
          <a:ln/>
        </p:spPr>
        <p:txBody>
          <a:bodyPr wrap="square" rtlCol="0" anchor="ctr"/>
          <a:lstStyle/>
          <a:p>
            <a:pPr algn="r" indent="0" marL="0">
              <a:buNone/>
            </a:pPr>
            <a:r>
              <a:rPr lang="en-US" sz="1000" dirty="0">
                <a:solidFill>
                  <a:srgbClr val="E8E6F0"/>
                </a:solidFill>
                <a:latin typeface="Calibri" pitchFamily="34" charset="0"/>
                <a:ea typeface="Calibri" pitchFamily="34" charset="-122"/>
                <a:cs typeface="Calibri" pitchFamily="34" charset="-120"/>
              </a:rPr>
              <a:t>07 / 14</a:t>
            </a:r>
            <a:endParaRPr lang="en-US" sz="1000" dirty="0"/>
          </a:p>
        </p:txBody>
      </p:sp>
      <p:sp>
        <p:nvSpPr>
          <p:cNvPr id="25" name="Text 19"/>
          <p:cNvSpPr/>
          <p:nvPr/>
        </p:nvSpPr>
        <p:spPr>
          <a:xfrm>
            <a:off x="548640" y="6400800"/>
            <a:ext cx="5486400" cy="320040"/>
          </a:xfrm>
          <a:prstGeom prst="rect">
            <a:avLst/>
          </a:prstGeom>
          <a:noFill/>
          <a:ln/>
        </p:spPr>
        <p:txBody>
          <a:bodyPr wrap="square" rtlCol="0" anchor="ctr"/>
          <a:lstStyle/>
          <a:p>
            <a:pPr indent="0" marL="0">
              <a:buNone/>
            </a:pPr>
            <a:r>
              <a:rPr lang="en-US" sz="1000" spc="100" kern="0" dirty="0">
                <a:solidFill>
                  <a:srgbClr val="E8E6F0"/>
                </a:solidFill>
                <a:latin typeface="Calibri" pitchFamily="34" charset="0"/>
                <a:ea typeface="Calibri" pitchFamily="34" charset="-122"/>
                <a:cs typeface="Calibri" pitchFamily="34" charset="-120"/>
              </a:rPr>
              <a:t>LACANIAN ETHICS IN THE DIGITAL AGE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36576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MODULE 4</a:t>
            </a:r>
            <a:endParaRPr lang="en-US" sz="1300" dirty="0"/>
          </a:p>
        </p:txBody>
      </p:sp>
      <p:sp>
        <p:nvSpPr>
          <p:cNvPr id="3" name="Text 1"/>
          <p:cNvSpPr/>
          <p:nvPr/>
        </p:nvSpPr>
        <p:spPr>
          <a:xfrm>
            <a:off x="640080" y="822960"/>
            <a:ext cx="10058400" cy="685800"/>
          </a:xfrm>
          <a:prstGeom prst="rect">
            <a:avLst/>
          </a:prstGeom>
          <a:noFill/>
          <a:ln/>
        </p:spPr>
        <p:txBody>
          <a:bodyPr wrap="square" rtlCol="0" anchor="ctr"/>
          <a:lstStyle/>
          <a:p>
            <a:pPr indent="0" marL="0">
              <a:buNone/>
            </a:pPr>
            <a:r>
              <a:rPr lang="en-US" sz="2700" b="1" dirty="0">
                <a:solidFill>
                  <a:srgbClr val="1B1B2F"/>
                </a:solidFill>
                <a:latin typeface="Cambria" pitchFamily="34" charset="0"/>
                <a:ea typeface="Cambria" pitchFamily="34" charset="-122"/>
                <a:cs typeface="Cambria" pitchFamily="34" charset="-120"/>
              </a:rPr>
              <a:t>The Gap Between Stated Values and Desire</a:t>
            </a:r>
            <a:endParaRPr lang="en-US" sz="2700" dirty="0"/>
          </a:p>
        </p:txBody>
      </p:sp>
      <p:sp>
        <p:nvSpPr>
          <p:cNvPr id="4" name="Text 2"/>
          <p:cNvSpPr/>
          <p:nvPr/>
        </p:nvSpPr>
        <p:spPr>
          <a:xfrm>
            <a:off x="640080" y="1481328"/>
            <a:ext cx="10058400" cy="365760"/>
          </a:xfrm>
          <a:prstGeom prst="rect">
            <a:avLst/>
          </a:prstGeom>
          <a:noFill/>
          <a:ln/>
        </p:spPr>
        <p:txBody>
          <a:bodyPr wrap="square" rtlCol="0" anchor="ctr"/>
          <a:lstStyle/>
          <a:p>
            <a:pPr indent="0" marL="0">
              <a:buNone/>
            </a:pPr>
            <a:r>
              <a:rPr lang="en-US" sz="1400" dirty="0">
                <a:solidFill>
                  <a:srgbClr val="6B6B80"/>
                </a:solidFill>
                <a:latin typeface="Calibri" pitchFamily="34" charset="0"/>
                <a:ea typeface="Calibri" pitchFamily="34" charset="-122"/>
                <a:cs typeface="Calibri" pitchFamily="34" charset="-120"/>
              </a:rPr>
              <a:t>Lacanian analysis examines not only ethical outcomes, but the unconscious motivations behind them.</a:t>
            </a:r>
            <a:endParaRPr lang="en-US" sz="1400" dirty="0"/>
          </a:p>
        </p:txBody>
      </p:sp>
      <p:sp>
        <p:nvSpPr>
          <p:cNvPr id="5" name="Shape 3"/>
          <p:cNvSpPr/>
          <p:nvPr/>
        </p:nvSpPr>
        <p:spPr>
          <a:xfrm>
            <a:off x="640080" y="2148840"/>
            <a:ext cx="5120640" cy="3566160"/>
          </a:xfrm>
          <a:prstGeom prst="roundRect">
            <a:avLst>
              <a:gd name="adj" fmla="val 3077"/>
            </a:avLst>
          </a:prstGeom>
          <a:solidFill>
            <a:srgbClr val="F4F3F7"/>
          </a:solidFill>
          <a:ln/>
          <a:effectLst>
            <a:outerShdw sx="100000" sy="100000" kx="0" ky="0" algn="bl" rotWithShape="0" blurRad="101600" dist="38100" dir="2700000">
              <a:srgbClr val="000000">
                <a:alpha val="14000"/>
              </a:srgbClr>
            </a:outerShdw>
          </a:effectLst>
        </p:spPr>
      </p:sp>
      <p:sp>
        <p:nvSpPr>
          <p:cNvPr id="6" name="Shape 4"/>
          <p:cNvSpPr/>
          <p:nvPr/>
        </p:nvSpPr>
        <p:spPr>
          <a:xfrm>
            <a:off x="960120" y="2423160"/>
            <a:ext cx="502920" cy="502920"/>
          </a:xfrm>
          <a:prstGeom prst="ellipse">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1025500" y="2488540"/>
            <a:ext cx="372161" cy="372161"/>
          </a:xfrm>
          <a:prstGeom prst="rect">
            <a:avLst/>
          </a:prstGeom>
        </p:spPr>
      </p:pic>
      <p:sp>
        <p:nvSpPr>
          <p:cNvPr id="8" name="Text 5"/>
          <p:cNvSpPr/>
          <p:nvPr/>
        </p:nvSpPr>
        <p:spPr>
          <a:xfrm>
            <a:off x="1600200" y="2487168"/>
            <a:ext cx="3931920" cy="320040"/>
          </a:xfrm>
          <a:prstGeom prst="rect">
            <a:avLst/>
          </a:prstGeom>
          <a:noFill/>
          <a:ln/>
        </p:spPr>
        <p:txBody>
          <a:bodyPr wrap="square" rtlCol="0" anchor="ctr"/>
          <a:lstStyle/>
          <a:p>
            <a:pPr indent="0" marL="0">
              <a:buNone/>
            </a:pPr>
            <a:r>
              <a:rPr lang="en-US" sz="1200" b="1" spc="100" kern="0" dirty="0">
                <a:solidFill>
                  <a:srgbClr val="4A4E69"/>
                </a:solidFill>
                <a:latin typeface="Calibri" pitchFamily="34" charset="0"/>
                <a:ea typeface="Calibri" pitchFamily="34" charset="-122"/>
                <a:cs typeface="Calibri" pitchFamily="34" charset="-120"/>
              </a:rPr>
              <a:t>MISSION STATEMENT</a:t>
            </a:r>
            <a:endParaRPr lang="en-US" sz="1200" dirty="0"/>
          </a:p>
        </p:txBody>
      </p:sp>
      <p:sp>
        <p:nvSpPr>
          <p:cNvPr id="9" name="Text 6"/>
          <p:cNvSpPr/>
          <p:nvPr/>
        </p:nvSpPr>
        <p:spPr>
          <a:xfrm>
            <a:off x="960120" y="3154680"/>
            <a:ext cx="4480560" cy="914400"/>
          </a:xfrm>
          <a:prstGeom prst="rect">
            <a:avLst/>
          </a:prstGeom>
          <a:noFill/>
          <a:ln/>
        </p:spPr>
        <p:txBody>
          <a:bodyPr wrap="square" rtlCol="0" anchor="ctr"/>
          <a:lstStyle/>
          <a:p>
            <a:pPr indent="0" marL="0">
              <a:buNone/>
            </a:pPr>
            <a:r>
              <a:rPr lang="en-US" sz="1900" b="1" i="1" dirty="0">
                <a:solidFill>
                  <a:srgbClr val="1B1B2F"/>
                </a:solidFill>
                <a:latin typeface="Cambria" pitchFamily="34" charset="0"/>
                <a:ea typeface="Cambria" pitchFamily="34" charset="-122"/>
                <a:cs typeface="Cambria" pitchFamily="34" charset="-120"/>
              </a:rPr>
              <a:t>“We prioritize employee well-being.”</a:t>
            </a:r>
            <a:endParaRPr lang="en-US" sz="1900" dirty="0"/>
          </a:p>
        </p:txBody>
      </p:sp>
      <p:sp>
        <p:nvSpPr>
          <p:cNvPr id="10" name="Text 7"/>
          <p:cNvSpPr/>
          <p:nvPr/>
        </p:nvSpPr>
        <p:spPr>
          <a:xfrm>
            <a:off x="960120" y="4160520"/>
            <a:ext cx="4480560" cy="1280160"/>
          </a:xfrm>
          <a:prstGeom prst="rect">
            <a:avLst/>
          </a:prstGeom>
          <a:noFill/>
          <a:ln/>
        </p:spPr>
        <p:txBody>
          <a:bodyPr wrap="square" rtlCol="0" anchor="ctr"/>
          <a:lstStyle/>
          <a:p>
            <a:pPr indent="0" marL="0">
              <a:lnSpc>
                <a:spcPct val="130000"/>
              </a:lnSpc>
              <a:buNone/>
            </a:pPr>
            <a:r>
              <a:rPr lang="en-US" sz="1300" dirty="0">
                <a:solidFill>
                  <a:srgbClr val="6B6B80"/>
                </a:solidFill>
                <a:latin typeface="Calibri" pitchFamily="34" charset="0"/>
                <a:ea typeface="Calibri" pitchFamily="34" charset="-122"/>
                <a:cs typeface="Calibri" pitchFamily="34" charset="-120"/>
              </a:rPr>
              <a:t>The Symbolic commitment — what the organization tells itself and the world it is.</a:t>
            </a:r>
            <a:endParaRPr lang="en-US" sz="1300" dirty="0"/>
          </a:p>
        </p:txBody>
      </p:sp>
      <p:sp>
        <p:nvSpPr>
          <p:cNvPr id="11" name="Shape 8"/>
          <p:cNvSpPr/>
          <p:nvPr/>
        </p:nvSpPr>
        <p:spPr>
          <a:xfrm>
            <a:off x="5897880" y="3566160"/>
            <a:ext cx="502920" cy="502920"/>
          </a:xfrm>
          <a:prstGeom prst="ellipse">
            <a:avLst/>
          </a:prstGeom>
          <a:solidFill>
            <a:srgbClr val="C9A227"/>
          </a:solidFill>
          <a:ln/>
        </p:spPr>
      </p:sp>
      <p:sp>
        <p:nvSpPr>
          <p:cNvPr id="12" name="Text 9"/>
          <p:cNvSpPr/>
          <p:nvPr/>
        </p:nvSpPr>
        <p:spPr>
          <a:xfrm>
            <a:off x="5897880" y="3566160"/>
            <a:ext cx="502920" cy="502920"/>
          </a:xfrm>
          <a:prstGeom prst="rect">
            <a:avLst/>
          </a:prstGeom>
          <a:noFill/>
          <a:ln/>
        </p:spPr>
        <p:txBody>
          <a:bodyPr wrap="square" rtlCol="0" anchor="ctr"/>
          <a:lstStyle/>
          <a:p>
            <a:pPr algn="ctr" indent="0" marL="0">
              <a:buNone/>
            </a:pPr>
            <a:r>
              <a:rPr lang="en-US" sz="1400" b="1" dirty="0">
                <a:solidFill>
                  <a:srgbClr val="1B1B2F"/>
                </a:solidFill>
                <a:latin typeface="Calibri" pitchFamily="34" charset="0"/>
                <a:ea typeface="Calibri" pitchFamily="34" charset="-122"/>
                <a:cs typeface="Calibri" pitchFamily="34" charset="-120"/>
              </a:rPr>
              <a:t>vs</a:t>
            </a:r>
            <a:endParaRPr lang="en-US" sz="1400" dirty="0"/>
          </a:p>
        </p:txBody>
      </p:sp>
      <p:sp>
        <p:nvSpPr>
          <p:cNvPr id="13" name="Shape 10"/>
          <p:cNvSpPr/>
          <p:nvPr/>
        </p:nvSpPr>
        <p:spPr>
          <a:xfrm>
            <a:off x="6446520" y="2148840"/>
            <a:ext cx="5120640" cy="3566160"/>
          </a:xfrm>
          <a:prstGeom prst="roundRect">
            <a:avLst>
              <a:gd name="adj" fmla="val 3077"/>
            </a:avLst>
          </a:prstGeom>
          <a:solidFill>
            <a:srgbClr val="1B1B2F"/>
          </a:solidFill>
          <a:ln/>
          <a:effectLst>
            <a:outerShdw sx="100000" sy="100000" kx="0" ky="0" algn="bl" rotWithShape="0" blurRad="101600" dist="38100" dir="2700000">
              <a:srgbClr val="000000">
                <a:alpha val="14000"/>
              </a:srgbClr>
            </a:outerShdw>
          </a:effectLst>
        </p:spPr>
      </p:sp>
      <p:sp>
        <p:nvSpPr>
          <p:cNvPr id="14" name="Shape 11"/>
          <p:cNvSpPr/>
          <p:nvPr/>
        </p:nvSpPr>
        <p:spPr>
          <a:xfrm>
            <a:off x="6766560" y="2423160"/>
            <a:ext cx="502920" cy="502920"/>
          </a:xfrm>
          <a:prstGeom prst="ellipse">
            <a:avLst/>
          </a:prstGeom>
          <a:solidFill>
            <a:srgbClr val="2A2A47"/>
          </a:solidFill>
          <a:ln/>
        </p:spPr>
      </p:sp>
      <p:pic>
        <p:nvPicPr>
          <p:cNvPr id="15" name="Image 1" descr="preencoded.png">    </p:cNvPr>
          <p:cNvPicPr>
            <a:picLocks noChangeAspect="1"/>
          </p:cNvPicPr>
          <p:nvPr/>
        </p:nvPicPr>
        <p:blipFill>
          <a:blip r:embed="rId2"/>
          <a:stretch>
            <a:fillRect/>
          </a:stretch>
        </p:blipFill>
        <p:spPr>
          <a:xfrm>
            <a:off x="6831940" y="2488540"/>
            <a:ext cx="372161" cy="372161"/>
          </a:xfrm>
          <a:prstGeom prst="rect">
            <a:avLst/>
          </a:prstGeom>
        </p:spPr>
      </p:pic>
      <p:sp>
        <p:nvSpPr>
          <p:cNvPr id="16" name="Text 12"/>
          <p:cNvSpPr/>
          <p:nvPr/>
        </p:nvSpPr>
        <p:spPr>
          <a:xfrm>
            <a:off x="7406640" y="2487168"/>
            <a:ext cx="3931920" cy="320040"/>
          </a:xfrm>
          <a:prstGeom prst="rect">
            <a:avLst/>
          </a:prstGeom>
          <a:noFill/>
          <a:ln/>
        </p:spPr>
        <p:txBody>
          <a:bodyPr wrap="square" rtlCol="0" anchor="ctr"/>
          <a:lstStyle/>
          <a:p>
            <a:pPr indent="0" marL="0">
              <a:buNone/>
            </a:pPr>
            <a:r>
              <a:rPr lang="en-US" sz="1200" b="1" spc="100" kern="0" dirty="0">
                <a:solidFill>
                  <a:srgbClr val="C9A227"/>
                </a:solidFill>
                <a:latin typeface="Calibri" pitchFamily="34" charset="0"/>
                <a:ea typeface="Calibri" pitchFamily="34" charset="-122"/>
                <a:cs typeface="Calibri" pitchFamily="34" charset="-120"/>
              </a:rPr>
              <a:t>OPERATIONAL REALITY</a:t>
            </a:r>
            <a:endParaRPr lang="en-US" sz="1200" dirty="0"/>
          </a:p>
        </p:txBody>
      </p:sp>
      <p:sp>
        <p:nvSpPr>
          <p:cNvPr id="17" name="Shape 13"/>
          <p:cNvSpPr/>
          <p:nvPr/>
        </p:nvSpPr>
        <p:spPr>
          <a:xfrm>
            <a:off x="6766560" y="3227832"/>
            <a:ext cx="109728" cy="109728"/>
          </a:xfrm>
          <a:prstGeom prst="ellipse">
            <a:avLst/>
          </a:prstGeom>
          <a:solidFill>
            <a:srgbClr val="C9A227"/>
          </a:solidFill>
          <a:ln/>
        </p:spPr>
      </p:sp>
      <p:sp>
        <p:nvSpPr>
          <p:cNvPr id="18" name="Text 14"/>
          <p:cNvSpPr/>
          <p:nvPr/>
        </p:nvSpPr>
        <p:spPr>
          <a:xfrm>
            <a:off x="6995160" y="3044952"/>
            <a:ext cx="4343400" cy="50292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Excessive overtime, normalized</a:t>
            </a:r>
            <a:endParaRPr lang="en-US" sz="1350" dirty="0"/>
          </a:p>
        </p:txBody>
      </p:sp>
      <p:sp>
        <p:nvSpPr>
          <p:cNvPr id="19" name="Shape 15"/>
          <p:cNvSpPr/>
          <p:nvPr/>
        </p:nvSpPr>
        <p:spPr>
          <a:xfrm>
            <a:off x="6766560" y="3849624"/>
            <a:ext cx="109728" cy="109728"/>
          </a:xfrm>
          <a:prstGeom prst="ellipse">
            <a:avLst/>
          </a:prstGeom>
          <a:solidFill>
            <a:srgbClr val="C9A227"/>
          </a:solidFill>
          <a:ln/>
        </p:spPr>
      </p:sp>
      <p:sp>
        <p:nvSpPr>
          <p:cNvPr id="20" name="Text 16"/>
          <p:cNvSpPr/>
          <p:nvPr/>
        </p:nvSpPr>
        <p:spPr>
          <a:xfrm>
            <a:off x="6995160" y="3666744"/>
            <a:ext cx="4343400" cy="50292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Constant digital availability expected</a:t>
            </a:r>
            <a:endParaRPr lang="en-US" sz="1350" dirty="0"/>
          </a:p>
        </p:txBody>
      </p:sp>
      <p:sp>
        <p:nvSpPr>
          <p:cNvPr id="21" name="Shape 17"/>
          <p:cNvSpPr/>
          <p:nvPr/>
        </p:nvSpPr>
        <p:spPr>
          <a:xfrm>
            <a:off x="6766560" y="4471416"/>
            <a:ext cx="109728" cy="109728"/>
          </a:xfrm>
          <a:prstGeom prst="ellipse">
            <a:avLst/>
          </a:prstGeom>
          <a:solidFill>
            <a:srgbClr val="C9A227"/>
          </a:solidFill>
          <a:ln/>
        </p:spPr>
      </p:sp>
      <p:sp>
        <p:nvSpPr>
          <p:cNvPr id="22" name="Text 18"/>
          <p:cNvSpPr/>
          <p:nvPr/>
        </p:nvSpPr>
        <p:spPr>
          <a:xfrm>
            <a:off x="6995160" y="4288536"/>
            <a:ext cx="4343400" cy="50292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Performance measured only in financial targets</a:t>
            </a:r>
            <a:endParaRPr lang="en-US" sz="1350" dirty="0"/>
          </a:p>
        </p:txBody>
      </p:sp>
      <p:sp>
        <p:nvSpPr>
          <p:cNvPr id="23" name="Text 19"/>
          <p:cNvSpPr/>
          <p:nvPr/>
        </p:nvSpPr>
        <p:spPr>
          <a:xfrm>
            <a:off x="6766560" y="5074920"/>
            <a:ext cx="4480560" cy="548640"/>
          </a:xfrm>
          <a:prstGeom prst="rect">
            <a:avLst/>
          </a:prstGeom>
          <a:noFill/>
          <a:ln/>
        </p:spPr>
        <p:txBody>
          <a:bodyPr wrap="square" rtlCol="0" anchor="ctr"/>
          <a:lstStyle/>
          <a:p>
            <a:pPr indent="0" marL="0">
              <a:lnSpc>
                <a:spcPct val="125000"/>
              </a:lnSpc>
              <a:buNone/>
            </a:pPr>
            <a:r>
              <a:rPr lang="en-US" sz="1200" i="1" dirty="0">
                <a:solidFill>
                  <a:srgbClr val="E8E6F0"/>
                </a:solidFill>
                <a:latin typeface="Calibri" pitchFamily="34" charset="0"/>
                <a:ea typeface="Calibri" pitchFamily="34" charset="-122"/>
                <a:cs typeface="Calibri" pitchFamily="34" charset="-120"/>
              </a:rPr>
              <a:t>The unconscious desire the Symbolic layer conceals: growth, control, and continuous performance.</a:t>
            </a:r>
            <a:endParaRPr lang="en-US" sz="1200" dirty="0"/>
          </a:p>
        </p:txBody>
      </p:sp>
      <p:sp>
        <p:nvSpPr>
          <p:cNvPr id="24" name="Text 20"/>
          <p:cNvSpPr/>
          <p:nvPr/>
        </p:nvSpPr>
        <p:spPr>
          <a:xfrm>
            <a:off x="11000232" y="6400800"/>
            <a:ext cx="914400" cy="320040"/>
          </a:xfrm>
          <a:prstGeom prst="rect">
            <a:avLst/>
          </a:prstGeom>
          <a:noFill/>
          <a:ln/>
        </p:spPr>
        <p:txBody>
          <a:bodyPr wrap="square" rtlCol="0" anchor="ctr"/>
          <a:lstStyle/>
          <a:p>
            <a:pPr algn="r" indent="0" marL="0">
              <a:buNone/>
            </a:pPr>
            <a:r>
              <a:rPr lang="en-US" sz="1000" dirty="0">
                <a:solidFill>
                  <a:srgbClr val="6B6B80"/>
                </a:solidFill>
                <a:latin typeface="Calibri" pitchFamily="34" charset="0"/>
                <a:ea typeface="Calibri" pitchFamily="34" charset="-122"/>
                <a:cs typeface="Calibri" pitchFamily="34" charset="-120"/>
              </a:rPr>
              <a:t>08 / 14</a:t>
            </a:r>
            <a:endParaRPr lang="en-US" sz="1000" dirty="0"/>
          </a:p>
        </p:txBody>
      </p:sp>
      <p:sp>
        <p:nvSpPr>
          <p:cNvPr id="25" name="Text 21"/>
          <p:cNvSpPr/>
          <p:nvPr/>
        </p:nvSpPr>
        <p:spPr>
          <a:xfrm>
            <a:off x="548640" y="6400800"/>
            <a:ext cx="5486400" cy="320040"/>
          </a:xfrm>
          <a:prstGeom prst="rect">
            <a:avLst/>
          </a:prstGeom>
          <a:noFill/>
          <a:ln/>
        </p:spPr>
        <p:txBody>
          <a:bodyPr wrap="square" rtlCol="0" anchor="ctr"/>
          <a:lstStyle/>
          <a:p>
            <a:pPr indent="0" marL="0">
              <a:buNone/>
            </a:pPr>
            <a:r>
              <a:rPr lang="en-US" sz="1000" spc="100" kern="0" dirty="0">
                <a:solidFill>
                  <a:srgbClr val="6B6B80"/>
                </a:solidFill>
                <a:latin typeface="Calibri" pitchFamily="34" charset="0"/>
                <a:ea typeface="Calibri" pitchFamily="34" charset="-122"/>
                <a:cs typeface="Calibri" pitchFamily="34" charset="-120"/>
              </a:rPr>
              <a:t>LACANIAN ETHICS IN THE DIGITAL AGE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36576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MODULE 5</a:t>
            </a:r>
            <a:endParaRPr lang="en-US" sz="1300" dirty="0"/>
          </a:p>
        </p:txBody>
      </p:sp>
      <p:sp>
        <p:nvSpPr>
          <p:cNvPr id="3" name="Text 1"/>
          <p:cNvSpPr/>
          <p:nvPr/>
        </p:nvSpPr>
        <p:spPr>
          <a:xfrm>
            <a:off x="640080" y="822960"/>
            <a:ext cx="9144000" cy="685800"/>
          </a:xfrm>
          <a:prstGeom prst="rect">
            <a:avLst/>
          </a:prstGeom>
          <a:noFill/>
          <a:ln/>
        </p:spPr>
        <p:txBody>
          <a:bodyPr wrap="square" rtlCol="0" anchor="ctr"/>
          <a:lstStyle/>
          <a:p>
            <a:pPr indent="0" marL="0">
              <a:buNone/>
            </a:pPr>
            <a:r>
              <a:rPr lang="en-US" sz="3000" b="1" dirty="0">
                <a:solidFill>
                  <a:srgbClr val="1B1B2F"/>
                </a:solidFill>
                <a:latin typeface="Cambria" pitchFamily="34" charset="0"/>
                <a:ea typeface="Cambria" pitchFamily="34" charset="-122"/>
                <a:cs typeface="Cambria" pitchFamily="34" charset="-120"/>
              </a:rPr>
              <a:t>Ethics in Artificial Intelligence</a:t>
            </a:r>
            <a:endParaRPr lang="en-US" sz="3000" dirty="0"/>
          </a:p>
        </p:txBody>
      </p:sp>
      <p:sp>
        <p:nvSpPr>
          <p:cNvPr id="4" name="Text 2"/>
          <p:cNvSpPr/>
          <p:nvPr/>
        </p:nvSpPr>
        <p:spPr>
          <a:xfrm>
            <a:off x="640080" y="1645920"/>
            <a:ext cx="5029200" cy="320040"/>
          </a:xfrm>
          <a:prstGeom prst="rect">
            <a:avLst/>
          </a:prstGeom>
          <a:noFill/>
          <a:ln/>
        </p:spPr>
        <p:txBody>
          <a:bodyPr wrap="square" rtlCol="0" anchor="ctr"/>
          <a:lstStyle/>
          <a:p>
            <a:pPr indent="0" marL="0">
              <a:buNone/>
            </a:pPr>
            <a:r>
              <a:rPr lang="en-US" sz="1200" b="1" spc="100" kern="0" dirty="0">
                <a:solidFill>
                  <a:srgbClr val="4A4E69"/>
                </a:solidFill>
                <a:latin typeface="Calibri" pitchFamily="34" charset="0"/>
                <a:ea typeface="Calibri" pitchFamily="34" charset="-122"/>
                <a:cs typeface="Calibri" pitchFamily="34" charset="-120"/>
              </a:rPr>
              <a:t>BEYOND TECHNICAL PERFORMANCE</a:t>
            </a:r>
            <a:endParaRPr lang="en-US" sz="1200" dirty="0"/>
          </a:p>
        </p:txBody>
      </p:sp>
      <p:sp>
        <p:nvSpPr>
          <p:cNvPr id="5" name="Shape 3"/>
          <p:cNvSpPr/>
          <p:nvPr/>
        </p:nvSpPr>
        <p:spPr>
          <a:xfrm>
            <a:off x="640080" y="2185416"/>
            <a:ext cx="118872" cy="118872"/>
          </a:xfrm>
          <a:prstGeom prst="ellipse">
            <a:avLst/>
          </a:prstGeom>
          <a:solidFill>
            <a:srgbClr val="4A4E69"/>
          </a:solidFill>
          <a:ln/>
        </p:spPr>
      </p:sp>
      <p:sp>
        <p:nvSpPr>
          <p:cNvPr id="6" name="Text 4"/>
          <p:cNvSpPr/>
          <p:nvPr/>
        </p:nvSpPr>
        <p:spPr>
          <a:xfrm>
            <a:off x="914400" y="2011680"/>
            <a:ext cx="4572000" cy="457200"/>
          </a:xfrm>
          <a:prstGeom prst="rect">
            <a:avLst/>
          </a:prstGeom>
          <a:noFill/>
          <a:ln/>
        </p:spPr>
        <p:txBody>
          <a:bodyPr wrap="square" rtlCol="0" anchor="ctr"/>
          <a:lstStyle/>
          <a:p>
            <a:pPr indent="0" marL="0">
              <a:buNone/>
            </a:pPr>
            <a:r>
              <a:rPr lang="en-US" sz="1400" dirty="0">
                <a:solidFill>
                  <a:srgbClr val="1B1B2F"/>
                </a:solidFill>
                <a:latin typeface="Calibri" pitchFamily="34" charset="0"/>
                <a:ea typeface="Calibri" pitchFamily="34" charset="-122"/>
                <a:cs typeface="Calibri" pitchFamily="34" charset="-120"/>
              </a:rPr>
              <a:t>Algorithmic fairness</a:t>
            </a:r>
            <a:endParaRPr lang="en-US" sz="1400" dirty="0"/>
          </a:p>
        </p:txBody>
      </p:sp>
      <p:sp>
        <p:nvSpPr>
          <p:cNvPr id="7" name="Shape 5"/>
          <p:cNvSpPr/>
          <p:nvPr/>
        </p:nvSpPr>
        <p:spPr>
          <a:xfrm>
            <a:off x="640080" y="2752344"/>
            <a:ext cx="118872" cy="118872"/>
          </a:xfrm>
          <a:prstGeom prst="ellipse">
            <a:avLst/>
          </a:prstGeom>
          <a:solidFill>
            <a:srgbClr val="4A4E69"/>
          </a:solidFill>
          <a:ln/>
        </p:spPr>
      </p:sp>
      <p:sp>
        <p:nvSpPr>
          <p:cNvPr id="8" name="Text 6"/>
          <p:cNvSpPr/>
          <p:nvPr/>
        </p:nvSpPr>
        <p:spPr>
          <a:xfrm>
            <a:off x="914400" y="2578608"/>
            <a:ext cx="4572000" cy="457200"/>
          </a:xfrm>
          <a:prstGeom prst="rect">
            <a:avLst/>
          </a:prstGeom>
          <a:noFill/>
          <a:ln/>
        </p:spPr>
        <p:txBody>
          <a:bodyPr wrap="square" rtlCol="0" anchor="ctr"/>
          <a:lstStyle/>
          <a:p>
            <a:pPr indent="0" marL="0">
              <a:buNone/>
            </a:pPr>
            <a:r>
              <a:rPr lang="en-US" sz="1400" dirty="0">
                <a:solidFill>
                  <a:srgbClr val="1B1B2F"/>
                </a:solidFill>
                <a:latin typeface="Calibri" pitchFamily="34" charset="0"/>
                <a:ea typeface="Calibri" pitchFamily="34" charset="-122"/>
                <a:cs typeface="Calibri" pitchFamily="34" charset="-120"/>
              </a:rPr>
              <a:t>Explainability &amp; transparency</a:t>
            </a:r>
            <a:endParaRPr lang="en-US" sz="1400" dirty="0"/>
          </a:p>
        </p:txBody>
      </p:sp>
      <p:sp>
        <p:nvSpPr>
          <p:cNvPr id="9" name="Shape 7"/>
          <p:cNvSpPr/>
          <p:nvPr/>
        </p:nvSpPr>
        <p:spPr>
          <a:xfrm>
            <a:off x="640080" y="3319272"/>
            <a:ext cx="118872" cy="118872"/>
          </a:xfrm>
          <a:prstGeom prst="ellipse">
            <a:avLst/>
          </a:prstGeom>
          <a:solidFill>
            <a:srgbClr val="4A4E69"/>
          </a:solidFill>
          <a:ln/>
        </p:spPr>
      </p:sp>
      <p:sp>
        <p:nvSpPr>
          <p:cNvPr id="10" name="Text 8"/>
          <p:cNvSpPr/>
          <p:nvPr/>
        </p:nvSpPr>
        <p:spPr>
          <a:xfrm>
            <a:off x="914400" y="3145536"/>
            <a:ext cx="4572000" cy="457200"/>
          </a:xfrm>
          <a:prstGeom prst="rect">
            <a:avLst/>
          </a:prstGeom>
          <a:noFill/>
          <a:ln/>
        </p:spPr>
        <p:txBody>
          <a:bodyPr wrap="square" rtlCol="0" anchor="ctr"/>
          <a:lstStyle/>
          <a:p>
            <a:pPr indent="0" marL="0">
              <a:buNone/>
            </a:pPr>
            <a:r>
              <a:rPr lang="en-US" sz="1400" dirty="0">
                <a:solidFill>
                  <a:srgbClr val="1B1B2F"/>
                </a:solidFill>
                <a:latin typeface="Calibri" pitchFamily="34" charset="0"/>
                <a:ea typeface="Calibri" pitchFamily="34" charset="-122"/>
                <a:cs typeface="Calibri" pitchFamily="34" charset="-120"/>
              </a:rPr>
              <a:t>Accountability</a:t>
            </a:r>
            <a:endParaRPr lang="en-US" sz="1400" dirty="0"/>
          </a:p>
        </p:txBody>
      </p:sp>
      <p:sp>
        <p:nvSpPr>
          <p:cNvPr id="11" name="Shape 9"/>
          <p:cNvSpPr/>
          <p:nvPr/>
        </p:nvSpPr>
        <p:spPr>
          <a:xfrm>
            <a:off x="640080" y="3886200"/>
            <a:ext cx="118872" cy="118872"/>
          </a:xfrm>
          <a:prstGeom prst="ellipse">
            <a:avLst/>
          </a:prstGeom>
          <a:solidFill>
            <a:srgbClr val="4A4E69"/>
          </a:solidFill>
          <a:ln/>
        </p:spPr>
      </p:sp>
      <p:sp>
        <p:nvSpPr>
          <p:cNvPr id="12" name="Text 10"/>
          <p:cNvSpPr/>
          <p:nvPr/>
        </p:nvSpPr>
        <p:spPr>
          <a:xfrm>
            <a:off x="914400" y="3712464"/>
            <a:ext cx="4572000" cy="457200"/>
          </a:xfrm>
          <a:prstGeom prst="rect">
            <a:avLst/>
          </a:prstGeom>
          <a:noFill/>
          <a:ln/>
        </p:spPr>
        <p:txBody>
          <a:bodyPr wrap="square" rtlCol="0" anchor="ctr"/>
          <a:lstStyle/>
          <a:p>
            <a:pPr indent="0" marL="0">
              <a:buNone/>
            </a:pPr>
            <a:r>
              <a:rPr lang="en-US" sz="1400" dirty="0">
                <a:solidFill>
                  <a:srgbClr val="1B1B2F"/>
                </a:solidFill>
                <a:latin typeface="Calibri" pitchFamily="34" charset="0"/>
                <a:ea typeface="Calibri" pitchFamily="34" charset="-122"/>
                <a:cs typeface="Calibri" pitchFamily="34" charset="-120"/>
              </a:rPr>
              <a:t>Privacy &amp; IP</a:t>
            </a:r>
            <a:endParaRPr lang="en-US" sz="1400" dirty="0"/>
          </a:p>
        </p:txBody>
      </p:sp>
      <p:sp>
        <p:nvSpPr>
          <p:cNvPr id="13" name="Shape 11"/>
          <p:cNvSpPr/>
          <p:nvPr/>
        </p:nvSpPr>
        <p:spPr>
          <a:xfrm>
            <a:off x="640080" y="4453128"/>
            <a:ext cx="118872" cy="118872"/>
          </a:xfrm>
          <a:prstGeom prst="ellipse">
            <a:avLst/>
          </a:prstGeom>
          <a:solidFill>
            <a:srgbClr val="4A4E69"/>
          </a:solidFill>
          <a:ln/>
        </p:spPr>
      </p:sp>
      <p:sp>
        <p:nvSpPr>
          <p:cNvPr id="14" name="Text 12"/>
          <p:cNvSpPr/>
          <p:nvPr/>
        </p:nvSpPr>
        <p:spPr>
          <a:xfrm>
            <a:off x="914400" y="4279392"/>
            <a:ext cx="4572000" cy="457200"/>
          </a:xfrm>
          <a:prstGeom prst="rect">
            <a:avLst/>
          </a:prstGeom>
          <a:noFill/>
          <a:ln/>
        </p:spPr>
        <p:txBody>
          <a:bodyPr wrap="square" rtlCol="0" anchor="ctr"/>
          <a:lstStyle/>
          <a:p>
            <a:pPr indent="0" marL="0">
              <a:buNone/>
            </a:pPr>
            <a:r>
              <a:rPr lang="en-US" sz="1400" dirty="0">
                <a:solidFill>
                  <a:srgbClr val="1B1B2F"/>
                </a:solidFill>
                <a:latin typeface="Calibri" pitchFamily="34" charset="0"/>
                <a:ea typeface="Calibri" pitchFamily="34" charset="-122"/>
                <a:cs typeface="Calibri" pitchFamily="34" charset="-120"/>
              </a:rPr>
              <a:t>Employment displacement</a:t>
            </a:r>
            <a:endParaRPr lang="en-US" sz="1400" dirty="0"/>
          </a:p>
        </p:txBody>
      </p:sp>
      <p:sp>
        <p:nvSpPr>
          <p:cNvPr id="15" name="Shape 13"/>
          <p:cNvSpPr/>
          <p:nvPr/>
        </p:nvSpPr>
        <p:spPr>
          <a:xfrm>
            <a:off x="640080" y="5020056"/>
            <a:ext cx="118872" cy="118872"/>
          </a:xfrm>
          <a:prstGeom prst="ellipse">
            <a:avLst/>
          </a:prstGeom>
          <a:solidFill>
            <a:srgbClr val="4A4E69"/>
          </a:solidFill>
          <a:ln/>
        </p:spPr>
      </p:sp>
      <p:sp>
        <p:nvSpPr>
          <p:cNvPr id="16" name="Text 14"/>
          <p:cNvSpPr/>
          <p:nvPr/>
        </p:nvSpPr>
        <p:spPr>
          <a:xfrm>
            <a:off x="914400" y="4846320"/>
            <a:ext cx="4572000" cy="457200"/>
          </a:xfrm>
          <a:prstGeom prst="rect">
            <a:avLst/>
          </a:prstGeom>
          <a:noFill/>
          <a:ln/>
        </p:spPr>
        <p:txBody>
          <a:bodyPr wrap="square" rtlCol="0" anchor="ctr"/>
          <a:lstStyle/>
          <a:p>
            <a:pPr indent="0" marL="0">
              <a:buNone/>
            </a:pPr>
            <a:r>
              <a:rPr lang="en-US" sz="1400" dirty="0">
                <a:solidFill>
                  <a:srgbClr val="1B1B2F"/>
                </a:solidFill>
                <a:latin typeface="Calibri" pitchFamily="34" charset="0"/>
                <a:ea typeface="Calibri" pitchFamily="34" charset="-122"/>
                <a:cs typeface="Calibri" pitchFamily="34" charset="-120"/>
              </a:rPr>
              <a:t>Human autonomy</a:t>
            </a:r>
            <a:endParaRPr lang="en-US" sz="1400" dirty="0"/>
          </a:p>
        </p:txBody>
      </p:sp>
      <p:sp>
        <p:nvSpPr>
          <p:cNvPr id="17" name="Shape 15"/>
          <p:cNvSpPr/>
          <p:nvPr/>
        </p:nvSpPr>
        <p:spPr>
          <a:xfrm>
            <a:off x="6263640" y="1645920"/>
            <a:ext cx="5257800" cy="4434840"/>
          </a:xfrm>
          <a:prstGeom prst="roundRect">
            <a:avLst>
              <a:gd name="adj" fmla="val 2474"/>
            </a:avLst>
          </a:prstGeom>
          <a:solidFill>
            <a:srgbClr val="1B1B2F"/>
          </a:solidFill>
          <a:ln/>
          <a:effectLst>
            <a:outerShdw sx="100000" sy="100000" kx="0" ky="0" algn="bl" rotWithShape="0" blurRad="101600" dist="38100" dir="2700000">
              <a:srgbClr val="000000">
                <a:alpha val="14000"/>
              </a:srgbClr>
            </a:outerShdw>
          </a:effectLst>
        </p:spPr>
      </p:sp>
      <p:sp>
        <p:nvSpPr>
          <p:cNvPr id="18" name="Shape 16"/>
          <p:cNvSpPr/>
          <p:nvPr/>
        </p:nvSpPr>
        <p:spPr>
          <a:xfrm>
            <a:off x="6583680" y="1920240"/>
            <a:ext cx="502920" cy="502920"/>
          </a:xfrm>
          <a:prstGeom prst="ellipse">
            <a:avLst/>
          </a:prstGeom>
          <a:solidFill>
            <a:srgbClr val="2A2A47"/>
          </a:solidFill>
          <a:ln/>
        </p:spPr>
      </p:sp>
      <p:pic>
        <p:nvPicPr>
          <p:cNvPr id="19" name="Image 0" descr="preencoded.png">    </p:cNvPr>
          <p:cNvPicPr>
            <a:picLocks noChangeAspect="1"/>
          </p:cNvPicPr>
          <p:nvPr/>
        </p:nvPicPr>
        <p:blipFill>
          <a:blip r:embed="rId1"/>
          <a:stretch>
            <a:fillRect/>
          </a:stretch>
        </p:blipFill>
        <p:spPr>
          <a:xfrm>
            <a:off x="6649060" y="1985620"/>
            <a:ext cx="372161" cy="372161"/>
          </a:xfrm>
          <a:prstGeom prst="rect">
            <a:avLst/>
          </a:prstGeom>
        </p:spPr>
      </p:pic>
      <p:sp>
        <p:nvSpPr>
          <p:cNvPr id="20" name="Text 17"/>
          <p:cNvSpPr/>
          <p:nvPr/>
        </p:nvSpPr>
        <p:spPr>
          <a:xfrm>
            <a:off x="7223760" y="1993392"/>
            <a:ext cx="3931920" cy="320040"/>
          </a:xfrm>
          <a:prstGeom prst="rect">
            <a:avLst/>
          </a:prstGeom>
          <a:noFill/>
          <a:ln/>
        </p:spPr>
        <p:txBody>
          <a:bodyPr wrap="square" rtlCol="0" anchor="ctr"/>
          <a:lstStyle/>
          <a:p>
            <a:pPr indent="0" marL="0">
              <a:buNone/>
            </a:pPr>
            <a:r>
              <a:rPr lang="en-US" sz="1200" b="1" spc="100" kern="0" dirty="0">
                <a:solidFill>
                  <a:srgbClr val="C9A227"/>
                </a:solidFill>
                <a:latin typeface="Calibri" pitchFamily="34" charset="0"/>
                <a:ea typeface="Calibri" pitchFamily="34" charset="-122"/>
                <a:cs typeface="Calibri" pitchFamily="34" charset="-120"/>
              </a:rPr>
              <a:t>THE LACANIAN LENS ASKS</a:t>
            </a:r>
            <a:endParaRPr lang="en-US" sz="1200" dirty="0"/>
          </a:p>
        </p:txBody>
      </p:sp>
      <p:sp>
        <p:nvSpPr>
          <p:cNvPr id="21" name="Text 18"/>
          <p:cNvSpPr/>
          <p:nvPr/>
        </p:nvSpPr>
        <p:spPr>
          <a:xfrm>
            <a:off x="6583680" y="2606040"/>
            <a:ext cx="4663440" cy="685800"/>
          </a:xfrm>
          <a:prstGeom prst="rect">
            <a:avLst/>
          </a:prstGeom>
          <a:noFill/>
          <a:ln/>
        </p:spPr>
        <p:txBody>
          <a:bodyPr wrap="square" rtlCol="0" anchor="ctr"/>
          <a:lstStyle/>
          <a:p>
            <a:pPr indent="0" marL="0">
              <a:lnSpc>
                <a:spcPct val="125000"/>
              </a:lnSpc>
              <a:buNone/>
            </a:pPr>
            <a:r>
              <a:rPr lang="en-US" sz="1400" i="1" dirty="0">
                <a:solidFill>
                  <a:srgbClr val="FFFFFF"/>
                </a:solidFill>
                <a:latin typeface="Calibri" pitchFamily="34" charset="0"/>
                <a:ea typeface="Calibri" pitchFamily="34" charset="-122"/>
                <a:cs typeface="Calibri" pitchFamily="34" charset="-120"/>
              </a:rPr>
              <a:t>Does AI reinforce existing social desires?</a:t>
            </a:r>
            <a:endParaRPr lang="en-US" sz="1400" dirty="0"/>
          </a:p>
        </p:txBody>
      </p:sp>
      <p:sp>
        <p:nvSpPr>
          <p:cNvPr id="22" name="Text 19"/>
          <p:cNvSpPr/>
          <p:nvPr/>
        </p:nvSpPr>
        <p:spPr>
          <a:xfrm>
            <a:off x="6583680" y="3429000"/>
            <a:ext cx="4663440" cy="685800"/>
          </a:xfrm>
          <a:prstGeom prst="rect">
            <a:avLst/>
          </a:prstGeom>
          <a:noFill/>
          <a:ln/>
        </p:spPr>
        <p:txBody>
          <a:bodyPr wrap="square" rtlCol="0" anchor="ctr"/>
          <a:lstStyle/>
          <a:p>
            <a:pPr indent="0" marL="0">
              <a:lnSpc>
                <a:spcPct val="125000"/>
              </a:lnSpc>
              <a:buNone/>
            </a:pPr>
            <a:r>
              <a:rPr lang="en-US" sz="1400" i="1" dirty="0">
                <a:solidFill>
                  <a:srgbClr val="FFFFFF"/>
                </a:solidFill>
                <a:latin typeface="Calibri" pitchFamily="34" charset="0"/>
                <a:ea typeface="Calibri" pitchFamily="34" charset="-122"/>
                <a:cs typeface="Calibri" pitchFamily="34" charset="-120"/>
              </a:rPr>
              <a:t>Does personalization deepen consumer dependence?</a:t>
            </a:r>
            <a:endParaRPr lang="en-US" sz="1400" dirty="0"/>
          </a:p>
        </p:txBody>
      </p:sp>
      <p:sp>
        <p:nvSpPr>
          <p:cNvPr id="23" name="Text 20"/>
          <p:cNvSpPr/>
          <p:nvPr/>
        </p:nvSpPr>
        <p:spPr>
          <a:xfrm>
            <a:off x="6583680" y="4251960"/>
            <a:ext cx="4663440" cy="685800"/>
          </a:xfrm>
          <a:prstGeom prst="rect">
            <a:avLst/>
          </a:prstGeom>
          <a:noFill/>
          <a:ln/>
        </p:spPr>
        <p:txBody>
          <a:bodyPr wrap="square" rtlCol="0" anchor="ctr"/>
          <a:lstStyle/>
          <a:p>
            <a:pPr indent="0" marL="0">
              <a:lnSpc>
                <a:spcPct val="125000"/>
              </a:lnSpc>
              <a:buNone/>
            </a:pPr>
            <a:r>
              <a:rPr lang="en-US" sz="1400" i="1" dirty="0">
                <a:solidFill>
                  <a:srgbClr val="FFFFFF"/>
                </a:solidFill>
                <a:latin typeface="Calibri" pitchFamily="34" charset="0"/>
                <a:ea typeface="Calibri" pitchFamily="34" charset="-122"/>
                <a:cs typeface="Calibri" pitchFamily="34" charset="-120"/>
              </a:rPr>
              <a:t>Has AI become a new “Big Other” shaping human judgment?</a:t>
            </a:r>
            <a:endParaRPr lang="en-US" sz="1400" dirty="0"/>
          </a:p>
        </p:txBody>
      </p:sp>
      <p:sp>
        <p:nvSpPr>
          <p:cNvPr id="24" name="Text 21"/>
          <p:cNvSpPr/>
          <p:nvPr/>
        </p:nvSpPr>
        <p:spPr>
          <a:xfrm>
            <a:off x="6583680" y="5074920"/>
            <a:ext cx="4663440" cy="685800"/>
          </a:xfrm>
          <a:prstGeom prst="rect">
            <a:avLst/>
          </a:prstGeom>
          <a:noFill/>
          <a:ln/>
        </p:spPr>
        <p:txBody>
          <a:bodyPr wrap="square" rtlCol="0" anchor="ctr"/>
          <a:lstStyle/>
          <a:p>
            <a:pPr indent="0" marL="0">
              <a:lnSpc>
                <a:spcPct val="125000"/>
              </a:lnSpc>
              <a:buNone/>
            </a:pPr>
            <a:r>
              <a:rPr lang="en-US" sz="1400" i="1" dirty="0">
                <a:solidFill>
                  <a:srgbClr val="FFFFFF"/>
                </a:solidFill>
                <a:latin typeface="Calibri" pitchFamily="34" charset="0"/>
                <a:ea typeface="Calibri" pitchFamily="34" charset="-122"/>
                <a:cs typeface="Calibri" pitchFamily="34" charset="-120"/>
              </a:rPr>
              <a:t>Are recommender systems designed to satisfy users — or to perpetuate desire and engagement?</a:t>
            </a:r>
            <a:endParaRPr lang="en-US" sz="1400" dirty="0"/>
          </a:p>
        </p:txBody>
      </p:sp>
      <p:sp>
        <p:nvSpPr>
          <p:cNvPr id="25" name="Text 22"/>
          <p:cNvSpPr/>
          <p:nvPr/>
        </p:nvSpPr>
        <p:spPr>
          <a:xfrm>
            <a:off x="11000232" y="6400800"/>
            <a:ext cx="914400" cy="320040"/>
          </a:xfrm>
          <a:prstGeom prst="rect">
            <a:avLst/>
          </a:prstGeom>
          <a:noFill/>
          <a:ln/>
        </p:spPr>
        <p:txBody>
          <a:bodyPr wrap="square" rtlCol="0" anchor="ctr"/>
          <a:lstStyle/>
          <a:p>
            <a:pPr algn="r" indent="0" marL="0">
              <a:buNone/>
            </a:pPr>
            <a:r>
              <a:rPr lang="en-US" sz="1000" dirty="0">
                <a:solidFill>
                  <a:srgbClr val="6B6B80"/>
                </a:solidFill>
                <a:latin typeface="Calibri" pitchFamily="34" charset="0"/>
                <a:ea typeface="Calibri" pitchFamily="34" charset="-122"/>
                <a:cs typeface="Calibri" pitchFamily="34" charset="-120"/>
              </a:rPr>
              <a:t>09 / 14</a:t>
            </a:r>
            <a:endParaRPr lang="en-US" sz="1000" dirty="0"/>
          </a:p>
        </p:txBody>
      </p:sp>
      <p:sp>
        <p:nvSpPr>
          <p:cNvPr id="26" name="Text 23"/>
          <p:cNvSpPr/>
          <p:nvPr/>
        </p:nvSpPr>
        <p:spPr>
          <a:xfrm>
            <a:off x="548640" y="6400800"/>
            <a:ext cx="5486400" cy="320040"/>
          </a:xfrm>
          <a:prstGeom prst="rect">
            <a:avLst/>
          </a:prstGeom>
          <a:noFill/>
          <a:ln/>
        </p:spPr>
        <p:txBody>
          <a:bodyPr wrap="square" rtlCol="0" anchor="ctr"/>
          <a:lstStyle/>
          <a:p>
            <a:pPr indent="0" marL="0">
              <a:buNone/>
            </a:pPr>
            <a:r>
              <a:rPr lang="en-US" sz="1000" spc="100" kern="0" dirty="0">
                <a:solidFill>
                  <a:srgbClr val="6B6B80"/>
                </a:solidFill>
                <a:latin typeface="Calibri" pitchFamily="34" charset="0"/>
                <a:ea typeface="Calibri" pitchFamily="34" charset="-122"/>
                <a:cs typeface="Calibri" pitchFamily="34" charset="-120"/>
              </a:rPr>
              <a:t>LACANIAN ETHICS IN THE DIGITAL AGE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36576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MODULE 6</a:t>
            </a:r>
            <a:endParaRPr lang="en-US" sz="1300" dirty="0"/>
          </a:p>
        </p:txBody>
      </p:sp>
      <p:sp>
        <p:nvSpPr>
          <p:cNvPr id="3" name="Text 1"/>
          <p:cNvSpPr/>
          <p:nvPr/>
        </p:nvSpPr>
        <p:spPr>
          <a:xfrm>
            <a:off x="640080" y="822960"/>
            <a:ext cx="9601200" cy="685800"/>
          </a:xfrm>
          <a:prstGeom prst="rect">
            <a:avLst/>
          </a:prstGeom>
          <a:noFill/>
          <a:ln/>
        </p:spPr>
        <p:txBody>
          <a:bodyPr wrap="square" rtlCol="0" anchor="ctr"/>
          <a:lstStyle/>
          <a:p>
            <a:pPr indent="0" marL="0">
              <a:buNone/>
            </a:pPr>
            <a:r>
              <a:rPr lang="en-US" sz="2800" b="1" dirty="0">
                <a:solidFill>
                  <a:srgbClr val="1B1B2F"/>
                </a:solidFill>
                <a:latin typeface="Cambria" pitchFamily="34" charset="0"/>
                <a:ea typeface="Cambria" pitchFamily="34" charset="-122"/>
                <a:cs typeface="Cambria" pitchFamily="34" charset="-120"/>
              </a:rPr>
              <a:t>Five Contemporary Ethical Tensions</a:t>
            </a:r>
            <a:endParaRPr lang="en-US" sz="2800" dirty="0"/>
          </a:p>
        </p:txBody>
      </p:sp>
      <p:sp>
        <p:nvSpPr>
          <p:cNvPr id="4" name="Shape 2"/>
          <p:cNvSpPr/>
          <p:nvPr/>
        </p:nvSpPr>
        <p:spPr>
          <a:xfrm>
            <a:off x="640080" y="1783080"/>
            <a:ext cx="2084832" cy="3291840"/>
          </a:xfrm>
          <a:prstGeom prst="roundRect">
            <a:avLst>
              <a:gd name="adj" fmla="val 4386"/>
            </a:avLst>
          </a:prstGeom>
          <a:solidFill>
            <a:srgbClr val="F4F3F7"/>
          </a:solidFill>
          <a:ln/>
          <a:effectLst>
            <a:outerShdw sx="100000" sy="100000" kx="0" ky="0" algn="bl" rotWithShape="0" blurRad="101600" dist="38100" dir="2700000">
              <a:srgbClr val="000000">
                <a:alpha val="14000"/>
              </a:srgbClr>
            </a:outerShdw>
          </a:effectLst>
        </p:spPr>
      </p:sp>
      <p:sp>
        <p:nvSpPr>
          <p:cNvPr id="5" name="Shape 3"/>
          <p:cNvSpPr/>
          <p:nvPr/>
        </p:nvSpPr>
        <p:spPr>
          <a:xfrm>
            <a:off x="1399032" y="2075688"/>
            <a:ext cx="566928" cy="566928"/>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1472733" y="2149389"/>
            <a:ext cx="419527" cy="419527"/>
          </a:xfrm>
          <a:prstGeom prst="rect">
            <a:avLst/>
          </a:prstGeom>
        </p:spPr>
      </p:pic>
      <p:sp>
        <p:nvSpPr>
          <p:cNvPr id="7" name="Text 4"/>
          <p:cNvSpPr/>
          <p:nvPr/>
        </p:nvSpPr>
        <p:spPr>
          <a:xfrm>
            <a:off x="786384" y="2834640"/>
            <a:ext cx="1792224" cy="777240"/>
          </a:xfrm>
          <a:prstGeom prst="rect">
            <a:avLst/>
          </a:prstGeom>
          <a:noFill/>
          <a:ln/>
        </p:spPr>
        <p:txBody>
          <a:bodyPr wrap="square" rtlCol="0" anchor="ctr"/>
          <a:lstStyle/>
          <a:p>
            <a:pPr algn="ctr" indent="0" marL="0">
              <a:lnSpc>
                <a:spcPct val="110000"/>
              </a:lnSpc>
              <a:buNone/>
            </a:pPr>
            <a:r>
              <a:rPr lang="en-US" sz="1350" b="1" dirty="0">
                <a:solidFill>
                  <a:srgbClr val="1B1B2F"/>
                </a:solidFill>
                <a:latin typeface="Calibri" pitchFamily="34" charset="0"/>
                <a:ea typeface="Calibri" pitchFamily="34" charset="-122"/>
                <a:cs typeface="Calibri" pitchFamily="34" charset="-120"/>
              </a:rPr>
              <a:t>Profit vs. Environment</a:t>
            </a:r>
            <a:endParaRPr lang="en-US" sz="1350" dirty="0"/>
          </a:p>
        </p:txBody>
      </p:sp>
      <p:sp>
        <p:nvSpPr>
          <p:cNvPr id="8" name="Text 5"/>
          <p:cNvSpPr/>
          <p:nvPr/>
        </p:nvSpPr>
        <p:spPr>
          <a:xfrm>
            <a:off x="786384" y="3657600"/>
            <a:ext cx="1792224" cy="1280160"/>
          </a:xfrm>
          <a:prstGeom prst="rect">
            <a:avLst/>
          </a:prstGeom>
          <a:noFill/>
          <a:ln/>
        </p:spPr>
        <p:txBody>
          <a:bodyPr wrap="square" rtlCol="0" anchor="ctr"/>
          <a:lstStyle/>
          <a:p>
            <a:pPr algn="ctr" indent="0" marL="0">
              <a:lnSpc>
                <a:spcPct val="125000"/>
              </a:lnSpc>
              <a:buNone/>
            </a:pPr>
            <a:r>
              <a:rPr lang="en-US" sz="1100" dirty="0">
                <a:solidFill>
                  <a:srgbClr val="6B6B80"/>
                </a:solidFill>
                <a:latin typeface="Calibri" pitchFamily="34" charset="0"/>
                <a:ea typeface="Calibri" pitchFamily="34" charset="-122"/>
                <a:cs typeface="Calibri" pitchFamily="34" charset="-120"/>
              </a:rPr>
              <a:t>Short-term shareholder return against long-term ecological cost</a:t>
            </a:r>
            <a:endParaRPr lang="en-US" sz="1100" dirty="0"/>
          </a:p>
        </p:txBody>
      </p:sp>
      <p:sp>
        <p:nvSpPr>
          <p:cNvPr id="9" name="Shape 6"/>
          <p:cNvSpPr/>
          <p:nvPr/>
        </p:nvSpPr>
        <p:spPr>
          <a:xfrm>
            <a:off x="2894076" y="1783080"/>
            <a:ext cx="2084832" cy="3291840"/>
          </a:xfrm>
          <a:prstGeom prst="roundRect">
            <a:avLst>
              <a:gd name="adj" fmla="val 4386"/>
            </a:avLst>
          </a:prstGeom>
          <a:solidFill>
            <a:srgbClr val="F4F3F7"/>
          </a:solidFill>
          <a:ln/>
          <a:effectLst>
            <a:outerShdw sx="100000" sy="100000" kx="0" ky="0" algn="bl" rotWithShape="0" blurRad="101600" dist="38100" dir="2700000">
              <a:srgbClr val="000000">
                <a:alpha val="14000"/>
              </a:srgbClr>
            </a:outerShdw>
          </a:effectLst>
        </p:spPr>
      </p:sp>
      <p:sp>
        <p:nvSpPr>
          <p:cNvPr id="10" name="Shape 7"/>
          <p:cNvSpPr/>
          <p:nvPr/>
        </p:nvSpPr>
        <p:spPr>
          <a:xfrm>
            <a:off x="3653028" y="2075688"/>
            <a:ext cx="566928" cy="566928"/>
          </a:xfrm>
          <a:prstGeom prst="ellipse">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3726729" y="2149389"/>
            <a:ext cx="419527" cy="419527"/>
          </a:xfrm>
          <a:prstGeom prst="rect">
            <a:avLst/>
          </a:prstGeom>
        </p:spPr>
      </p:pic>
      <p:sp>
        <p:nvSpPr>
          <p:cNvPr id="12" name="Text 8"/>
          <p:cNvSpPr/>
          <p:nvPr/>
        </p:nvSpPr>
        <p:spPr>
          <a:xfrm>
            <a:off x="3040380" y="2834640"/>
            <a:ext cx="1792224" cy="777240"/>
          </a:xfrm>
          <a:prstGeom prst="rect">
            <a:avLst/>
          </a:prstGeom>
          <a:noFill/>
          <a:ln/>
        </p:spPr>
        <p:txBody>
          <a:bodyPr wrap="square" rtlCol="0" anchor="ctr"/>
          <a:lstStyle/>
          <a:p>
            <a:pPr algn="ctr" indent="0" marL="0">
              <a:lnSpc>
                <a:spcPct val="110000"/>
              </a:lnSpc>
              <a:buNone/>
            </a:pPr>
            <a:r>
              <a:rPr lang="en-US" sz="1350" b="1" dirty="0">
                <a:solidFill>
                  <a:srgbClr val="1B1B2F"/>
                </a:solidFill>
                <a:latin typeface="Calibri" pitchFamily="34" charset="0"/>
                <a:ea typeface="Calibri" pitchFamily="34" charset="-122"/>
                <a:cs typeface="Calibri" pitchFamily="34" charset="-120"/>
              </a:rPr>
              <a:t>Personalization vs. Autonomy</a:t>
            </a:r>
            <a:endParaRPr lang="en-US" sz="1350" dirty="0"/>
          </a:p>
        </p:txBody>
      </p:sp>
      <p:sp>
        <p:nvSpPr>
          <p:cNvPr id="13" name="Text 9"/>
          <p:cNvSpPr/>
          <p:nvPr/>
        </p:nvSpPr>
        <p:spPr>
          <a:xfrm>
            <a:off x="3040380" y="3657600"/>
            <a:ext cx="1792224" cy="1280160"/>
          </a:xfrm>
          <a:prstGeom prst="rect">
            <a:avLst/>
          </a:prstGeom>
          <a:noFill/>
          <a:ln/>
        </p:spPr>
        <p:txBody>
          <a:bodyPr wrap="square" rtlCol="0" anchor="ctr"/>
          <a:lstStyle/>
          <a:p>
            <a:pPr algn="ctr" indent="0" marL="0">
              <a:lnSpc>
                <a:spcPct val="125000"/>
              </a:lnSpc>
              <a:buNone/>
            </a:pPr>
            <a:r>
              <a:rPr lang="en-US" sz="1100" dirty="0">
                <a:solidFill>
                  <a:srgbClr val="6B6B80"/>
                </a:solidFill>
                <a:latin typeface="Calibri" pitchFamily="34" charset="0"/>
                <a:ea typeface="Calibri" pitchFamily="34" charset="-122"/>
                <a:cs typeface="Calibri" pitchFamily="34" charset="-120"/>
              </a:rPr>
              <a:t>Engagement optimization against addiction and polarization risk</a:t>
            </a:r>
            <a:endParaRPr lang="en-US" sz="1100" dirty="0"/>
          </a:p>
        </p:txBody>
      </p:sp>
      <p:sp>
        <p:nvSpPr>
          <p:cNvPr id="14" name="Shape 10"/>
          <p:cNvSpPr/>
          <p:nvPr/>
        </p:nvSpPr>
        <p:spPr>
          <a:xfrm>
            <a:off x="5148072" y="1783080"/>
            <a:ext cx="2084832" cy="3291840"/>
          </a:xfrm>
          <a:prstGeom prst="roundRect">
            <a:avLst>
              <a:gd name="adj" fmla="val 4386"/>
            </a:avLst>
          </a:prstGeom>
          <a:solidFill>
            <a:srgbClr val="F4F3F7"/>
          </a:solidFill>
          <a:ln/>
          <a:effectLst>
            <a:outerShdw sx="100000" sy="100000" kx="0" ky="0" algn="bl" rotWithShape="0" blurRad="101600" dist="38100" dir="2700000">
              <a:srgbClr val="000000">
                <a:alpha val="14000"/>
              </a:srgbClr>
            </a:outerShdw>
          </a:effectLst>
        </p:spPr>
      </p:sp>
      <p:sp>
        <p:nvSpPr>
          <p:cNvPr id="15" name="Shape 11"/>
          <p:cNvSpPr/>
          <p:nvPr/>
        </p:nvSpPr>
        <p:spPr>
          <a:xfrm>
            <a:off x="5907024" y="2075688"/>
            <a:ext cx="566928" cy="566928"/>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5980725" y="2149389"/>
            <a:ext cx="419527" cy="419527"/>
          </a:xfrm>
          <a:prstGeom prst="rect">
            <a:avLst/>
          </a:prstGeom>
        </p:spPr>
      </p:pic>
      <p:sp>
        <p:nvSpPr>
          <p:cNvPr id="17" name="Text 12"/>
          <p:cNvSpPr/>
          <p:nvPr/>
        </p:nvSpPr>
        <p:spPr>
          <a:xfrm>
            <a:off x="5294376" y="2834640"/>
            <a:ext cx="1792224" cy="777240"/>
          </a:xfrm>
          <a:prstGeom prst="rect">
            <a:avLst/>
          </a:prstGeom>
          <a:noFill/>
          <a:ln/>
        </p:spPr>
        <p:txBody>
          <a:bodyPr wrap="square" rtlCol="0" anchor="ctr"/>
          <a:lstStyle/>
          <a:p>
            <a:pPr algn="ctr" indent="0" marL="0">
              <a:lnSpc>
                <a:spcPct val="110000"/>
              </a:lnSpc>
              <a:buNone/>
            </a:pPr>
            <a:r>
              <a:rPr lang="en-US" sz="1350" b="1" dirty="0">
                <a:solidFill>
                  <a:srgbClr val="1B1B2F"/>
                </a:solidFill>
                <a:latin typeface="Calibri" pitchFamily="34" charset="0"/>
                <a:ea typeface="Calibri" pitchFamily="34" charset="-122"/>
                <a:cs typeface="Calibri" pitchFamily="34" charset="-120"/>
              </a:rPr>
              <a:t>Privacy vs. Commercial Value</a:t>
            </a:r>
            <a:endParaRPr lang="en-US" sz="1350" dirty="0"/>
          </a:p>
        </p:txBody>
      </p:sp>
      <p:sp>
        <p:nvSpPr>
          <p:cNvPr id="18" name="Text 13"/>
          <p:cNvSpPr/>
          <p:nvPr/>
        </p:nvSpPr>
        <p:spPr>
          <a:xfrm>
            <a:off x="5294376" y="3657600"/>
            <a:ext cx="1792224" cy="1280160"/>
          </a:xfrm>
          <a:prstGeom prst="rect">
            <a:avLst/>
          </a:prstGeom>
          <a:noFill/>
          <a:ln/>
        </p:spPr>
        <p:txBody>
          <a:bodyPr wrap="square" rtlCol="0" anchor="ctr"/>
          <a:lstStyle/>
          <a:p>
            <a:pPr algn="ctr" indent="0" marL="0">
              <a:lnSpc>
                <a:spcPct val="125000"/>
              </a:lnSpc>
              <a:buNone/>
            </a:pPr>
            <a:r>
              <a:rPr lang="en-US" sz="1100" dirty="0">
                <a:solidFill>
                  <a:srgbClr val="6B6B80"/>
                </a:solidFill>
                <a:latin typeface="Calibri" pitchFamily="34" charset="0"/>
                <a:ea typeface="Calibri" pitchFamily="34" charset="-122"/>
                <a:cs typeface="Calibri" pitchFamily="34" charset="-120"/>
              </a:rPr>
              <a:t>Data collection against meaningful, informed consent</a:t>
            </a:r>
            <a:endParaRPr lang="en-US" sz="1100" dirty="0"/>
          </a:p>
        </p:txBody>
      </p:sp>
      <p:sp>
        <p:nvSpPr>
          <p:cNvPr id="19" name="Shape 14"/>
          <p:cNvSpPr/>
          <p:nvPr/>
        </p:nvSpPr>
        <p:spPr>
          <a:xfrm>
            <a:off x="7402068" y="1783080"/>
            <a:ext cx="2084832" cy="3291840"/>
          </a:xfrm>
          <a:prstGeom prst="roundRect">
            <a:avLst>
              <a:gd name="adj" fmla="val 4386"/>
            </a:avLst>
          </a:prstGeom>
          <a:solidFill>
            <a:srgbClr val="F4F3F7"/>
          </a:solidFill>
          <a:ln/>
          <a:effectLst>
            <a:outerShdw sx="100000" sy="100000" kx="0" ky="0" algn="bl" rotWithShape="0" blurRad="101600" dist="38100" dir="2700000">
              <a:srgbClr val="000000">
                <a:alpha val="14000"/>
              </a:srgbClr>
            </a:outerShdw>
          </a:effectLst>
        </p:spPr>
      </p:sp>
      <p:sp>
        <p:nvSpPr>
          <p:cNvPr id="20" name="Shape 15"/>
          <p:cNvSpPr/>
          <p:nvPr/>
        </p:nvSpPr>
        <p:spPr>
          <a:xfrm>
            <a:off x="8161020" y="2075688"/>
            <a:ext cx="566928" cy="566928"/>
          </a:xfrm>
          <a:prstGeom prst="ellipse">
            <a:avLst/>
          </a:prstGeom>
          <a:solidFill>
            <a:srgbClr val="FFFFFF"/>
          </a:solidFill>
          <a:ln/>
        </p:spPr>
      </p:sp>
      <p:pic>
        <p:nvPicPr>
          <p:cNvPr id="21" name="Image 3" descr="preencoded.png">    </p:cNvPr>
          <p:cNvPicPr>
            <a:picLocks noChangeAspect="1"/>
          </p:cNvPicPr>
          <p:nvPr/>
        </p:nvPicPr>
        <p:blipFill>
          <a:blip r:embed="rId4"/>
          <a:stretch>
            <a:fillRect/>
          </a:stretch>
        </p:blipFill>
        <p:spPr>
          <a:xfrm>
            <a:off x="8234721" y="2149389"/>
            <a:ext cx="419527" cy="419527"/>
          </a:xfrm>
          <a:prstGeom prst="rect">
            <a:avLst/>
          </a:prstGeom>
        </p:spPr>
      </p:pic>
      <p:sp>
        <p:nvSpPr>
          <p:cNvPr id="22" name="Text 16"/>
          <p:cNvSpPr/>
          <p:nvPr/>
        </p:nvSpPr>
        <p:spPr>
          <a:xfrm>
            <a:off x="7548372" y="2834640"/>
            <a:ext cx="1792224" cy="777240"/>
          </a:xfrm>
          <a:prstGeom prst="rect">
            <a:avLst/>
          </a:prstGeom>
          <a:noFill/>
          <a:ln/>
        </p:spPr>
        <p:txBody>
          <a:bodyPr wrap="square" rtlCol="0" anchor="ctr"/>
          <a:lstStyle/>
          <a:p>
            <a:pPr algn="ctr" indent="0" marL="0">
              <a:lnSpc>
                <a:spcPct val="110000"/>
              </a:lnSpc>
              <a:buNone/>
            </a:pPr>
            <a:r>
              <a:rPr lang="en-US" sz="1350" b="1" dirty="0">
                <a:solidFill>
                  <a:srgbClr val="1B1B2F"/>
                </a:solidFill>
                <a:latin typeface="Calibri" pitchFamily="34" charset="0"/>
                <a:ea typeface="Calibri" pitchFamily="34" charset="-122"/>
                <a:cs typeface="Calibri" pitchFamily="34" charset="-120"/>
              </a:rPr>
              <a:t>Automation vs. Employment</a:t>
            </a:r>
            <a:endParaRPr lang="en-US" sz="1350" dirty="0"/>
          </a:p>
        </p:txBody>
      </p:sp>
      <p:sp>
        <p:nvSpPr>
          <p:cNvPr id="23" name="Text 17"/>
          <p:cNvSpPr/>
          <p:nvPr/>
        </p:nvSpPr>
        <p:spPr>
          <a:xfrm>
            <a:off x="7548372" y="3657600"/>
            <a:ext cx="1792224" cy="1280160"/>
          </a:xfrm>
          <a:prstGeom prst="rect">
            <a:avLst/>
          </a:prstGeom>
          <a:noFill/>
          <a:ln/>
        </p:spPr>
        <p:txBody>
          <a:bodyPr wrap="square" rtlCol="0" anchor="ctr"/>
          <a:lstStyle/>
          <a:p>
            <a:pPr algn="ctr" indent="0" marL="0">
              <a:lnSpc>
                <a:spcPct val="125000"/>
              </a:lnSpc>
              <a:buNone/>
            </a:pPr>
            <a:r>
              <a:rPr lang="en-US" sz="1100" dirty="0">
                <a:solidFill>
                  <a:srgbClr val="6B6B80"/>
                </a:solidFill>
                <a:latin typeface="Calibri" pitchFamily="34" charset="0"/>
                <a:ea typeface="Calibri" pitchFamily="34" charset="-122"/>
                <a:cs typeface="Calibri" pitchFamily="34" charset="-120"/>
              </a:rPr>
              <a:t>Efficiency gains against workforce and social impact</a:t>
            </a:r>
            <a:endParaRPr lang="en-US" sz="1100" dirty="0"/>
          </a:p>
        </p:txBody>
      </p:sp>
      <p:sp>
        <p:nvSpPr>
          <p:cNvPr id="24" name="Shape 18"/>
          <p:cNvSpPr/>
          <p:nvPr/>
        </p:nvSpPr>
        <p:spPr>
          <a:xfrm>
            <a:off x="9656064" y="1783080"/>
            <a:ext cx="2084832" cy="3291840"/>
          </a:xfrm>
          <a:prstGeom prst="roundRect">
            <a:avLst>
              <a:gd name="adj" fmla="val 4386"/>
            </a:avLst>
          </a:prstGeom>
          <a:solidFill>
            <a:srgbClr val="F4F3F7"/>
          </a:solidFill>
          <a:ln/>
          <a:effectLst>
            <a:outerShdw sx="100000" sy="100000" kx="0" ky="0" algn="bl" rotWithShape="0" blurRad="101600" dist="38100" dir="2700000">
              <a:srgbClr val="000000">
                <a:alpha val="14000"/>
              </a:srgbClr>
            </a:outerShdw>
          </a:effectLst>
        </p:spPr>
      </p:sp>
      <p:sp>
        <p:nvSpPr>
          <p:cNvPr id="25" name="Shape 19"/>
          <p:cNvSpPr/>
          <p:nvPr/>
        </p:nvSpPr>
        <p:spPr>
          <a:xfrm>
            <a:off x="10415016" y="2075688"/>
            <a:ext cx="566928" cy="566928"/>
          </a:xfrm>
          <a:prstGeom prst="ellipse">
            <a:avLst/>
          </a:prstGeom>
          <a:solidFill>
            <a:srgbClr val="FFFFFF"/>
          </a:solidFill>
          <a:ln/>
        </p:spPr>
      </p:sp>
      <p:pic>
        <p:nvPicPr>
          <p:cNvPr id="26" name="Image 4" descr="preencoded.png">    </p:cNvPr>
          <p:cNvPicPr>
            <a:picLocks noChangeAspect="1"/>
          </p:cNvPicPr>
          <p:nvPr/>
        </p:nvPicPr>
        <p:blipFill>
          <a:blip r:embed="rId5"/>
          <a:stretch>
            <a:fillRect/>
          </a:stretch>
        </p:blipFill>
        <p:spPr>
          <a:xfrm>
            <a:off x="10488717" y="2149389"/>
            <a:ext cx="419527" cy="419527"/>
          </a:xfrm>
          <a:prstGeom prst="rect">
            <a:avLst/>
          </a:prstGeom>
        </p:spPr>
      </p:pic>
      <p:sp>
        <p:nvSpPr>
          <p:cNvPr id="27" name="Text 20"/>
          <p:cNvSpPr/>
          <p:nvPr/>
        </p:nvSpPr>
        <p:spPr>
          <a:xfrm>
            <a:off x="9802368" y="2834640"/>
            <a:ext cx="1792224" cy="777240"/>
          </a:xfrm>
          <a:prstGeom prst="rect">
            <a:avLst/>
          </a:prstGeom>
          <a:noFill/>
          <a:ln/>
        </p:spPr>
        <p:txBody>
          <a:bodyPr wrap="square" rtlCol="0" anchor="ctr"/>
          <a:lstStyle/>
          <a:p>
            <a:pPr algn="ctr" indent="0" marL="0">
              <a:lnSpc>
                <a:spcPct val="110000"/>
              </a:lnSpc>
              <a:buNone/>
            </a:pPr>
            <a:r>
              <a:rPr lang="en-US" sz="1350" b="1" dirty="0">
                <a:solidFill>
                  <a:srgbClr val="1B1B2F"/>
                </a:solidFill>
                <a:latin typeface="Calibri" pitchFamily="34" charset="0"/>
                <a:ea typeface="Calibri" pitchFamily="34" charset="-122"/>
                <a:cs typeface="Calibri" pitchFamily="34" charset="-120"/>
              </a:rPr>
              <a:t>Innovation vs. Safety</a:t>
            </a:r>
            <a:endParaRPr lang="en-US" sz="1350" dirty="0"/>
          </a:p>
        </p:txBody>
      </p:sp>
      <p:sp>
        <p:nvSpPr>
          <p:cNvPr id="28" name="Text 21"/>
          <p:cNvSpPr/>
          <p:nvPr/>
        </p:nvSpPr>
        <p:spPr>
          <a:xfrm>
            <a:off x="9802368" y="3657600"/>
            <a:ext cx="1792224" cy="1280160"/>
          </a:xfrm>
          <a:prstGeom prst="rect">
            <a:avLst/>
          </a:prstGeom>
          <a:noFill/>
          <a:ln/>
        </p:spPr>
        <p:txBody>
          <a:bodyPr wrap="square" rtlCol="0" anchor="ctr"/>
          <a:lstStyle/>
          <a:p>
            <a:pPr algn="ctr" indent="0" marL="0">
              <a:lnSpc>
                <a:spcPct val="125000"/>
              </a:lnSpc>
              <a:buNone/>
            </a:pPr>
            <a:r>
              <a:rPr lang="en-US" sz="1100" dirty="0">
                <a:solidFill>
                  <a:srgbClr val="6B6B80"/>
                </a:solidFill>
                <a:latin typeface="Calibri" pitchFamily="34" charset="0"/>
                <a:ea typeface="Calibri" pitchFamily="34" charset="-122"/>
                <a:cs typeface="Calibri" pitchFamily="34" charset="-120"/>
              </a:rPr>
              <a:t>Speed to market against responsible testing</a:t>
            </a:r>
            <a:endParaRPr lang="en-US" sz="1100" dirty="0"/>
          </a:p>
        </p:txBody>
      </p:sp>
      <p:sp>
        <p:nvSpPr>
          <p:cNvPr id="29" name="Text 22"/>
          <p:cNvSpPr/>
          <p:nvPr/>
        </p:nvSpPr>
        <p:spPr>
          <a:xfrm>
            <a:off x="11000232" y="6400800"/>
            <a:ext cx="914400" cy="320040"/>
          </a:xfrm>
          <a:prstGeom prst="rect">
            <a:avLst/>
          </a:prstGeom>
          <a:noFill/>
          <a:ln/>
        </p:spPr>
        <p:txBody>
          <a:bodyPr wrap="square" rtlCol="0" anchor="ctr"/>
          <a:lstStyle/>
          <a:p>
            <a:pPr algn="r" indent="0" marL="0">
              <a:buNone/>
            </a:pPr>
            <a:r>
              <a:rPr lang="en-US" sz="1000" dirty="0">
                <a:solidFill>
                  <a:srgbClr val="6B6B80"/>
                </a:solidFill>
                <a:latin typeface="Calibri" pitchFamily="34" charset="0"/>
                <a:ea typeface="Calibri" pitchFamily="34" charset="-122"/>
                <a:cs typeface="Calibri" pitchFamily="34" charset="-120"/>
              </a:rPr>
              <a:t>10 / 14</a:t>
            </a:r>
            <a:endParaRPr lang="en-US" sz="1000" dirty="0"/>
          </a:p>
        </p:txBody>
      </p:sp>
      <p:sp>
        <p:nvSpPr>
          <p:cNvPr id="30" name="Text 23"/>
          <p:cNvSpPr/>
          <p:nvPr/>
        </p:nvSpPr>
        <p:spPr>
          <a:xfrm>
            <a:off x="548640" y="6400800"/>
            <a:ext cx="5486400" cy="320040"/>
          </a:xfrm>
          <a:prstGeom prst="rect">
            <a:avLst/>
          </a:prstGeom>
          <a:noFill/>
          <a:ln/>
        </p:spPr>
        <p:txBody>
          <a:bodyPr wrap="square" rtlCol="0" anchor="ctr"/>
          <a:lstStyle/>
          <a:p>
            <a:pPr indent="0" marL="0">
              <a:buNone/>
            </a:pPr>
            <a:r>
              <a:rPr lang="en-US" sz="1000" spc="100" kern="0" dirty="0">
                <a:solidFill>
                  <a:srgbClr val="6B6B80"/>
                </a:solidFill>
                <a:latin typeface="Calibri" pitchFamily="34" charset="0"/>
                <a:ea typeface="Calibri" pitchFamily="34" charset="-122"/>
                <a:cs typeface="Calibri" pitchFamily="34" charset="-120"/>
              </a:rPr>
              <a:t>LACANIAN ETHICS IN THE DIGITAL AGE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36576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MODULE 7</a:t>
            </a:r>
            <a:endParaRPr lang="en-US" sz="1300" dirty="0"/>
          </a:p>
        </p:txBody>
      </p:sp>
      <p:sp>
        <p:nvSpPr>
          <p:cNvPr id="3" name="Text 1"/>
          <p:cNvSpPr/>
          <p:nvPr/>
        </p:nvSpPr>
        <p:spPr>
          <a:xfrm>
            <a:off x="640080" y="777240"/>
            <a:ext cx="9144000" cy="640080"/>
          </a:xfrm>
          <a:prstGeom prst="rect">
            <a:avLst/>
          </a:prstGeom>
          <a:noFill/>
          <a:ln/>
        </p:spPr>
        <p:txBody>
          <a:bodyPr wrap="square" rtlCol="0" anchor="ctr"/>
          <a:lstStyle/>
          <a:p>
            <a:pPr indent="0" marL="0">
              <a:buNone/>
            </a:pPr>
            <a:r>
              <a:rPr lang="en-US" sz="2800" b="1" dirty="0">
                <a:solidFill>
                  <a:srgbClr val="1B1B2F"/>
                </a:solidFill>
                <a:latin typeface="Cambria" pitchFamily="34" charset="0"/>
                <a:ea typeface="Cambria" pitchFamily="34" charset="-122"/>
                <a:cs typeface="Cambria" pitchFamily="34" charset="-120"/>
              </a:rPr>
              <a:t>Stakeholder Confrontations</a:t>
            </a:r>
            <a:endParaRPr lang="en-US" sz="2800" dirty="0"/>
          </a:p>
        </p:txBody>
      </p:sp>
      <p:sp>
        <p:nvSpPr>
          <p:cNvPr id="4" name="Text 2"/>
          <p:cNvSpPr/>
          <p:nvPr/>
        </p:nvSpPr>
        <p:spPr>
          <a:xfrm>
            <a:off x="640080" y="1371600"/>
            <a:ext cx="9144000" cy="365760"/>
          </a:xfrm>
          <a:prstGeom prst="rect">
            <a:avLst/>
          </a:prstGeom>
          <a:noFill/>
          <a:ln/>
        </p:spPr>
        <p:txBody>
          <a:bodyPr wrap="square" rtlCol="0" anchor="ctr"/>
          <a:lstStyle/>
          <a:p>
            <a:pPr indent="0" marL="0">
              <a:buNone/>
            </a:pPr>
            <a:r>
              <a:rPr lang="en-US" sz="1350" dirty="0">
                <a:solidFill>
                  <a:srgbClr val="6B6B80"/>
                </a:solidFill>
                <a:latin typeface="Calibri" pitchFamily="34" charset="0"/>
                <a:ea typeface="Calibri" pitchFamily="34" charset="-122"/>
                <a:cs typeface="Calibri" pitchFamily="34" charset="-120"/>
              </a:rPr>
              <a:t>Every stakeholder carries its own desire, identity, and symbolic commitment.</a:t>
            </a:r>
            <a:endParaRPr lang="en-US" sz="13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10881360" cy="4572000"/>
        </p:xfrm>
        <a:graphic>
          <a:graphicData uri="http://schemas.openxmlformats.org/drawingml/2006/table">
            <a:tbl>
              <a:tblPr/>
              <a:tblGrid>
                <a:gridCol w="2743200"/>
                <a:gridCol w="3931920"/>
                <a:gridCol w="4206240"/>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Stakeholder</a:t>
                      </a:r>
                      <a:endParaRPr lang="en-US" sz="1300" dirty="0">
                        <a:latin typeface="Calibri" charset="0"/>
                        <a:ea typeface="Calibri" charset="0"/>
                        <a:cs typeface="Calibri" charset="0"/>
                      </a:endParaRPr>
                    </a:p>
                  </a:txBody>
                  <a:tcPr marL="91440" marR="91440" marT="45720" marB="45720" anchor="ctr">
                    <a:lnL w="6350" cap="flat" cmpd="sng" algn="ctr">
                      <a:solidFill>
                        <a:srgbClr val="E3E1EC"/>
                      </a:solidFill>
                      <a:prstDash val="solid"/>
                      <a:round/>
                      <a:headEnd type="none" w="med" len="med"/>
                      <a:tailEnd type="none" w="med" len="med"/>
                    </a:lnL>
                    <a:lnR w="6350" cap="flat" cmpd="sng" algn="ctr">
                      <a:solidFill>
                        <a:srgbClr val="E3E1EC"/>
                      </a:solidFill>
                      <a:prstDash val="solid"/>
                      <a:round/>
                      <a:headEnd type="none" w="med" len="med"/>
                      <a:tailEnd type="none" w="med" len="med"/>
                    </a:lnR>
                    <a:lnT w="6350" cap="flat" cmpd="sng" algn="ctr">
                      <a:solidFill>
                        <a:srgbClr val="E3E1EC"/>
                      </a:solidFill>
                      <a:prstDash val="solid"/>
                      <a:round/>
                      <a:headEnd type="none" w="med" len="med"/>
                      <a:tailEnd type="none" w="med" len="med"/>
                    </a:lnT>
                    <a:lnB w="6350" cap="flat" cmpd="sng" algn="ctr">
                      <a:solidFill>
                        <a:srgbClr val="E3E1EC"/>
                      </a:solidFill>
                      <a:prstDash val="solid"/>
                      <a:round/>
                      <a:headEnd type="none" w="med" len="med"/>
                      <a:tailEnd type="none" w="med" len="med"/>
                    </a:lnB>
                    <a:solidFill>
                      <a:srgbClr val="1B1B2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Primary Concern</a:t>
                      </a:r>
                      <a:endParaRPr lang="en-US" sz="1300" dirty="0">
                        <a:latin typeface="Calibri" charset="0"/>
                        <a:ea typeface="Calibri" charset="0"/>
                        <a:cs typeface="Calibri" charset="0"/>
                      </a:endParaRPr>
                    </a:p>
                  </a:txBody>
                  <a:tcPr marL="91440" marR="91440" marT="45720" marB="45720" anchor="ctr">
                    <a:lnL w="6350" cap="flat" cmpd="sng" algn="ctr">
                      <a:solidFill>
                        <a:srgbClr val="E3E1EC"/>
                      </a:solidFill>
                      <a:prstDash val="solid"/>
                      <a:round/>
                      <a:headEnd type="none" w="med" len="med"/>
                      <a:tailEnd type="none" w="med" len="med"/>
                    </a:lnL>
                    <a:lnR w="6350" cap="flat" cmpd="sng" algn="ctr">
                      <a:solidFill>
                        <a:srgbClr val="E3E1EC"/>
                      </a:solidFill>
                      <a:prstDash val="solid"/>
                      <a:round/>
                      <a:headEnd type="none" w="med" len="med"/>
                      <a:tailEnd type="none" w="med" len="med"/>
                    </a:lnR>
                    <a:lnT w="6350" cap="flat" cmpd="sng" algn="ctr">
                      <a:solidFill>
                        <a:srgbClr val="E3E1EC"/>
                      </a:solidFill>
                      <a:prstDash val="solid"/>
                      <a:round/>
                      <a:headEnd type="none" w="med" len="med"/>
                      <a:tailEnd type="none" w="med" len="med"/>
                    </a:lnT>
                    <a:lnB w="6350" cap="flat" cmpd="sng" algn="ctr">
                      <a:solidFill>
                        <a:srgbClr val="E3E1EC"/>
                      </a:solidFill>
                      <a:prstDash val="solid"/>
                      <a:round/>
                      <a:headEnd type="none" w="med" len="med"/>
                      <a:tailEnd type="none" w="med" len="med"/>
                    </a:lnB>
                    <a:solidFill>
                      <a:srgbClr val="1B1B2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Potential Conflict</a:t>
                      </a:r>
                      <a:endParaRPr lang="en-US" sz="1300" dirty="0">
                        <a:latin typeface="Calibri" charset="0"/>
                        <a:ea typeface="Calibri" charset="0"/>
                        <a:cs typeface="Calibri" charset="0"/>
                      </a:endParaRPr>
                    </a:p>
                  </a:txBody>
                  <a:tcPr marL="91440" marR="91440" marT="45720" marB="45720" anchor="ctr">
                    <a:lnL w="6350" cap="flat" cmpd="sng" algn="ctr">
                      <a:solidFill>
                        <a:srgbClr val="E3E1EC"/>
                      </a:solidFill>
                      <a:prstDash val="solid"/>
                      <a:round/>
                      <a:headEnd type="none" w="med" len="med"/>
                      <a:tailEnd type="none" w="med" len="med"/>
                    </a:lnL>
                    <a:lnR w="6350" cap="flat" cmpd="sng" algn="ctr">
                      <a:solidFill>
                        <a:srgbClr val="E3E1EC"/>
                      </a:solidFill>
                      <a:prstDash val="solid"/>
                      <a:round/>
                      <a:headEnd type="none" w="med" len="med"/>
                      <a:tailEnd type="none" w="med" len="med"/>
                    </a:lnR>
                    <a:lnT w="6350" cap="flat" cmpd="sng" algn="ctr">
                      <a:solidFill>
                        <a:srgbClr val="E3E1EC"/>
                      </a:solidFill>
                      <a:prstDash val="solid"/>
                      <a:round/>
                      <a:headEnd type="none" w="med" len="med"/>
                      <a:tailEnd type="none" w="med" len="med"/>
                    </a:lnT>
                    <a:lnB w="6350" cap="flat" cmpd="sng" algn="ctr">
                      <a:solidFill>
                        <a:srgbClr val="E3E1EC"/>
                      </a:solidFill>
                      <a:prstDash val="solid"/>
                      <a:round/>
                      <a:headEnd type="none" w="med" len="med"/>
                      <a:tailEnd type="none" w="med" len="med"/>
                    </a:lnB>
                    <a:solidFill>
                      <a:srgbClr val="1B1B2F"/>
                    </a:solidFill>
                  </a:tcPr>
                </a:tc>
              </a:tr>
              <a:tr h="566928">
                <a:tc>
                  <a:txBody>
                    <a:bodyPr/>
                    <a:lstStyle/>
                    <a:p>
                      <a:pPr indent="0" marL="0">
                        <a:buNone/>
                      </a:pPr>
                      <a:r>
                        <a:rPr lang="en-US" sz="1300" b="1" dirty="0">
                          <a:solidFill>
                            <a:srgbClr val="1B1B2F"/>
                          </a:solidFill>
                          <a:latin typeface="Calibri" pitchFamily="34" charset="0"/>
                          <a:ea typeface="Calibri" pitchFamily="34" charset="-122"/>
                          <a:cs typeface="Calibri" pitchFamily="34" charset="-120"/>
                        </a:rPr>
                        <a:t>Shareholders</a:t>
                      </a:r>
                      <a:endParaRPr lang="en-US" sz="1300" dirty="0">
                        <a:latin typeface="Calibri" charset="0"/>
                        <a:ea typeface="Calibri" charset="0"/>
                        <a:cs typeface="Calibri" charset="0"/>
                      </a:endParaRPr>
                    </a:p>
                  </a:txBody>
                  <a:tcPr marL="91440" marR="91440" marT="45720" marB="45720" anchor="ctr">
                    <a:lnL w="6350" cap="flat" cmpd="sng" algn="ctr">
                      <a:solidFill>
                        <a:srgbClr val="E3E1EC"/>
                      </a:solidFill>
                      <a:prstDash val="solid"/>
                      <a:round/>
                      <a:headEnd type="none" w="med" len="med"/>
                      <a:tailEnd type="none" w="med" len="med"/>
                    </a:lnL>
                    <a:lnR w="6350" cap="flat" cmpd="sng" algn="ctr">
                      <a:solidFill>
                        <a:srgbClr val="E3E1EC"/>
                      </a:solidFill>
                      <a:prstDash val="solid"/>
                      <a:round/>
                      <a:headEnd type="none" w="med" len="med"/>
                      <a:tailEnd type="none" w="med" len="med"/>
                    </a:lnR>
                    <a:lnT w="6350" cap="flat" cmpd="sng" algn="ctr">
                      <a:solidFill>
                        <a:srgbClr val="E3E1EC"/>
                      </a:solidFill>
                      <a:prstDash val="solid"/>
                      <a:round/>
                      <a:headEnd type="none" w="med" len="med"/>
                      <a:tailEnd type="none" w="med" len="med"/>
                    </a:lnT>
                    <a:lnB w="6350" cap="flat" cmpd="sng" algn="ctr">
                      <a:solidFill>
                        <a:srgbClr val="E3E1EC"/>
                      </a:solidFill>
                      <a:prstDash val="solid"/>
                      <a:round/>
                      <a:headEnd type="none" w="med" len="med"/>
                      <a:tailEnd type="none" w="med" len="med"/>
                    </a:lnB>
                    <a:solidFill>
                      <a:srgbClr val="FFFFFF"/>
                    </a:solidFill>
                  </a:tcPr>
                </a:tc>
                <a:tc>
                  <a:txBody>
                    <a:bodyPr/>
                    <a:lstStyle/>
                    <a:p>
                      <a:pPr indent="0" marL="0">
                        <a:buNone/>
                      </a:pPr>
                      <a:r>
                        <a:rPr lang="en-US" sz="1300" dirty="0">
                          <a:solidFill>
                            <a:srgbClr val="6B6B80"/>
                          </a:solidFill>
                          <a:latin typeface="Calibri" pitchFamily="34" charset="0"/>
                          <a:ea typeface="Calibri" pitchFamily="34" charset="-122"/>
                          <a:cs typeface="Calibri" pitchFamily="34" charset="-120"/>
                        </a:rPr>
                        <a:t>Profitability</a:t>
                      </a:r>
                      <a:endParaRPr lang="en-US" sz="1300" dirty="0">
                        <a:latin typeface="Calibri" charset="0"/>
                        <a:ea typeface="Calibri" charset="0"/>
                        <a:cs typeface="Calibri" charset="0"/>
                      </a:endParaRPr>
                    </a:p>
                  </a:txBody>
                  <a:tcPr marL="91440" marR="91440" marT="45720" marB="45720" anchor="ctr">
                    <a:lnL w="6350" cap="flat" cmpd="sng" algn="ctr">
                      <a:solidFill>
                        <a:srgbClr val="E3E1EC"/>
                      </a:solidFill>
                      <a:prstDash val="solid"/>
                      <a:round/>
                      <a:headEnd type="none" w="med" len="med"/>
                      <a:tailEnd type="none" w="med" len="med"/>
                    </a:lnL>
                    <a:lnR w="6350" cap="flat" cmpd="sng" algn="ctr">
                      <a:solidFill>
                        <a:srgbClr val="E3E1EC"/>
                      </a:solidFill>
                      <a:prstDash val="solid"/>
                      <a:round/>
                      <a:headEnd type="none" w="med" len="med"/>
                      <a:tailEnd type="none" w="med" len="med"/>
                    </a:lnR>
                    <a:lnT w="6350" cap="flat" cmpd="sng" algn="ctr">
                      <a:solidFill>
                        <a:srgbClr val="E3E1EC"/>
                      </a:solidFill>
                      <a:prstDash val="solid"/>
                      <a:round/>
                      <a:headEnd type="none" w="med" len="med"/>
                      <a:tailEnd type="none" w="med" len="med"/>
                    </a:lnT>
                    <a:lnB w="6350" cap="flat" cmpd="sng" algn="ctr">
                      <a:solidFill>
                        <a:srgbClr val="E3E1EC"/>
                      </a:solidFill>
                      <a:prstDash val="solid"/>
                      <a:round/>
                      <a:headEnd type="none" w="med" len="med"/>
                      <a:tailEnd type="none" w="med" len="med"/>
                    </a:lnB>
                    <a:solidFill>
                      <a:srgbClr val="FFFFFF"/>
                    </a:solidFill>
                  </a:tcPr>
                </a:tc>
                <a:tc>
                  <a:txBody>
                    <a:bodyPr/>
                    <a:lstStyle/>
                    <a:p>
                      <a:pPr indent="0" marL="0">
                        <a:buNone/>
                      </a:pPr>
                      <a:r>
                        <a:rPr lang="en-US" sz="1300" dirty="0">
                          <a:solidFill>
                            <a:srgbClr val="6B6B80"/>
                          </a:solidFill>
                          <a:latin typeface="Calibri" pitchFamily="34" charset="0"/>
                          <a:ea typeface="Calibri" pitchFamily="34" charset="-122"/>
                          <a:cs typeface="Calibri" pitchFamily="34" charset="-120"/>
                        </a:rPr>
                        <a:t>Environmental investment</a:t>
                      </a:r>
                      <a:endParaRPr lang="en-US" sz="1300" dirty="0">
                        <a:latin typeface="Calibri" charset="0"/>
                        <a:ea typeface="Calibri" charset="0"/>
                        <a:cs typeface="Calibri" charset="0"/>
                      </a:endParaRPr>
                    </a:p>
                  </a:txBody>
                  <a:tcPr marL="91440" marR="91440" marT="45720" marB="45720" anchor="ctr">
                    <a:lnL w="6350" cap="flat" cmpd="sng" algn="ctr">
                      <a:solidFill>
                        <a:srgbClr val="E3E1EC"/>
                      </a:solidFill>
                      <a:prstDash val="solid"/>
                      <a:round/>
                      <a:headEnd type="none" w="med" len="med"/>
                      <a:tailEnd type="none" w="med" len="med"/>
                    </a:lnL>
                    <a:lnR w="6350" cap="flat" cmpd="sng" algn="ctr">
                      <a:solidFill>
                        <a:srgbClr val="E3E1EC"/>
                      </a:solidFill>
                      <a:prstDash val="solid"/>
                      <a:round/>
                      <a:headEnd type="none" w="med" len="med"/>
                      <a:tailEnd type="none" w="med" len="med"/>
                    </a:lnR>
                    <a:lnT w="6350" cap="flat" cmpd="sng" algn="ctr">
                      <a:solidFill>
                        <a:srgbClr val="E3E1EC"/>
                      </a:solidFill>
                      <a:prstDash val="solid"/>
                      <a:round/>
                      <a:headEnd type="none" w="med" len="med"/>
                      <a:tailEnd type="none" w="med" len="med"/>
                    </a:lnT>
                    <a:lnB w="6350" cap="flat" cmpd="sng" algn="ctr">
                      <a:solidFill>
                        <a:srgbClr val="E3E1EC"/>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1B2F"/>
                          </a:solidFill>
                          <a:latin typeface="Calibri" pitchFamily="34" charset="0"/>
                          <a:ea typeface="Calibri" pitchFamily="34" charset="-122"/>
                          <a:cs typeface="Calibri" pitchFamily="34" charset="-120"/>
                        </a:rPr>
                        <a:t>Employees</a:t>
                      </a:r>
                      <a:endParaRPr lang="en-US" sz="1300" dirty="0">
                        <a:latin typeface="Calibri" charset="0"/>
                        <a:ea typeface="Calibri" charset="0"/>
                        <a:cs typeface="Calibri" charset="0"/>
                      </a:endParaRPr>
                    </a:p>
                  </a:txBody>
                  <a:tcPr marL="91440" marR="91440" marT="45720" marB="45720" anchor="ctr">
                    <a:lnL w="6350" cap="flat" cmpd="sng" algn="ctr">
                      <a:solidFill>
                        <a:srgbClr val="E3E1EC"/>
                      </a:solidFill>
                      <a:prstDash val="solid"/>
                      <a:round/>
                      <a:headEnd type="none" w="med" len="med"/>
                      <a:tailEnd type="none" w="med" len="med"/>
                    </a:lnL>
                    <a:lnR w="6350" cap="flat" cmpd="sng" algn="ctr">
                      <a:solidFill>
                        <a:srgbClr val="E3E1EC"/>
                      </a:solidFill>
                      <a:prstDash val="solid"/>
                      <a:round/>
                      <a:headEnd type="none" w="med" len="med"/>
                      <a:tailEnd type="none" w="med" len="med"/>
                    </a:lnR>
                    <a:lnT w="6350" cap="flat" cmpd="sng" algn="ctr">
                      <a:solidFill>
                        <a:srgbClr val="E3E1EC"/>
                      </a:solidFill>
                      <a:prstDash val="solid"/>
                      <a:round/>
                      <a:headEnd type="none" w="med" len="med"/>
                      <a:tailEnd type="none" w="med" len="med"/>
                    </a:lnT>
                    <a:lnB w="6350" cap="flat" cmpd="sng" algn="ctr">
                      <a:solidFill>
                        <a:srgbClr val="E3E1EC"/>
                      </a:solidFill>
                      <a:prstDash val="solid"/>
                      <a:round/>
                      <a:headEnd type="none" w="med" len="med"/>
                      <a:tailEnd type="none" w="med" len="med"/>
                    </a:lnB>
                    <a:solidFill>
                      <a:srgbClr val="F4F3F7"/>
                    </a:solidFill>
                  </a:tcPr>
                </a:tc>
                <a:tc>
                  <a:txBody>
                    <a:bodyPr/>
                    <a:lstStyle/>
                    <a:p>
                      <a:pPr indent="0" marL="0">
                        <a:buNone/>
                      </a:pPr>
                      <a:r>
                        <a:rPr lang="en-US" sz="1300" dirty="0">
                          <a:solidFill>
                            <a:srgbClr val="6B6B80"/>
                          </a:solidFill>
                          <a:latin typeface="Calibri" pitchFamily="34" charset="0"/>
                          <a:ea typeface="Calibri" pitchFamily="34" charset="-122"/>
                          <a:cs typeface="Calibri" pitchFamily="34" charset="-120"/>
                        </a:rPr>
                        <a:t>Well-being</a:t>
                      </a:r>
                      <a:endParaRPr lang="en-US" sz="1300" dirty="0">
                        <a:latin typeface="Calibri" charset="0"/>
                        <a:ea typeface="Calibri" charset="0"/>
                        <a:cs typeface="Calibri" charset="0"/>
                      </a:endParaRPr>
                    </a:p>
                  </a:txBody>
                  <a:tcPr marL="91440" marR="91440" marT="45720" marB="45720" anchor="ctr">
                    <a:lnL w="6350" cap="flat" cmpd="sng" algn="ctr">
                      <a:solidFill>
                        <a:srgbClr val="E3E1EC"/>
                      </a:solidFill>
                      <a:prstDash val="solid"/>
                      <a:round/>
                      <a:headEnd type="none" w="med" len="med"/>
                      <a:tailEnd type="none" w="med" len="med"/>
                    </a:lnL>
                    <a:lnR w="6350" cap="flat" cmpd="sng" algn="ctr">
                      <a:solidFill>
                        <a:srgbClr val="E3E1EC"/>
                      </a:solidFill>
                      <a:prstDash val="solid"/>
                      <a:round/>
                      <a:headEnd type="none" w="med" len="med"/>
                      <a:tailEnd type="none" w="med" len="med"/>
                    </a:lnR>
                    <a:lnT w="6350" cap="flat" cmpd="sng" algn="ctr">
                      <a:solidFill>
                        <a:srgbClr val="E3E1EC"/>
                      </a:solidFill>
                      <a:prstDash val="solid"/>
                      <a:round/>
                      <a:headEnd type="none" w="med" len="med"/>
                      <a:tailEnd type="none" w="med" len="med"/>
                    </a:lnT>
                    <a:lnB w="6350" cap="flat" cmpd="sng" algn="ctr">
                      <a:solidFill>
                        <a:srgbClr val="E3E1EC"/>
                      </a:solidFill>
                      <a:prstDash val="solid"/>
                      <a:round/>
                      <a:headEnd type="none" w="med" len="med"/>
                      <a:tailEnd type="none" w="med" len="med"/>
                    </a:lnB>
                    <a:solidFill>
                      <a:srgbClr val="F4F3F7"/>
                    </a:solidFill>
                  </a:tcPr>
                </a:tc>
                <a:tc>
                  <a:txBody>
                    <a:bodyPr/>
                    <a:lstStyle/>
                    <a:p>
                      <a:pPr indent="0" marL="0">
                        <a:buNone/>
                      </a:pPr>
                      <a:r>
                        <a:rPr lang="en-US" sz="1300" dirty="0">
                          <a:solidFill>
                            <a:srgbClr val="6B6B80"/>
                          </a:solidFill>
                          <a:latin typeface="Calibri" pitchFamily="34" charset="0"/>
                          <a:ea typeface="Calibri" pitchFamily="34" charset="-122"/>
                          <a:cs typeface="Calibri" pitchFamily="34" charset="-120"/>
                        </a:rPr>
                        <a:t>Productivity expectations</a:t>
                      </a:r>
                      <a:endParaRPr lang="en-US" sz="1300" dirty="0">
                        <a:latin typeface="Calibri" charset="0"/>
                        <a:ea typeface="Calibri" charset="0"/>
                        <a:cs typeface="Calibri" charset="0"/>
                      </a:endParaRPr>
                    </a:p>
                  </a:txBody>
                  <a:tcPr marL="91440" marR="91440" marT="45720" marB="45720" anchor="ctr">
                    <a:lnL w="6350" cap="flat" cmpd="sng" algn="ctr">
                      <a:solidFill>
                        <a:srgbClr val="E3E1EC"/>
                      </a:solidFill>
                      <a:prstDash val="solid"/>
                      <a:round/>
                      <a:headEnd type="none" w="med" len="med"/>
                      <a:tailEnd type="none" w="med" len="med"/>
                    </a:lnL>
                    <a:lnR w="6350" cap="flat" cmpd="sng" algn="ctr">
                      <a:solidFill>
                        <a:srgbClr val="E3E1EC"/>
                      </a:solidFill>
                      <a:prstDash val="solid"/>
                      <a:round/>
                      <a:headEnd type="none" w="med" len="med"/>
                      <a:tailEnd type="none" w="med" len="med"/>
                    </a:lnR>
                    <a:lnT w="6350" cap="flat" cmpd="sng" algn="ctr">
                      <a:solidFill>
                        <a:srgbClr val="E3E1EC"/>
                      </a:solidFill>
                      <a:prstDash val="solid"/>
                      <a:round/>
                      <a:headEnd type="none" w="med" len="med"/>
                      <a:tailEnd type="none" w="med" len="med"/>
                    </a:lnT>
                    <a:lnB w="6350" cap="flat" cmpd="sng" algn="ctr">
                      <a:solidFill>
                        <a:srgbClr val="E3E1EC"/>
                      </a:solidFill>
                      <a:prstDash val="solid"/>
                      <a:round/>
                      <a:headEnd type="none" w="med" len="med"/>
                      <a:tailEnd type="none" w="med" len="med"/>
                    </a:lnB>
                    <a:solidFill>
                      <a:srgbClr val="F4F3F7"/>
                    </a:solidFill>
                  </a:tcPr>
                </a:tc>
              </a:tr>
              <a:tr h="566928">
                <a:tc>
                  <a:txBody>
                    <a:bodyPr/>
                    <a:lstStyle/>
                    <a:p>
                      <a:pPr indent="0" marL="0">
                        <a:buNone/>
                      </a:pPr>
                      <a:r>
                        <a:rPr lang="en-US" sz="1300" b="1" dirty="0">
                          <a:solidFill>
                            <a:srgbClr val="1B1B2F"/>
                          </a:solidFill>
                          <a:latin typeface="Calibri" pitchFamily="34" charset="0"/>
                          <a:ea typeface="Calibri" pitchFamily="34" charset="-122"/>
                          <a:cs typeface="Calibri" pitchFamily="34" charset="-120"/>
                        </a:rPr>
                        <a:t>Customers</a:t>
                      </a:r>
                      <a:endParaRPr lang="en-US" sz="1300" dirty="0">
                        <a:latin typeface="Calibri" charset="0"/>
                        <a:ea typeface="Calibri" charset="0"/>
                        <a:cs typeface="Calibri" charset="0"/>
                      </a:endParaRPr>
                    </a:p>
                  </a:txBody>
                  <a:tcPr marL="91440" marR="91440" marT="45720" marB="45720" anchor="ctr">
                    <a:lnL w="6350" cap="flat" cmpd="sng" algn="ctr">
                      <a:solidFill>
                        <a:srgbClr val="E3E1EC"/>
                      </a:solidFill>
                      <a:prstDash val="solid"/>
                      <a:round/>
                      <a:headEnd type="none" w="med" len="med"/>
                      <a:tailEnd type="none" w="med" len="med"/>
                    </a:lnL>
                    <a:lnR w="6350" cap="flat" cmpd="sng" algn="ctr">
                      <a:solidFill>
                        <a:srgbClr val="E3E1EC"/>
                      </a:solidFill>
                      <a:prstDash val="solid"/>
                      <a:round/>
                      <a:headEnd type="none" w="med" len="med"/>
                      <a:tailEnd type="none" w="med" len="med"/>
                    </a:lnR>
                    <a:lnT w="6350" cap="flat" cmpd="sng" algn="ctr">
                      <a:solidFill>
                        <a:srgbClr val="E3E1EC"/>
                      </a:solidFill>
                      <a:prstDash val="solid"/>
                      <a:round/>
                      <a:headEnd type="none" w="med" len="med"/>
                      <a:tailEnd type="none" w="med" len="med"/>
                    </a:lnT>
                    <a:lnB w="6350" cap="flat" cmpd="sng" algn="ctr">
                      <a:solidFill>
                        <a:srgbClr val="E3E1EC"/>
                      </a:solidFill>
                      <a:prstDash val="solid"/>
                      <a:round/>
                      <a:headEnd type="none" w="med" len="med"/>
                      <a:tailEnd type="none" w="med" len="med"/>
                    </a:lnB>
                    <a:solidFill>
                      <a:srgbClr val="FFFFFF"/>
                    </a:solidFill>
                  </a:tcPr>
                </a:tc>
                <a:tc>
                  <a:txBody>
                    <a:bodyPr/>
                    <a:lstStyle/>
                    <a:p>
                      <a:pPr indent="0" marL="0">
                        <a:buNone/>
                      </a:pPr>
                      <a:r>
                        <a:rPr lang="en-US" sz="1300" dirty="0">
                          <a:solidFill>
                            <a:srgbClr val="6B6B80"/>
                          </a:solidFill>
                          <a:latin typeface="Calibri" pitchFamily="34" charset="0"/>
                          <a:ea typeface="Calibri" pitchFamily="34" charset="-122"/>
                          <a:cs typeface="Calibri" pitchFamily="34" charset="-120"/>
                        </a:rPr>
                        <a:t>Convenience</a:t>
                      </a:r>
                      <a:endParaRPr lang="en-US" sz="1300" dirty="0">
                        <a:latin typeface="Calibri" charset="0"/>
                        <a:ea typeface="Calibri" charset="0"/>
                        <a:cs typeface="Calibri" charset="0"/>
                      </a:endParaRPr>
                    </a:p>
                  </a:txBody>
                  <a:tcPr marL="91440" marR="91440" marT="45720" marB="45720" anchor="ctr">
                    <a:lnL w="6350" cap="flat" cmpd="sng" algn="ctr">
                      <a:solidFill>
                        <a:srgbClr val="E3E1EC"/>
                      </a:solidFill>
                      <a:prstDash val="solid"/>
                      <a:round/>
                      <a:headEnd type="none" w="med" len="med"/>
                      <a:tailEnd type="none" w="med" len="med"/>
                    </a:lnL>
                    <a:lnR w="6350" cap="flat" cmpd="sng" algn="ctr">
                      <a:solidFill>
                        <a:srgbClr val="E3E1EC"/>
                      </a:solidFill>
                      <a:prstDash val="solid"/>
                      <a:round/>
                      <a:headEnd type="none" w="med" len="med"/>
                      <a:tailEnd type="none" w="med" len="med"/>
                    </a:lnR>
                    <a:lnT w="6350" cap="flat" cmpd="sng" algn="ctr">
                      <a:solidFill>
                        <a:srgbClr val="E3E1EC"/>
                      </a:solidFill>
                      <a:prstDash val="solid"/>
                      <a:round/>
                      <a:headEnd type="none" w="med" len="med"/>
                      <a:tailEnd type="none" w="med" len="med"/>
                    </a:lnT>
                    <a:lnB w="6350" cap="flat" cmpd="sng" algn="ctr">
                      <a:solidFill>
                        <a:srgbClr val="E3E1EC"/>
                      </a:solidFill>
                      <a:prstDash val="solid"/>
                      <a:round/>
                      <a:headEnd type="none" w="med" len="med"/>
                      <a:tailEnd type="none" w="med" len="med"/>
                    </a:lnB>
                    <a:solidFill>
                      <a:srgbClr val="FFFFFF"/>
                    </a:solidFill>
                  </a:tcPr>
                </a:tc>
                <a:tc>
                  <a:txBody>
                    <a:bodyPr/>
                    <a:lstStyle/>
                    <a:p>
                      <a:pPr indent="0" marL="0">
                        <a:buNone/>
                      </a:pPr>
                      <a:r>
                        <a:rPr lang="en-US" sz="1300" dirty="0">
                          <a:solidFill>
                            <a:srgbClr val="6B6B80"/>
                          </a:solidFill>
                          <a:latin typeface="Calibri" pitchFamily="34" charset="0"/>
                          <a:ea typeface="Calibri" pitchFamily="34" charset="-122"/>
                          <a:cs typeface="Calibri" pitchFamily="34" charset="-120"/>
                        </a:rPr>
                        <a:t>Privacy protection</a:t>
                      </a:r>
                      <a:endParaRPr lang="en-US" sz="1300" dirty="0">
                        <a:latin typeface="Calibri" charset="0"/>
                        <a:ea typeface="Calibri" charset="0"/>
                        <a:cs typeface="Calibri" charset="0"/>
                      </a:endParaRPr>
                    </a:p>
                  </a:txBody>
                  <a:tcPr marL="91440" marR="91440" marT="45720" marB="45720" anchor="ctr">
                    <a:lnL w="6350" cap="flat" cmpd="sng" algn="ctr">
                      <a:solidFill>
                        <a:srgbClr val="E3E1EC"/>
                      </a:solidFill>
                      <a:prstDash val="solid"/>
                      <a:round/>
                      <a:headEnd type="none" w="med" len="med"/>
                      <a:tailEnd type="none" w="med" len="med"/>
                    </a:lnL>
                    <a:lnR w="6350" cap="flat" cmpd="sng" algn="ctr">
                      <a:solidFill>
                        <a:srgbClr val="E3E1EC"/>
                      </a:solidFill>
                      <a:prstDash val="solid"/>
                      <a:round/>
                      <a:headEnd type="none" w="med" len="med"/>
                      <a:tailEnd type="none" w="med" len="med"/>
                    </a:lnR>
                    <a:lnT w="6350" cap="flat" cmpd="sng" algn="ctr">
                      <a:solidFill>
                        <a:srgbClr val="E3E1EC"/>
                      </a:solidFill>
                      <a:prstDash val="solid"/>
                      <a:round/>
                      <a:headEnd type="none" w="med" len="med"/>
                      <a:tailEnd type="none" w="med" len="med"/>
                    </a:lnT>
                    <a:lnB w="6350" cap="flat" cmpd="sng" algn="ctr">
                      <a:solidFill>
                        <a:srgbClr val="E3E1EC"/>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1B2F"/>
                          </a:solidFill>
                          <a:latin typeface="Calibri" pitchFamily="34" charset="0"/>
                          <a:ea typeface="Calibri" pitchFamily="34" charset="-122"/>
                          <a:cs typeface="Calibri" pitchFamily="34" charset="-120"/>
                        </a:rPr>
                        <a:t>Governments</a:t>
                      </a:r>
                      <a:endParaRPr lang="en-US" sz="1300" dirty="0">
                        <a:latin typeface="Calibri" charset="0"/>
                        <a:ea typeface="Calibri" charset="0"/>
                        <a:cs typeface="Calibri" charset="0"/>
                      </a:endParaRPr>
                    </a:p>
                  </a:txBody>
                  <a:tcPr marL="91440" marR="91440" marT="45720" marB="45720" anchor="ctr">
                    <a:lnL w="6350" cap="flat" cmpd="sng" algn="ctr">
                      <a:solidFill>
                        <a:srgbClr val="E3E1EC"/>
                      </a:solidFill>
                      <a:prstDash val="solid"/>
                      <a:round/>
                      <a:headEnd type="none" w="med" len="med"/>
                      <a:tailEnd type="none" w="med" len="med"/>
                    </a:lnL>
                    <a:lnR w="6350" cap="flat" cmpd="sng" algn="ctr">
                      <a:solidFill>
                        <a:srgbClr val="E3E1EC"/>
                      </a:solidFill>
                      <a:prstDash val="solid"/>
                      <a:round/>
                      <a:headEnd type="none" w="med" len="med"/>
                      <a:tailEnd type="none" w="med" len="med"/>
                    </a:lnR>
                    <a:lnT w="6350" cap="flat" cmpd="sng" algn="ctr">
                      <a:solidFill>
                        <a:srgbClr val="E3E1EC"/>
                      </a:solidFill>
                      <a:prstDash val="solid"/>
                      <a:round/>
                      <a:headEnd type="none" w="med" len="med"/>
                      <a:tailEnd type="none" w="med" len="med"/>
                    </a:lnT>
                    <a:lnB w="6350" cap="flat" cmpd="sng" algn="ctr">
                      <a:solidFill>
                        <a:srgbClr val="E3E1EC"/>
                      </a:solidFill>
                      <a:prstDash val="solid"/>
                      <a:round/>
                      <a:headEnd type="none" w="med" len="med"/>
                      <a:tailEnd type="none" w="med" len="med"/>
                    </a:lnB>
                    <a:solidFill>
                      <a:srgbClr val="F4F3F7"/>
                    </a:solidFill>
                  </a:tcPr>
                </a:tc>
                <a:tc>
                  <a:txBody>
                    <a:bodyPr/>
                    <a:lstStyle/>
                    <a:p>
                      <a:pPr indent="0" marL="0">
                        <a:buNone/>
                      </a:pPr>
                      <a:r>
                        <a:rPr lang="en-US" sz="1300" dirty="0">
                          <a:solidFill>
                            <a:srgbClr val="6B6B80"/>
                          </a:solidFill>
                          <a:latin typeface="Calibri" pitchFamily="34" charset="0"/>
                          <a:ea typeface="Calibri" pitchFamily="34" charset="-122"/>
                          <a:cs typeface="Calibri" pitchFamily="34" charset="-120"/>
                        </a:rPr>
                        <a:t>Regulation</a:t>
                      </a:r>
                      <a:endParaRPr lang="en-US" sz="1300" dirty="0">
                        <a:latin typeface="Calibri" charset="0"/>
                        <a:ea typeface="Calibri" charset="0"/>
                        <a:cs typeface="Calibri" charset="0"/>
                      </a:endParaRPr>
                    </a:p>
                  </a:txBody>
                  <a:tcPr marL="91440" marR="91440" marT="45720" marB="45720" anchor="ctr">
                    <a:lnL w="6350" cap="flat" cmpd="sng" algn="ctr">
                      <a:solidFill>
                        <a:srgbClr val="E3E1EC"/>
                      </a:solidFill>
                      <a:prstDash val="solid"/>
                      <a:round/>
                      <a:headEnd type="none" w="med" len="med"/>
                      <a:tailEnd type="none" w="med" len="med"/>
                    </a:lnL>
                    <a:lnR w="6350" cap="flat" cmpd="sng" algn="ctr">
                      <a:solidFill>
                        <a:srgbClr val="E3E1EC"/>
                      </a:solidFill>
                      <a:prstDash val="solid"/>
                      <a:round/>
                      <a:headEnd type="none" w="med" len="med"/>
                      <a:tailEnd type="none" w="med" len="med"/>
                    </a:lnR>
                    <a:lnT w="6350" cap="flat" cmpd="sng" algn="ctr">
                      <a:solidFill>
                        <a:srgbClr val="E3E1EC"/>
                      </a:solidFill>
                      <a:prstDash val="solid"/>
                      <a:round/>
                      <a:headEnd type="none" w="med" len="med"/>
                      <a:tailEnd type="none" w="med" len="med"/>
                    </a:lnT>
                    <a:lnB w="6350" cap="flat" cmpd="sng" algn="ctr">
                      <a:solidFill>
                        <a:srgbClr val="E3E1EC"/>
                      </a:solidFill>
                      <a:prstDash val="solid"/>
                      <a:round/>
                      <a:headEnd type="none" w="med" len="med"/>
                      <a:tailEnd type="none" w="med" len="med"/>
                    </a:lnB>
                    <a:solidFill>
                      <a:srgbClr val="F4F3F7"/>
                    </a:solidFill>
                  </a:tcPr>
                </a:tc>
                <a:tc>
                  <a:txBody>
                    <a:bodyPr/>
                    <a:lstStyle/>
                    <a:p>
                      <a:pPr indent="0" marL="0">
                        <a:buNone/>
                      </a:pPr>
                      <a:r>
                        <a:rPr lang="en-US" sz="1300" dirty="0">
                          <a:solidFill>
                            <a:srgbClr val="6B6B80"/>
                          </a:solidFill>
                          <a:latin typeface="Calibri" pitchFamily="34" charset="0"/>
                          <a:ea typeface="Calibri" pitchFamily="34" charset="-122"/>
                          <a:cs typeface="Calibri" pitchFamily="34" charset="-120"/>
                        </a:rPr>
                        <a:t>Business flexibility</a:t>
                      </a:r>
                      <a:endParaRPr lang="en-US" sz="1300" dirty="0">
                        <a:latin typeface="Calibri" charset="0"/>
                        <a:ea typeface="Calibri" charset="0"/>
                        <a:cs typeface="Calibri" charset="0"/>
                      </a:endParaRPr>
                    </a:p>
                  </a:txBody>
                  <a:tcPr marL="91440" marR="91440" marT="45720" marB="45720" anchor="ctr">
                    <a:lnL w="6350" cap="flat" cmpd="sng" algn="ctr">
                      <a:solidFill>
                        <a:srgbClr val="E3E1EC"/>
                      </a:solidFill>
                      <a:prstDash val="solid"/>
                      <a:round/>
                      <a:headEnd type="none" w="med" len="med"/>
                      <a:tailEnd type="none" w="med" len="med"/>
                    </a:lnL>
                    <a:lnR w="6350" cap="flat" cmpd="sng" algn="ctr">
                      <a:solidFill>
                        <a:srgbClr val="E3E1EC"/>
                      </a:solidFill>
                      <a:prstDash val="solid"/>
                      <a:round/>
                      <a:headEnd type="none" w="med" len="med"/>
                      <a:tailEnd type="none" w="med" len="med"/>
                    </a:lnR>
                    <a:lnT w="6350" cap="flat" cmpd="sng" algn="ctr">
                      <a:solidFill>
                        <a:srgbClr val="E3E1EC"/>
                      </a:solidFill>
                      <a:prstDash val="solid"/>
                      <a:round/>
                      <a:headEnd type="none" w="med" len="med"/>
                      <a:tailEnd type="none" w="med" len="med"/>
                    </a:lnT>
                    <a:lnB w="6350" cap="flat" cmpd="sng" algn="ctr">
                      <a:solidFill>
                        <a:srgbClr val="E3E1EC"/>
                      </a:solidFill>
                      <a:prstDash val="solid"/>
                      <a:round/>
                      <a:headEnd type="none" w="med" len="med"/>
                      <a:tailEnd type="none" w="med" len="med"/>
                    </a:lnB>
                    <a:solidFill>
                      <a:srgbClr val="F4F3F7"/>
                    </a:solidFill>
                  </a:tcPr>
                </a:tc>
              </a:tr>
              <a:tr h="566928">
                <a:tc>
                  <a:txBody>
                    <a:bodyPr/>
                    <a:lstStyle/>
                    <a:p>
                      <a:pPr indent="0" marL="0">
                        <a:buNone/>
                      </a:pPr>
                      <a:r>
                        <a:rPr lang="en-US" sz="1300" b="1" dirty="0">
                          <a:solidFill>
                            <a:srgbClr val="1B1B2F"/>
                          </a:solidFill>
                          <a:latin typeface="Calibri" pitchFamily="34" charset="0"/>
                          <a:ea typeface="Calibri" pitchFamily="34" charset="-122"/>
                          <a:cs typeface="Calibri" pitchFamily="34" charset="-120"/>
                        </a:rPr>
                        <a:t>Communities</a:t>
                      </a:r>
                      <a:endParaRPr lang="en-US" sz="1300" dirty="0">
                        <a:latin typeface="Calibri" charset="0"/>
                        <a:ea typeface="Calibri" charset="0"/>
                        <a:cs typeface="Calibri" charset="0"/>
                      </a:endParaRPr>
                    </a:p>
                  </a:txBody>
                  <a:tcPr marL="91440" marR="91440" marT="45720" marB="45720" anchor="ctr">
                    <a:lnL w="6350" cap="flat" cmpd="sng" algn="ctr">
                      <a:solidFill>
                        <a:srgbClr val="E3E1EC"/>
                      </a:solidFill>
                      <a:prstDash val="solid"/>
                      <a:round/>
                      <a:headEnd type="none" w="med" len="med"/>
                      <a:tailEnd type="none" w="med" len="med"/>
                    </a:lnL>
                    <a:lnR w="6350" cap="flat" cmpd="sng" algn="ctr">
                      <a:solidFill>
                        <a:srgbClr val="E3E1EC"/>
                      </a:solidFill>
                      <a:prstDash val="solid"/>
                      <a:round/>
                      <a:headEnd type="none" w="med" len="med"/>
                      <a:tailEnd type="none" w="med" len="med"/>
                    </a:lnR>
                    <a:lnT w="6350" cap="flat" cmpd="sng" algn="ctr">
                      <a:solidFill>
                        <a:srgbClr val="E3E1EC"/>
                      </a:solidFill>
                      <a:prstDash val="solid"/>
                      <a:round/>
                      <a:headEnd type="none" w="med" len="med"/>
                      <a:tailEnd type="none" w="med" len="med"/>
                    </a:lnT>
                    <a:lnB w="6350" cap="flat" cmpd="sng" algn="ctr">
                      <a:solidFill>
                        <a:srgbClr val="E3E1EC"/>
                      </a:solidFill>
                      <a:prstDash val="solid"/>
                      <a:round/>
                      <a:headEnd type="none" w="med" len="med"/>
                      <a:tailEnd type="none" w="med" len="med"/>
                    </a:lnB>
                    <a:solidFill>
                      <a:srgbClr val="FFFFFF"/>
                    </a:solidFill>
                  </a:tcPr>
                </a:tc>
                <a:tc>
                  <a:txBody>
                    <a:bodyPr/>
                    <a:lstStyle/>
                    <a:p>
                      <a:pPr indent="0" marL="0">
                        <a:buNone/>
                      </a:pPr>
                      <a:r>
                        <a:rPr lang="en-US" sz="1300" dirty="0">
                          <a:solidFill>
                            <a:srgbClr val="6B6B80"/>
                          </a:solidFill>
                          <a:latin typeface="Calibri" pitchFamily="34" charset="0"/>
                          <a:ea typeface="Calibri" pitchFamily="34" charset="-122"/>
                          <a:cs typeface="Calibri" pitchFamily="34" charset="-120"/>
                        </a:rPr>
                        <a:t>Sustainability</a:t>
                      </a:r>
                      <a:endParaRPr lang="en-US" sz="1300" dirty="0">
                        <a:latin typeface="Calibri" charset="0"/>
                        <a:ea typeface="Calibri" charset="0"/>
                        <a:cs typeface="Calibri" charset="0"/>
                      </a:endParaRPr>
                    </a:p>
                  </a:txBody>
                  <a:tcPr marL="91440" marR="91440" marT="45720" marB="45720" anchor="ctr">
                    <a:lnL w="6350" cap="flat" cmpd="sng" algn="ctr">
                      <a:solidFill>
                        <a:srgbClr val="E3E1EC"/>
                      </a:solidFill>
                      <a:prstDash val="solid"/>
                      <a:round/>
                      <a:headEnd type="none" w="med" len="med"/>
                      <a:tailEnd type="none" w="med" len="med"/>
                    </a:lnL>
                    <a:lnR w="6350" cap="flat" cmpd="sng" algn="ctr">
                      <a:solidFill>
                        <a:srgbClr val="E3E1EC"/>
                      </a:solidFill>
                      <a:prstDash val="solid"/>
                      <a:round/>
                      <a:headEnd type="none" w="med" len="med"/>
                      <a:tailEnd type="none" w="med" len="med"/>
                    </a:lnR>
                    <a:lnT w="6350" cap="flat" cmpd="sng" algn="ctr">
                      <a:solidFill>
                        <a:srgbClr val="E3E1EC"/>
                      </a:solidFill>
                      <a:prstDash val="solid"/>
                      <a:round/>
                      <a:headEnd type="none" w="med" len="med"/>
                      <a:tailEnd type="none" w="med" len="med"/>
                    </a:lnT>
                    <a:lnB w="6350" cap="flat" cmpd="sng" algn="ctr">
                      <a:solidFill>
                        <a:srgbClr val="E3E1EC"/>
                      </a:solidFill>
                      <a:prstDash val="solid"/>
                      <a:round/>
                      <a:headEnd type="none" w="med" len="med"/>
                      <a:tailEnd type="none" w="med" len="med"/>
                    </a:lnB>
                    <a:solidFill>
                      <a:srgbClr val="FFFFFF"/>
                    </a:solidFill>
                  </a:tcPr>
                </a:tc>
                <a:tc>
                  <a:txBody>
                    <a:bodyPr/>
                    <a:lstStyle/>
                    <a:p>
                      <a:pPr indent="0" marL="0">
                        <a:buNone/>
                      </a:pPr>
                      <a:r>
                        <a:rPr lang="en-US" sz="1300" dirty="0">
                          <a:solidFill>
                            <a:srgbClr val="6B6B80"/>
                          </a:solidFill>
                          <a:latin typeface="Calibri" pitchFamily="34" charset="0"/>
                          <a:ea typeface="Calibri" pitchFamily="34" charset="-122"/>
                          <a:cs typeface="Calibri" pitchFamily="34" charset="-120"/>
                        </a:rPr>
                        <a:t>Industrial expansion</a:t>
                      </a:r>
                      <a:endParaRPr lang="en-US" sz="1300" dirty="0">
                        <a:latin typeface="Calibri" charset="0"/>
                        <a:ea typeface="Calibri" charset="0"/>
                        <a:cs typeface="Calibri" charset="0"/>
                      </a:endParaRPr>
                    </a:p>
                  </a:txBody>
                  <a:tcPr marL="91440" marR="91440" marT="45720" marB="45720" anchor="ctr">
                    <a:lnL w="6350" cap="flat" cmpd="sng" algn="ctr">
                      <a:solidFill>
                        <a:srgbClr val="E3E1EC"/>
                      </a:solidFill>
                      <a:prstDash val="solid"/>
                      <a:round/>
                      <a:headEnd type="none" w="med" len="med"/>
                      <a:tailEnd type="none" w="med" len="med"/>
                    </a:lnL>
                    <a:lnR w="6350" cap="flat" cmpd="sng" algn="ctr">
                      <a:solidFill>
                        <a:srgbClr val="E3E1EC"/>
                      </a:solidFill>
                      <a:prstDash val="solid"/>
                      <a:round/>
                      <a:headEnd type="none" w="med" len="med"/>
                      <a:tailEnd type="none" w="med" len="med"/>
                    </a:lnR>
                    <a:lnT w="6350" cap="flat" cmpd="sng" algn="ctr">
                      <a:solidFill>
                        <a:srgbClr val="E3E1EC"/>
                      </a:solidFill>
                      <a:prstDash val="solid"/>
                      <a:round/>
                      <a:headEnd type="none" w="med" len="med"/>
                      <a:tailEnd type="none" w="med" len="med"/>
                    </a:lnT>
                    <a:lnB w="6350" cap="flat" cmpd="sng" algn="ctr">
                      <a:solidFill>
                        <a:srgbClr val="E3E1EC"/>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1B2F"/>
                          </a:solidFill>
                          <a:latin typeface="Calibri" pitchFamily="34" charset="0"/>
                          <a:ea typeface="Calibri" pitchFamily="34" charset="-122"/>
                          <a:cs typeface="Calibri" pitchFamily="34" charset="-120"/>
                        </a:rPr>
                        <a:t>Environment</a:t>
                      </a:r>
                      <a:endParaRPr lang="en-US" sz="1300" dirty="0">
                        <a:latin typeface="Calibri" charset="0"/>
                        <a:ea typeface="Calibri" charset="0"/>
                        <a:cs typeface="Calibri" charset="0"/>
                      </a:endParaRPr>
                    </a:p>
                  </a:txBody>
                  <a:tcPr marL="91440" marR="91440" marT="45720" marB="45720" anchor="ctr">
                    <a:lnL w="6350" cap="flat" cmpd="sng" algn="ctr">
                      <a:solidFill>
                        <a:srgbClr val="E3E1EC"/>
                      </a:solidFill>
                      <a:prstDash val="solid"/>
                      <a:round/>
                      <a:headEnd type="none" w="med" len="med"/>
                      <a:tailEnd type="none" w="med" len="med"/>
                    </a:lnL>
                    <a:lnR w="6350" cap="flat" cmpd="sng" algn="ctr">
                      <a:solidFill>
                        <a:srgbClr val="E3E1EC"/>
                      </a:solidFill>
                      <a:prstDash val="solid"/>
                      <a:round/>
                      <a:headEnd type="none" w="med" len="med"/>
                      <a:tailEnd type="none" w="med" len="med"/>
                    </a:lnR>
                    <a:lnT w="6350" cap="flat" cmpd="sng" algn="ctr">
                      <a:solidFill>
                        <a:srgbClr val="E3E1EC"/>
                      </a:solidFill>
                      <a:prstDash val="solid"/>
                      <a:round/>
                      <a:headEnd type="none" w="med" len="med"/>
                      <a:tailEnd type="none" w="med" len="med"/>
                    </a:lnT>
                    <a:lnB w="6350" cap="flat" cmpd="sng" algn="ctr">
                      <a:solidFill>
                        <a:srgbClr val="E3E1EC"/>
                      </a:solidFill>
                      <a:prstDash val="solid"/>
                      <a:round/>
                      <a:headEnd type="none" w="med" len="med"/>
                      <a:tailEnd type="none" w="med" len="med"/>
                    </a:lnB>
                    <a:solidFill>
                      <a:srgbClr val="F4F3F7"/>
                    </a:solidFill>
                  </a:tcPr>
                </a:tc>
                <a:tc>
                  <a:txBody>
                    <a:bodyPr/>
                    <a:lstStyle/>
                    <a:p>
                      <a:pPr indent="0" marL="0">
                        <a:buNone/>
                      </a:pPr>
                      <a:r>
                        <a:rPr lang="en-US" sz="1300" dirty="0">
                          <a:solidFill>
                            <a:srgbClr val="6B6B80"/>
                          </a:solidFill>
                          <a:latin typeface="Calibri" pitchFamily="34" charset="0"/>
                          <a:ea typeface="Calibri" pitchFamily="34" charset="-122"/>
                          <a:cs typeface="Calibri" pitchFamily="34" charset="-120"/>
                        </a:rPr>
                        <a:t>Ecological preservation</a:t>
                      </a:r>
                      <a:endParaRPr lang="en-US" sz="1300" dirty="0">
                        <a:latin typeface="Calibri" charset="0"/>
                        <a:ea typeface="Calibri" charset="0"/>
                        <a:cs typeface="Calibri" charset="0"/>
                      </a:endParaRPr>
                    </a:p>
                  </a:txBody>
                  <a:tcPr marL="91440" marR="91440" marT="45720" marB="45720" anchor="ctr">
                    <a:lnL w="6350" cap="flat" cmpd="sng" algn="ctr">
                      <a:solidFill>
                        <a:srgbClr val="E3E1EC"/>
                      </a:solidFill>
                      <a:prstDash val="solid"/>
                      <a:round/>
                      <a:headEnd type="none" w="med" len="med"/>
                      <a:tailEnd type="none" w="med" len="med"/>
                    </a:lnL>
                    <a:lnR w="6350" cap="flat" cmpd="sng" algn="ctr">
                      <a:solidFill>
                        <a:srgbClr val="E3E1EC"/>
                      </a:solidFill>
                      <a:prstDash val="solid"/>
                      <a:round/>
                      <a:headEnd type="none" w="med" len="med"/>
                      <a:tailEnd type="none" w="med" len="med"/>
                    </a:lnR>
                    <a:lnT w="6350" cap="flat" cmpd="sng" algn="ctr">
                      <a:solidFill>
                        <a:srgbClr val="E3E1EC"/>
                      </a:solidFill>
                      <a:prstDash val="solid"/>
                      <a:round/>
                      <a:headEnd type="none" w="med" len="med"/>
                      <a:tailEnd type="none" w="med" len="med"/>
                    </a:lnT>
                    <a:lnB w="6350" cap="flat" cmpd="sng" algn="ctr">
                      <a:solidFill>
                        <a:srgbClr val="E3E1EC"/>
                      </a:solidFill>
                      <a:prstDash val="solid"/>
                      <a:round/>
                      <a:headEnd type="none" w="med" len="med"/>
                      <a:tailEnd type="none" w="med" len="med"/>
                    </a:lnB>
                    <a:solidFill>
                      <a:srgbClr val="F4F3F7"/>
                    </a:solidFill>
                  </a:tcPr>
                </a:tc>
                <a:tc>
                  <a:txBody>
                    <a:bodyPr/>
                    <a:lstStyle/>
                    <a:p>
                      <a:pPr indent="0" marL="0">
                        <a:buNone/>
                      </a:pPr>
                      <a:r>
                        <a:rPr lang="en-US" sz="1300" dirty="0">
                          <a:solidFill>
                            <a:srgbClr val="6B6B80"/>
                          </a:solidFill>
                          <a:latin typeface="Calibri" pitchFamily="34" charset="0"/>
                          <a:ea typeface="Calibri" pitchFamily="34" charset="-122"/>
                          <a:cs typeface="Calibri" pitchFamily="34" charset="-120"/>
                        </a:rPr>
                        <a:t>Resource extraction</a:t>
                      </a:r>
                      <a:endParaRPr lang="en-US" sz="1300" dirty="0">
                        <a:latin typeface="Calibri" charset="0"/>
                        <a:ea typeface="Calibri" charset="0"/>
                        <a:cs typeface="Calibri" charset="0"/>
                      </a:endParaRPr>
                    </a:p>
                  </a:txBody>
                  <a:tcPr marL="91440" marR="91440" marT="45720" marB="45720" anchor="ctr">
                    <a:lnL w="6350" cap="flat" cmpd="sng" algn="ctr">
                      <a:solidFill>
                        <a:srgbClr val="E3E1EC"/>
                      </a:solidFill>
                      <a:prstDash val="solid"/>
                      <a:round/>
                      <a:headEnd type="none" w="med" len="med"/>
                      <a:tailEnd type="none" w="med" len="med"/>
                    </a:lnL>
                    <a:lnR w="6350" cap="flat" cmpd="sng" algn="ctr">
                      <a:solidFill>
                        <a:srgbClr val="E3E1EC"/>
                      </a:solidFill>
                      <a:prstDash val="solid"/>
                      <a:round/>
                      <a:headEnd type="none" w="med" len="med"/>
                      <a:tailEnd type="none" w="med" len="med"/>
                    </a:lnR>
                    <a:lnT w="6350" cap="flat" cmpd="sng" algn="ctr">
                      <a:solidFill>
                        <a:srgbClr val="E3E1EC"/>
                      </a:solidFill>
                      <a:prstDash val="solid"/>
                      <a:round/>
                      <a:headEnd type="none" w="med" len="med"/>
                      <a:tailEnd type="none" w="med" len="med"/>
                    </a:lnT>
                    <a:lnB w="6350" cap="flat" cmpd="sng" algn="ctr">
                      <a:solidFill>
                        <a:srgbClr val="E3E1EC"/>
                      </a:solidFill>
                      <a:prstDash val="solid"/>
                      <a:round/>
                      <a:headEnd type="none" w="med" len="med"/>
                      <a:tailEnd type="none" w="med" len="med"/>
                    </a:lnB>
                    <a:solidFill>
                      <a:srgbClr val="F4F3F7"/>
                    </a:solidFill>
                  </a:tcPr>
                </a:tc>
              </a:tr>
              <a:tr h="566928">
                <a:tc>
                  <a:txBody>
                    <a:bodyPr/>
                    <a:lstStyle/>
                    <a:p>
                      <a:pPr indent="0" marL="0">
                        <a:buNone/>
                      </a:pPr>
                      <a:r>
                        <a:rPr lang="en-US" sz="1300" b="1" dirty="0">
                          <a:solidFill>
                            <a:srgbClr val="1B1B2F"/>
                          </a:solidFill>
                          <a:latin typeface="Calibri" pitchFamily="34" charset="0"/>
                          <a:ea typeface="Calibri" pitchFamily="34" charset="-122"/>
                          <a:cs typeface="Calibri" pitchFamily="34" charset="-120"/>
                        </a:rPr>
                        <a:t>AI Developers</a:t>
                      </a:r>
                      <a:endParaRPr lang="en-US" sz="1300" dirty="0">
                        <a:latin typeface="Calibri" charset="0"/>
                        <a:ea typeface="Calibri" charset="0"/>
                        <a:cs typeface="Calibri" charset="0"/>
                      </a:endParaRPr>
                    </a:p>
                  </a:txBody>
                  <a:tcPr marL="91440" marR="91440" marT="45720" marB="45720" anchor="ctr">
                    <a:lnL w="6350" cap="flat" cmpd="sng" algn="ctr">
                      <a:solidFill>
                        <a:srgbClr val="E3E1EC"/>
                      </a:solidFill>
                      <a:prstDash val="solid"/>
                      <a:round/>
                      <a:headEnd type="none" w="med" len="med"/>
                      <a:tailEnd type="none" w="med" len="med"/>
                    </a:lnL>
                    <a:lnR w="6350" cap="flat" cmpd="sng" algn="ctr">
                      <a:solidFill>
                        <a:srgbClr val="E3E1EC"/>
                      </a:solidFill>
                      <a:prstDash val="solid"/>
                      <a:round/>
                      <a:headEnd type="none" w="med" len="med"/>
                      <a:tailEnd type="none" w="med" len="med"/>
                    </a:lnR>
                    <a:lnT w="6350" cap="flat" cmpd="sng" algn="ctr">
                      <a:solidFill>
                        <a:srgbClr val="E3E1EC"/>
                      </a:solidFill>
                      <a:prstDash val="solid"/>
                      <a:round/>
                      <a:headEnd type="none" w="med" len="med"/>
                      <a:tailEnd type="none" w="med" len="med"/>
                    </a:lnT>
                    <a:lnB w="6350" cap="flat" cmpd="sng" algn="ctr">
                      <a:solidFill>
                        <a:srgbClr val="E3E1EC"/>
                      </a:solidFill>
                      <a:prstDash val="solid"/>
                      <a:round/>
                      <a:headEnd type="none" w="med" len="med"/>
                      <a:tailEnd type="none" w="med" len="med"/>
                    </a:lnB>
                    <a:solidFill>
                      <a:srgbClr val="FFFFFF"/>
                    </a:solidFill>
                  </a:tcPr>
                </a:tc>
                <a:tc>
                  <a:txBody>
                    <a:bodyPr/>
                    <a:lstStyle/>
                    <a:p>
                      <a:pPr indent="0" marL="0">
                        <a:buNone/>
                      </a:pPr>
                      <a:r>
                        <a:rPr lang="en-US" sz="1300" dirty="0">
                          <a:solidFill>
                            <a:srgbClr val="6B6B80"/>
                          </a:solidFill>
                          <a:latin typeface="Calibri" pitchFamily="34" charset="0"/>
                          <a:ea typeface="Calibri" pitchFamily="34" charset="-122"/>
                          <a:cs typeface="Calibri" pitchFamily="34" charset="-120"/>
                        </a:rPr>
                        <a:t>Innovation</a:t>
                      </a:r>
                      <a:endParaRPr lang="en-US" sz="1300" dirty="0">
                        <a:latin typeface="Calibri" charset="0"/>
                        <a:ea typeface="Calibri" charset="0"/>
                        <a:cs typeface="Calibri" charset="0"/>
                      </a:endParaRPr>
                    </a:p>
                  </a:txBody>
                  <a:tcPr marL="91440" marR="91440" marT="45720" marB="45720" anchor="ctr">
                    <a:lnL w="6350" cap="flat" cmpd="sng" algn="ctr">
                      <a:solidFill>
                        <a:srgbClr val="E3E1EC"/>
                      </a:solidFill>
                      <a:prstDash val="solid"/>
                      <a:round/>
                      <a:headEnd type="none" w="med" len="med"/>
                      <a:tailEnd type="none" w="med" len="med"/>
                    </a:lnL>
                    <a:lnR w="6350" cap="flat" cmpd="sng" algn="ctr">
                      <a:solidFill>
                        <a:srgbClr val="E3E1EC"/>
                      </a:solidFill>
                      <a:prstDash val="solid"/>
                      <a:round/>
                      <a:headEnd type="none" w="med" len="med"/>
                      <a:tailEnd type="none" w="med" len="med"/>
                    </a:lnR>
                    <a:lnT w="6350" cap="flat" cmpd="sng" algn="ctr">
                      <a:solidFill>
                        <a:srgbClr val="E3E1EC"/>
                      </a:solidFill>
                      <a:prstDash val="solid"/>
                      <a:round/>
                      <a:headEnd type="none" w="med" len="med"/>
                      <a:tailEnd type="none" w="med" len="med"/>
                    </a:lnT>
                    <a:lnB w="6350" cap="flat" cmpd="sng" algn="ctr">
                      <a:solidFill>
                        <a:srgbClr val="E3E1EC"/>
                      </a:solidFill>
                      <a:prstDash val="solid"/>
                      <a:round/>
                      <a:headEnd type="none" w="med" len="med"/>
                      <a:tailEnd type="none" w="med" len="med"/>
                    </a:lnB>
                    <a:solidFill>
                      <a:srgbClr val="FFFFFF"/>
                    </a:solidFill>
                  </a:tcPr>
                </a:tc>
                <a:tc>
                  <a:txBody>
                    <a:bodyPr/>
                    <a:lstStyle/>
                    <a:p>
                      <a:pPr indent="0" marL="0">
                        <a:buNone/>
                      </a:pPr>
                      <a:r>
                        <a:rPr lang="en-US" sz="1300" dirty="0">
                          <a:solidFill>
                            <a:srgbClr val="6B6B80"/>
                          </a:solidFill>
                          <a:latin typeface="Calibri" pitchFamily="34" charset="0"/>
                          <a:ea typeface="Calibri" pitchFamily="34" charset="-122"/>
                          <a:cs typeface="Calibri" pitchFamily="34" charset="-120"/>
                        </a:rPr>
                        <a:t>Responsible deployment</a:t>
                      </a:r>
                      <a:endParaRPr lang="en-US" sz="1300" dirty="0">
                        <a:latin typeface="Calibri" charset="0"/>
                        <a:ea typeface="Calibri" charset="0"/>
                        <a:cs typeface="Calibri" charset="0"/>
                      </a:endParaRPr>
                    </a:p>
                  </a:txBody>
                  <a:tcPr marL="91440" marR="91440" marT="45720" marB="45720" anchor="ctr">
                    <a:lnL w="6350" cap="flat" cmpd="sng" algn="ctr">
                      <a:solidFill>
                        <a:srgbClr val="E3E1EC"/>
                      </a:solidFill>
                      <a:prstDash val="solid"/>
                      <a:round/>
                      <a:headEnd type="none" w="med" len="med"/>
                      <a:tailEnd type="none" w="med" len="med"/>
                    </a:lnL>
                    <a:lnR w="6350" cap="flat" cmpd="sng" algn="ctr">
                      <a:solidFill>
                        <a:srgbClr val="E3E1EC"/>
                      </a:solidFill>
                      <a:prstDash val="solid"/>
                      <a:round/>
                      <a:headEnd type="none" w="med" len="med"/>
                      <a:tailEnd type="none" w="med" len="med"/>
                    </a:lnR>
                    <a:lnT w="6350" cap="flat" cmpd="sng" algn="ctr">
                      <a:solidFill>
                        <a:srgbClr val="E3E1EC"/>
                      </a:solidFill>
                      <a:prstDash val="solid"/>
                      <a:round/>
                      <a:headEnd type="none" w="med" len="med"/>
                      <a:tailEnd type="none" w="med" len="med"/>
                    </a:lnT>
                    <a:lnB w="6350" cap="flat" cmpd="sng" algn="ctr">
                      <a:solidFill>
                        <a:srgbClr val="E3E1EC"/>
                      </a:solidFill>
                      <a:prstDash val="solid"/>
                      <a:round/>
                      <a:headEnd type="none" w="med" len="med"/>
                      <a:tailEnd type="none" w="med" len="med"/>
                    </a:lnB>
                    <a:solidFill>
                      <a:srgbClr val="FFFFFF"/>
                    </a:solidFill>
                  </a:tcPr>
                </a:tc>
              </a:tr>
            </a:tbl>
          </a:graphicData>
        </a:graphic>
      </p:graphicFrame>
      <p:sp>
        <p:nvSpPr>
          <p:cNvPr id="6" name="Text 3"/>
          <p:cNvSpPr/>
          <p:nvPr/>
        </p:nvSpPr>
        <p:spPr>
          <a:xfrm>
            <a:off x="11000232" y="6400800"/>
            <a:ext cx="914400" cy="320040"/>
          </a:xfrm>
          <a:prstGeom prst="rect">
            <a:avLst/>
          </a:prstGeom>
          <a:noFill/>
          <a:ln/>
        </p:spPr>
        <p:txBody>
          <a:bodyPr wrap="square" rtlCol="0" anchor="ctr"/>
          <a:lstStyle/>
          <a:p>
            <a:pPr algn="r" indent="0" marL="0">
              <a:buNone/>
            </a:pPr>
            <a:r>
              <a:rPr lang="en-US" sz="1000" dirty="0">
                <a:solidFill>
                  <a:srgbClr val="6B6B80"/>
                </a:solidFill>
                <a:latin typeface="Calibri" pitchFamily="34" charset="0"/>
                <a:ea typeface="Calibri" pitchFamily="34" charset="-122"/>
                <a:cs typeface="Calibri" pitchFamily="34" charset="-120"/>
              </a:rPr>
              <a:t>11 / 14</a:t>
            </a:r>
            <a:endParaRPr lang="en-US" sz="1000" dirty="0"/>
          </a:p>
        </p:txBody>
      </p:sp>
      <p:sp>
        <p:nvSpPr>
          <p:cNvPr id="7" name="Text 4"/>
          <p:cNvSpPr/>
          <p:nvPr/>
        </p:nvSpPr>
        <p:spPr>
          <a:xfrm>
            <a:off x="548640" y="6400800"/>
            <a:ext cx="5486400" cy="320040"/>
          </a:xfrm>
          <a:prstGeom prst="rect">
            <a:avLst/>
          </a:prstGeom>
          <a:noFill/>
          <a:ln/>
        </p:spPr>
        <p:txBody>
          <a:bodyPr wrap="square" rtlCol="0" anchor="ctr"/>
          <a:lstStyle/>
          <a:p>
            <a:pPr indent="0" marL="0">
              <a:buNone/>
            </a:pPr>
            <a:r>
              <a:rPr lang="en-US" sz="1000" spc="100" kern="0" dirty="0">
                <a:solidFill>
                  <a:srgbClr val="6B6B80"/>
                </a:solidFill>
                <a:latin typeface="Calibri" pitchFamily="34" charset="0"/>
                <a:ea typeface="Calibri" pitchFamily="34" charset="-122"/>
                <a:cs typeface="Calibri" pitchFamily="34" charset="-120"/>
              </a:rPr>
              <a:t>LACANIAN ETHICS IN THE DIGITAL AGE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1B2F"/>
        </a:solidFill>
      </p:bgPr>
    </p:bg>
    <p:spTree>
      <p:nvGrpSpPr>
        <p:cNvPr id="1" name=""/>
        <p:cNvGrpSpPr/>
        <p:nvPr/>
      </p:nvGrpSpPr>
      <p:grpSpPr>
        <a:xfrm>
          <a:off x="0" y="0"/>
          <a:ext cx="0" cy="0"/>
          <a:chOff x="0" y="0"/>
          <a:chExt cx="0" cy="0"/>
        </a:xfrm>
      </p:grpSpPr>
      <p:sp>
        <p:nvSpPr>
          <p:cNvPr id="2" name="Text 0"/>
          <p:cNvSpPr/>
          <p:nvPr/>
        </p:nvSpPr>
        <p:spPr>
          <a:xfrm>
            <a:off x="640080" y="502920"/>
            <a:ext cx="36576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MODULE 8</a:t>
            </a:r>
            <a:endParaRPr lang="en-US" sz="1300" dirty="0"/>
          </a:p>
        </p:txBody>
      </p:sp>
      <p:sp>
        <p:nvSpPr>
          <p:cNvPr id="3" name="Text 1"/>
          <p:cNvSpPr/>
          <p:nvPr/>
        </p:nvSpPr>
        <p:spPr>
          <a:xfrm>
            <a:off x="640080" y="822960"/>
            <a:ext cx="9144000" cy="68580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 Four-Lens Decision Framework</a:t>
            </a:r>
            <a:endParaRPr lang="en-US" sz="2800" dirty="0"/>
          </a:p>
        </p:txBody>
      </p:sp>
      <p:sp>
        <p:nvSpPr>
          <p:cNvPr id="4" name="Text 2"/>
          <p:cNvSpPr/>
          <p:nvPr/>
        </p:nvSpPr>
        <p:spPr>
          <a:xfrm>
            <a:off x="640080" y="1481328"/>
            <a:ext cx="9144000" cy="365760"/>
          </a:xfrm>
          <a:prstGeom prst="rect">
            <a:avLst/>
          </a:prstGeom>
          <a:noFill/>
          <a:ln/>
        </p:spPr>
        <p:txBody>
          <a:bodyPr wrap="square" rtlCol="0" anchor="ctr"/>
          <a:lstStyle/>
          <a:p>
            <a:pPr indent="0" marL="0">
              <a:buNone/>
            </a:pPr>
            <a:r>
              <a:rPr lang="en-US" sz="1400" dirty="0">
                <a:solidFill>
                  <a:srgbClr val="E8E6F0"/>
                </a:solidFill>
                <a:latin typeface="Calibri" pitchFamily="34" charset="0"/>
                <a:ea typeface="Calibri" pitchFamily="34" charset="-122"/>
                <a:cs typeface="Calibri" pitchFamily="34" charset="-120"/>
              </a:rPr>
              <a:t>Every dilemma in this course is analyzed through four complementary lenses.</a:t>
            </a:r>
            <a:endParaRPr lang="en-US" sz="1400" dirty="0"/>
          </a:p>
        </p:txBody>
      </p:sp>
      <p:sp>
        <p:nvSpPr>
          <p:cNvPr id="5" name="Shape 3"/>
          <p:cNvSpPr/>
          <p:nvPr/>
        </p:nvSpPr>
        <p:spPr>
          <a:xfrm>
            <a:off x="640080" y="2148840"/>
            <a:ext cx="2606040" cy="3749040"/>
          </a:xfrm>
          <a:prstGeom prst="roundRect">
            <a:avLst>
              <a:gd name="adj" fmla="val 3509"/>
            </a:avLst>
          </a:prstGeom>
          <a:solidFill>
            <a:srgbClr val="26264A"/>
          </a:solidFill>
          <a:ln/>
        </p:spPr>
      </p:sp>
      <p:sp>
        <p:nvSpPr>
          <p:cNvPr id="6" name="Shape 4"/>
          <p:cNvSpPr/>
          <p:nvPr/>
        </p:nvSpPr>
        <p:spPr>
          <a:xfrm>
            <a:off x="1668780" y="2468880"/>
            <a:ext cx="548640" cy="548640"/>
          </a:xfrm>
          <a:prstGeom prst="ellipse">
            <a:avLst/>
          </a:prstGeom>
          <a:solidFill>
            <a:srgbClr val="343463"/>
          </a:solidFill>
          <a:ln/>
        </p:spPr>
      </p:sp>
      <p:pic>
        <p:nvPicPr>
          <p:cNvPr id="7" name="Image 0" descr="preencoded.png">    </p:cNvPr>
          <p:cNvPicPr>
            <a:picLocks noChangeAspect="1"/>
          </p:cNvPicPr>
          <p:nvPr/>
        </p:nvPicPr>
        <p:blipFill>
          <a:blip r:embed="rId1"/>
          <a:stretch>
            <a:fillRect/>
          </a:stretch>
        </p:blipFill>
        <p:spPr>
          <a:xfrm>
            <a:off x="1740103" y="2540203"/>
            <a:ext cx="405994" cy="405994"/>
          </a:xfrm>
          <a:prstGeom prst="rect">
            <a:avLst/>
          </a:prstGeom>
        </p:spPr>
      </p:pic>
      <p:sp>
        <p:nvSpPr>
          <p:cNvPr id="8" name="Text 5"/>
          <p:cNvSpPr/>
          <p:nvPr/>
        </p:nvSpPr>
        <p:spPr>
          <a:xfrm>
            <a:off x="822960" y="2331720"/>
            <a:ext cx="457200" cy="365760"/>
          </a:xfrm>
          <a:prstGeom prst="rect">
            <a:avLst/>
          </a:prstGeom>
          <a:noFill/>
          <a:ln/>
        </p:spPr>
        <p:txBody>
          <a:bodyPr wrap="square" rtlCol="0" anchor="ctr"/>
          <a:lstStyle/>
          <a:p>
            <a:pPr indent="0" marL="0">
              <a:buNone/>
            </a:pPr>
            <a:r>
              <a:rPr lang="en-US" sz="1200" b="1" dirty="0">
                <a:solidFill>
                  <a:srgbClr val="C9A227"/>
                </a:solidFill>
                <a:latin typeface="Calibri" pitchFamily="34" charset="0"/>
                <a:ea typeface="Calibri" pitchFamily="34" charset="-122"/>
                <a:cs typeface="Calibri" pitchFamily="34" charset="-120"/>
              </a:rPr>
              <a:t>1</a:t>
            </a:r>
            <a:endParaRPr lang="en-US" sz="1200" dirty="0"/>
          </a:p>
        </p:txBody>
      </p:sp>
      <p:sp>
        <p:nvSpPr>
          <p:cNvPr id="9" name="Text 6"/>
          <p:cNvSpPr/>
          <p:nvPr/>
        </p:nvSpPr>
        <p:spPr>
          <a:xfrm>
            <a:off x="822960" y="3200400"/>
            <a:ext cx="2240280" cy="54864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Traditional Ethics</a:t>
            </a:r>
            <a:endParaRPr lang="en-US" sz="1500" dirty="0"/>
          </a:p>
        </p:txBody>
      </p:sp>
      <p:sp>
        <p:nvSpPr>
          <p:cNvPr id="10" name="Text 7"/>
          <p:cNvSpPr/>
          <p:nvPr/>
        </p:nvSpPr>
        <p:spPr>
          <a:xfrm>
            <a:off x="822960" y="3840480"/>
            <a:ext cx="2240280" cy="1828800"/>
          </a:xfrm>
          <a:prstGeom prst="rect">
            <a:avLst/>
          </a:prstGeom>
          <a:noFill/>
          <a:ln/>
        </p:spPr>
        <p:txBody>
          <a:bodyPr wrap="square" rtlCol="0" anchor="ctr"/>
          <a:lstStyle/>
          <a:p>
            <a:pPr algn="ctr" indent="0" marL="0">
              <a:lnSpc>
                <a:spcPct val="130000"/>
              </a:lnSpc>
              <a:buNone/>
            </a:pPr>
            <a:r>
              <a:rPr lang="en-US" sz="1250" i="1" dirty="0">
                <a:solidFill>
                  <a:srgbClr val="E8E6F0"/>
                </a:solidFill>
                <a:latin typeface="Calibri" pitchFamily="34" charset="0"/>
                <a:ea typeface="Calibri" pitchFamily="34" charset="-122"/>
                <a:cs typeface="Calibri" pitchFamily="34" charset="-120"/>
              </a:rPr>
              <a:t>What action is morally justified?</a:t>
            </a:r>
            <a:endParaRPr lang="en-US" sz="1250" dirty="0"/>
          </a:p>
        </p:txBody>
      </p:sp>
      <p:sp>
        <p:nvSpPr>
          <p:cNvPr id="11" name="Shape 8"/>
          <p:cNvSpPr/>
          <p:nvPr/>
        </p:nvSpPr>
        <p:spPr>
          <a:xfrm>
            <a:off x="3447288" y="2148840"/>
            <a:ext cx="2606040" cy="3749040"/>
          </a:xfrm>
          <a:prstGeom prst="roundRect">
            <a:avLst>
              <a:gd name="adj" fmla="val 3509"/>
            </a:avLst>
          </a:prstGeom>
          <a:solidFill>
            <a:srgbClr val="26264A"/>
          </a:solidFill>
          <a:ln/>
        </p:spPr>
      </p:sp>
      <p:sp>
        <p:nvSpPr>
          <p:cNvPr id="12" name="Shape 9"/>
          <p:cNvSpPr/>
          <p:nvPr/>
        </p:nvSpPr>
        <p:spPr>
          <a:xfrm>
            <a:off x="4475988" y="2468880"/>
            <a:ext cx="548640" cy="548640"/>
          </a:xfrm>
          <a:prstGeom prst="ellipse">
            <a:avLst/>
          </a:prstGeom>
          <a:solidFill>
            <a:srgbClr val="343463"/>
          </a:solidFill>
          <a:ln/>
        </p:spPr>
      </p:sp>
      <p:pic>
        <p:nvPicPr>
          <p:cNvPr id="13" name="Image 1" descr="preencoded.png">    </p:cNvPr>
          <p:cNvPicPr>
            <a:picLocks noChangeAspect="1"/>
          </p:cNvPicPr>
          <p:nvPr/>
        </p:nvPicPr>
        <p:blipFill>
          <a:blip r:embed="rId2"/>
          <a:stretch>
            <a:fillRect/>
          </a:stretch>
        </p:blipFill>
        <p:spPr>
          <a:xfrm>
            <a:off x="4547311" y="2540203"/>
            <a:ext cx="405994" cy="405994"/>
          </a:xfrm>
          <a:prstGeom prst="rect">
            <a:avLst/>
          </a:prstGeom>
        </p:spPr>
      </p:pic>
      <p:sp>
        <p:nvSpPr>
          <p:cNvPr id="14" name="Text 10"/>
          <p:cNvSpPr/>
          <p:nvPr/>
        </p:nvSpPr>
        <p:spPr>
          <a:xfrm>
            <a:off x="3630168" y="2331720"/>
            <a:ext cx="457200" cy="365760"/>
          </a:xfrm>
          <a:prstGeom prst="rect">
            <a:avLst/>
          </a:prstGeom>
          <a:noFill/>
          <a:ln/>
        </p:spPr>
        <p:txBody>
          <a:bodyPr wrap="square" rtlCol="0" anchor="ctr"/>
          <a:lstStyle/>
          <a:p>
            <a:pPr indent="0" marL="0">
              <a:buNone/>
            </a:pPr>
            <a:r>
              <a:rPr lang="en-US" sz="1200" b="1" dirty="0">
                <a:solidFill>
                  <a:srgbClr val="C9A227"/>
                </a:solidFill>
                <a:latin typeface="Calibri" pitchFamily="34" charset="0"/>
                <a:ea typeface="Calibri" pitchFamily="34" charset="-122"/>
                <a:cs typeface="Calibri" pitchFamily="34" charset="-120"/>
              </a:rPr>
              <a:t>2</a:t>
            </a:r>
            <a:endParaRPr lang="en-US" sz="1200" dirty="0"/>
          </a:p>
        </p:txBody>
      </p:sp>
      <p:sp>
        <p:nvSpPr>
          <p:cNvPr id="15" name="Text 11"/>
          <p:cNvSpPr/>
          <p:nvPr/>
        </p:nvSpPr>
        <p:spPr>
          <a:xfrm>
            <a:off x="3630168" y="3200400"/>
            <a:ext cx="2240280" cy="54864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Business Ethics</a:t>
            </a:r>
            <a:endParaRPr lang="en-US" sz="1500" dirty="0"/>
          </a:p>
        </p:txBody>
      </p:sp>
      <p:sp>
        <p:nvSpPr>
          <p:cNvPr id="16" name="Text 12"/>
          <p:cNvSpPr/>
          <p:nvPr/>
        </p:nvSpPr>
        <p:spPr>
          <a:xfrm>
            <a:off x="3630168" y="3840480"/>
            <a:ext cx="2240280" cy="1828800"/>
          </a:xfrm>
          <a:prstGeom prst="rect">
            <a:avLst/>
          </a:prstGeom>
          <a:noFill/>
          <a:ln/>
        </p:spPr>
        <p:txBody>
          <a:bodyPr wrap="square" rtlCol="0" anchor="ctr"/>
          <a:lstStyle/>
          <a:p>
            <a:pPr algn="ctr" indent="0" marL="0">
              <a:lnSpc>
                <a:spcPct val="130000"/>
              </a:lnSpc>
              <a:buNone/>
            </a:pPr>
            <a:r>
              <a:rPr lang="en-US" sz="1250" i="1" dirty="0">
                <a:solidFill>
                  <a:srgbClr val="E8E6F0"/>
                </a:solidFill>
                <a:latin typeface="Calibri" pitchFamily="34" charset="0"/>
                <a:ea typeface="Calibri" pitchFamily="34" charset="-122"/>
                <a:cs typeface="Calibri" pitchFamily="34" charset="-120"/>
              </a:rPr>
              <a:t>What organizational responsibilities exist?</a:t>
            </a:r>
            <a:endParaRPr lang="en-US" sz="1250" dirty="0"/>
          </a:p>
        </p:txBody>
      </p:sp>
      <p:sp>
        <p:nvSpPr>
          <p:cNvPr id="17" name="Shape 13"/>
          <p:cNvSpPr/>
          <p:nvPr/>
        </p:nvSpPr>
        <p:spPr>
          <a:xfrm>
            <a:off x="6254496" y="2148840"/>
            <a:ext cx="2606040" cy="3749040"/>
          </a:xfrm>
          <a:prstGeom prst="roundRect">
            <a:avLst>
              <a:gd name="adj" fmla="val 3509"/>
            </a:avLst>
          </a:prstGeom>
          <a:solidFill>
            <a:srgbClr val="26264A"/>
          </a:solidFill>
          <a:ln/>
        </p:spPr>
      </p:sp>
      <p:sp>
        <p:nvSpPr>
          <p:cNvPr id="18" name="Shape 14"/>
          <p:cNvSpPr/>
          <p:nvPr/>
        </p:nvSpPr>
        <p:spPr>
          <a:xfrm>
            <a:off x="7283196" y="2468880"/>
            <a:ext cx="548640" cy="548640"/>
          </a:xfrm>
          <a:prstGeom prst="ellipse">
            <a:avLst/>
          </a:prstGeom>
          <a:solidFill>
            <a:srgbClr val="343463"/>
          </a:solidFill>
          <a:ln/>
        </p:spPr>
      </p:sp>
      <p:pic>
        <p:nvPicPr>
          <p:cNvPr id="19" name="Image 2" descr="preencoded.png">    </p:cNvPr>
          <p:cNvPicPr>
            <a:picLocks noChangeAspect="1"/>
          </p:cNvPicPr>
          <p:nvPr/>
        </p:nvPicPr>
        <p:blipFill>
          <a:blip r:embed="rId3"/>
          <a:stretch>
            <a:fillRect/>
          </a:stretch>
        </p:blipFill>
        <p:spPr>
          <a:xfrm>
            <a:off x="7354519" y="2540203"/>
            <a:ext cx="405994" cy="405994"/>
          </a:xfrm>
          <a:prstGeom prst="rect">
            <a:avLst/>
          </a:prstGeom>
        </p:spPr>
      </p:pic>
      <p:sp>
        <p:nvSpPr>
          <p:cNvPr id="20" name="Text 15"/>
          <p:cNvSpPr/>
          <p:nvPr/>
        </p:nvSpPr>
        <p:spPr>
          <a:xfrm>
            <a:off x="6437376" y="2331720"/>
            <a:ext cx="457200" cy="365760"/>
          </a:xfrm>
          <a:prstGeom prst="rect">
            <a:avLst/>
          </a:prstGeom>
          <a:noFill/>
          <a:ln/>
        </p:spPr>
        <p:txBody>
          <a:bodyPr wrap="square" rtlCol="0" anchor="ctr"/>
          <a:lstStyle/>
          <a:p>
            <a:pPr indent="0" marL="0">
              <a:buNone/>
            </a:pPr>
            <a:r>
              <a:rPr lang="en-US" sz="1200" b="1" dirty="0">
                <a:solidFill>
                  <a:srgbClr val="C9A227"/>
                </a:solidFill>
                <a:latin typeface="Calibri" pitchFamily="34" charset="0"/>
                <a:ea typeface="Calibri" pitchFamily="34" charset="-122"/>
                <a:cs typeface="Calibri" pitchFamily="34" charset="-120"/>
              </a:rPr>
              <a:t>3</a:t>
            </a:r>
            <a:endParaRPr lang="en-US" sz="1200" dirty="0"/>
          </a:p>
        </p:txBody>
      </p:sp>
      <p:sp>
        <p:nvSpPr>
          <p:cNvPr id="21" name="Text 16"/>
          <p:cNvSpPr/>
          <p:nvPr/>
        </p:nvSpPr>
        <p:spPr>
          <a:xfrm>
            <a:off x="6437376" y="3200400"/>
            <a:ext cx="2240280" cy="54864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Digital Ethics</a:t>
            </a:r>
            <a:endParaRPr lang="en-US" sz="1500" dirty="0"/>
          </a:p>
        </p:txBody>
      </p:sp>
      <p:sp>
        <p:nvSpPr>
          <p:cNvPr id="22" name="Text 17"/>
          <p:cNvSpPr/>
          <p:nvPr/>
        </p:nvSpPr>
        <p:spPr>
          <a:xfrm>
            <a:off x="6437376" y="3840480"/>
            <a:ext cx="2240280" cy="1828800"/>
          </a:xfrm>
          <a:prstGeom prst="rect">
            <a:avLst/>
          </a:prstGeom>
          <a:noFill/>
          <a:ln/>
        </p:spPr>
        <p:txBody>
          <a:bodyPr wrap="square" rtlCol="0" anchor="ctr"/>
          <a:lstStyle/>
          <a:p>
            <a:pPr algn="ctr" indent="0" marL="0">
              <a:lnSpc>
                <a:spcPct val="130000"/>
              </a:lnSpc>
              <a:buNone/>
            </a:pPr>
            <a:r>
              <a:rPr lang="en-US" sz="1250" i="1" dirty="0">
                <a:solidFill>
                  <a:srgbClr val="E8E6F0"/>
                </a:solidFill>
                <a:latin typeface="Calibri" pitchFamily="34" charset="0"/>
                <a:ea typeface="Calibri" pitchFamily="34" charset="-122"/>
                <a:cs typeface="Calibri" pitchFamily="34" charset="-120"/>
              </a:rPr>
              <a:t>What technological consequences may arise?</a:t>
            </a:r>
            <a:endParaRPr lang="en-US" sz="1250" dirty="0"/>
          </a:p>
        </p:txBody>
      </p:sp>
      <p:sp>
        <p:nvSpPr>
          <p:cNvPr id="23" name="Shape 18"/>
          <p:cNvSpPr/>
          <p:nvPr/>
        </p:nvSpPr>
        <p:spPr>
          <a:xfrm>
            <a:off x="9061704" y="2148840"/>
            <a:ext cx="2606040" cy="3749040"/>
          </a:xfrm>
          <a:prstGeom prst="roundRect">
            <a:avLst>
              <a:gd name="adj" fmla="val 3509"/>
            </a:avLst>
          </a:prstGeom>
          <a:solidFill>
            <a:srgbClr val="2E2350"/>
          </a:solidFill>
          <a:ln/>
        </p:spPr>
      </p:sp>
      <p:sp>
        <p:nvSpPr>
          <p:cNvPr id="24" name="Shape 19"/>
          <p:cNvSpPr/>
          <p:nvPr/>
        </p:nvSpPr>
        <p:spPr>
          <a:xfrm>
            <a:off x="10090404" y="2468880"/>
            <a:ext cx="548640" cy="548640"/>
          </a:xfrm>
          <a:prstGeom prst="ellipse">
            <a:avLst/>
          </a:prstGeom>
          <a:solidFill>
            <a:srgbClr val="3A2E63"/>
          </a:solidFill>
          <a:ln/>
        </p:spPr>
      </p:sp>
      <p:pic>
        <p:nvPicPr>
          <p:cNvPr id="25" name="Image 3" descr="preencoded.png">    </p:cNvPr>
          <p:cNvPicPr>
            <a:picLocks noChangeAspect="1"/>
          </p:cNvPicPr>
          <p:nvPr/>
        </p:nvPicPr>
        <p:blipFill>
          <a:blip r:embed="rId4"/>
          <a:stretch>
            <a:fillRect/>
          </a:stretch>
        </p:blipFill>
        <p:spPr>
          <a:xfrm>
            <a:off x="10161727" y="2540203"/>
            <a:ext cx="405994" cy="405994"/>
          </a:xfrm>
          <a:prstGeom prst="rect">
            <a:avLst/>
          </a:prstGeom>
        </p:spPr>
      </p:pic>
      <p:sp>
        <p:nvSpPr>
          <p:cNvPr id="26" name="Text 20"/>
          <p:cNvSpPr/>
          <p:nvPr/>
        </p:nvSpPr>
        <p:spPr>
          <a:xfrm>
            <a:off x="9244584" y="2331720"/>
            <a:ext cx="457200" cy="365760"/>
          </a:xfrm>
          <a:prstGeom prst="rect">
            <a:avLst/>
          </a:prstGeom>
          <a:noFill/>
          <a:ln/>
        </p:spPr>
        <p:txBody>
          <a:bodyPr wrap="square" rtlCol="0" anchor="ctr"/>
          <a:lstStyle/>
          <a:p>
            <a:pPr indent="0" marL="0">
              <a:buNone/>
            </a:pPr>
            <a:r>
              <a:rPr lang="en-US" sz="1200" b="1" dirty="0">
                <a:solidFill>
                  <a:srgbClr val="C9A227"/>
                </a:solidFill>
                <a:latin typeface="Calibri" pitchFamily="34" charset="0"/>
                <a:ea typeface="Calibri" pitchFamily="34" charset="-122"/>
                <a:cs typeface="Calibri" pitchFamily="34" charset="-120"/>
              </a:rPr>
              <a:t>4</a:t>
            </a:r>
            <a:endParaRPr lang="en-US" sz="1200" dirty="0"/>
          </a:p>
        </p:txBody>
      </p:sp>
      <p:sp>
        <p:nvSpPr>
          <p:cNvPr id="27" name="Text 21"/>
          <p:cNvSpPr/>
          <p:nvPr/>
        </p:nvSpPr>
        <p:spPr>
          <a:xfrm>
            <a:off x="9244584" y="3200400"/>
            <a:ext cx="2240280" cy="54864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Lacanian Ethics</a:t>
            </a:r>
            <a:endParaRPr lang="en-US" sz="1500" dirty="0"/>
          </a:p>
        </p:txBody>
      </p:sp>
      <p:sp>
        <p:nvSpPr>
          <p:cNvPr id="28" name="Text 22"/>
          <p:cNvSpPr/>
          <p:nvPr/>
        </p:nvSpPr>
        <p:spPr>
          <a:xfrm>
            <a:off x="9244584" y="3840480"/>
            <a:ext cx="2240280" cy="1828800"/>
          </a:xfrm>
          <a:prstGeom prst="rect">
            <a:avLst/>
          </a:prstGeom>
          <a:noFill/>
          <a:ln/>
        </p:spPr>
        <p:txBody>
          <a:bodyPr wrap="square" rtlCol="0" anchor="ctr"/>
          <a:lstStyle/>
          <a:p>
            <a:pPr algn="ctr" indent="0" marL="0">
              <a:lnSpc>
                <a:spcPct val="130000"/>
              </a:lnSpc>
              <a:buNone/>
            </a:pPr>
            <a:r>
              <a:rPr lang="en-US" sz="1250" i="1" dirty="0">
                <a:solidFill>
                  <a:srgbClr val="E8E6F0"/>
                </a:solidFill>
                <a:latin typeface="Calibri" pitchFamily="34" charset="0"/>
                <a:ea typeface="Calibri" pitchFamily="34" charset="-122"/>
                <a:cs typeface="Calibri" pitchFamily="34" charset="-120"/>
              </a:rPr>
              <a:t>What unconscious desires and symbolic structures are influencing this decision?</a:t>
            </a:r>
            <a:endParaRPr lang="en-US" sz="1250" dirty="0"/>
          </a:p>
        </p:txBody>
      </p:sp>
      <p:sp>
        <p:nvSpPr>
          <p:cNvPr id="29" name="Text 23"/>
          <p:cNvSpPr/>
          <p:nvPr/>
        </p:nvSpPr>
        <p:spPr>
          <a:xfrm>
            <a:off x="11000232" y="6400800"/>
            <a:ext cx="914400" cy="320040"/>
          </a:xfrm>
          <a:prstGeom prst="rect">
            <a:avLst/>
          </a:prstGeom>
          <a:noFill/>
          <a:ln/>
        </p:spPr>
        <p:txBody>
          <a:bodyPr wrap="square" rtlCol="0" anchor="ctr"/>
          <a:lstStyle/>
          <a:p>
            <a:pPr algn="r" indent="0" marL="0">
              <a:buNone/>
            </a:pPr>
            <a:r>
              <a:rPr lang="en-US" sz="1000" dirty="0">
                <a:solidFill>
                  <a:srgbClr val="E8E6F0"/>
                </a:solidFill>
                <a:latin typeface="Calibri" pitchFamily="34" charset="0"/>
                <a:ea typeface="Calibri" pitchFamily="34" charset="-122"/>
                <a:cs typeface="Calibri" pitchFamily="34" charset="-120"/>
              </a:rPr>
              <a:t>12 / 14</a:t>
            </a:r>
            <a:endParaRPr lang="en-US" sz="1000" dirty="0"/>
          </a:p>
        </p:txBody>
      </p:sp>
      <p:sp>
        <p:nvSpPr>
          <p:cNvPr id="30" name="Text 24"/>
          <p:cNvSpPr/>
          <p:nvPr/>
        </p:nvSpPr>
        <p:spPr>
          <a:xfrm>
            <a:off x="548640" y="6400800"/>
            <a:ext cx="5486400" cy="320040"/>
          </a:xfrm>
          <a:prstGeom prst="rect">
            <a:avLst/>
          </a:prstGeom>
          <a:noFill/>
          <a:ln/>
        </p:spPr>
        <p:txBody>
          <a:bodyPr wrap="square" rtlCol="0" anchor="ctr"/>
          <a:lstStyle/>
          <a:p>
            <a:pPr indent="0" marL="0">
              <a:buNone/>
            </a:pPr>
            <a:r>
              <a:rPr lang="en-US" sz="1000" spc="100" kern="0" dirty="0">
                <a:solidFill>
                  <a:srgbClr val="E8E6F0"/>
                </a:solidFill>
                <a:latin typeface="Calibri" pitchFamily="34" charset="0"/>
                <a:ea typeface="Calibri" pitchFamily="34" charset="-122"/>
                <a:cs typeface="Calibri" pitchFamily="34" charset="-120"/>
              </a:rPr>
              <a:t>LACANIAN ETHICS IN THE DIGITAL AGE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CAPSTONE ACTIVITY</a:t>
            </a:r>
            <a:endParaRPr lang="en-US" sz="1300" dirty="0"/>
          </a:p>
        </p:txBody>
      </p:sp>
      <p:sp>
        <p:nvSpPr>
          <p:cNvPr id="3" name="Text 1"/>
          <p:cNvSpPr/>
          <p:nvPr/>
        </p:nvSpPr>
        <p:spPr>
          <a:xfrm>
            <a:off x="640080" y="822960"/>
            <a:ext cx="10058400" cy="685800"/>
          </a:xfrm>
          <a:prstGeom prst="rect">
            <a:avLst/>
          </a:prstGeom>
          <a:noFill/>
          <a:ln/>
        </p:spPr>
        <p:txBody>
          <a:bodyPr wrap="square" rtlCol="0" anchor="ctr"/>
          <a:lstStyle/>
          <a:p>
            <a:pPr indent="0" marL="0">
              <a:buNone/>
            </a:pPr>
            <a:r>
              <a:rPr lang="en-US" sz="2700" b="1" dirty="0">
                <a:solidFill>
                  <a:srgbClr val="1B1B2F"/>
                </a:solidFill>
                <a:latin typeface="Cambria" pitchFamily="34" charset="0"/>
                <a:ea typeface="Cambria" pitchFamily="34" charset="-122"/>
                <a:cs typeface="Cambria" pitchFamily="34" charset="-120"/>
              </a:rPr>
              <a:t>Analyze a Real Organization or Platform</a:t>
            </a:r>
            <a:endParaRPr lang="en-US" sz="2700" dirty="0"/>
          </a:p>
        </p:txBody>
      </p:sp>
      <p:sp>
        <p:nvSpPr>
          <p:cNvPr id="4" name="Shape 2"/>
          <p:cNvSpPr/>
          <p:nvPr/>
        </p:nvSpPr>
        <p:spPr>
          <a:xfrm>
            <a:off x="640080" y="1828800"/>
            <a:ext cx="5257800" cy="1417320"/>
          </a:xfrm>
          <a:prstGeom prst="roundRect">
            <a:avLst>
              <a:gd name="adj" fmla="val 6452"/>
            </a:avLst>
          </a:prstGeom>
          <a:solidFill>
            <a:srgbClr val="F4F3F7"/>
          </a:solidFill>
          <a:ln/>
          <a:effectLst>
            <a:outerShdw sx="100000" sy="100000" kx="0" ky="0" algn="bl" rotWithShape="0" blurRad="101600" dist="38100" dir="2700000">
              <a:srgbClr val="000000">
                <a:alpha val="14000"/>
              </a:srgbClr>
            </a:outerShdw>
          </a:effectLst>
        </p:spPr>
      </p:sp>
      <p:sp>
        <p:nvSpPr>
          <p:cNvPr id="5" name="Shape 3"/>
          <p:cNvSpPr/>
          <p:nvPr/>
        </p:nvSpPr>
        <p:spPr>
          <a:xfrm>
            <a:off x="896112" y="2084832"/>
            <a:ext cx="566928" cy="566928"/>
          </a:xfrm>
          <a:prstGeom prst="ellipse">
            <a:avLst/>
          </a:prstGeom>
          <a:solidFill>
            <a:srgbClr val="1B1B2F"/>
          </a:solidFill>
          <a:ln/>
        </p:spPr>
      </p:sp>
      <p:sp>
        <p:nvSpPr>
          <p:cNvPr id="6" name="Text 4"/>
          <p:cNvSpPr/>
          <p:nvPr/>
        </p:nvSpPr>
        <p:spPr>
          <a:xfrm>
            <a:off x="896112" y="2084832"/>
            <a:ext cx="566928" cy="566928"/>
          </a:xfrm>
          <a:prstGeom prst="rect">
            <a:avLst/>
          </a:prstGeom>
          <a:noFill/>
          <a:ln/>
        </p:spPr>
        <p:txBody>
          <a:bodyPr wrap="square" rtlCol="0" anchor="ctr"/>
          <a:lstStyle/>
          <a:p>
            <a:pPr algn="ctr" indent="0" marL="0">
              <a:buNone/>
            </a:pPr>
            <a:r>
              <a:rPr lang="en-US" sz="2000" b="1" dirty="0">
                <a:solidFill>
                  <a:srgbClr val="C9A227"/>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645920" y="2029968"/>
            <a:ext cx="4023360" cy="1051560"/>
          </a:xfrm>
          <a:prstGeom prst="rect">
            <a:avLst/>
          </a:prstGeom>
          <a:noFill/>
          <a:ln/>
        </p:spPr>
        <p:txBody>
          <a:bodyPr wrap="square" rtlCol="0" anchor="ctr"/>
          <a:lstStyle/>
          <a:p>
            <a:pPr indent="0" marL="0">
              <a:lnSpc>
                <a:spcPct val="120000"/>
              </a:lnSpc>
              <a:buNone/>
            </a:pPr>
            <a:r>
              <a:rPr lang="en-US" sz="1400" dirty="0">
                <a:solidFill>
                  <a:srgbClr val="1B1B2F"/>
                </a:solidFill>
                <a:latin typeface="Calibri" pitchFamily="34" charset="0"/>
                <a:ea typeface="Calibri" pitchFamily="34" charset="-122"/>
                <a:cs typeface="Calibri" pitchFamily="34" charset="-120"/>
              </a:rPr>
              <a:t>Identify the organization's stated ethical values</a:t>
            </a:r>
            <a:endParaRPr lang="en-US" sz="1400" dirty="0"/>
          </a:p>
        </p:txBody>
      </p:sp>
      <p:sp>
        <p:nvSpPr>
          <p:cNvPr id="8" name="Shape 6"/>
          <p:cNvSpPr/>
          <p:nvPr/>
        </p:nvSpPr>
        <p:spPr>
          <a:xfrm>
            <a:off x="6263640" y="1828800"/>
            <a:ext cx="5257800" cy="1417320"/>
          </a:xfrm>
          <a:prstGeom prst="roundRect">
            <a:avLst>
              <a:gd name="adj" fmla="val 6452"/>
            </a:avLst>
          </a:prstGeom>
          <a:solidFill>
            <a:srgbClr val="F4F3F7"/>
          </a:solidFill>
          <a:ln/>
          <a:effectLst>
            <a:outerShdw sx="100000" sy="100000" kx="0" ky="0" algn="bl" rotWithShape="0" blurRad="101600" dist="38100" dir="2700000">
              <a:srgbClr val="000000">
                <a:alpha val="14000"/>
              </a:srgbClr>
            </a:outerShdw>
          </a:effectLst>
        </p:spPr>
      </p:sp>
      <p:sp>
        <p:nvSpPr>
          <p:cNvPr id="9" name="Shape 7"/>
          <p:cNvSpPr/>
          <p:nvPr/>
        </p:nvSpPr>
        <p:spPr>
          <a:xfrm>
            <a:off x="6519672" y="2084832"/>
            <a:ext cx="566928" cy="566928"/>
          </a:xfrm>
          <a:prstGeom prst="ellipse">
            <a:avLst/>
          </a:prstGeom>
          <a:solidFill>
            <a:srgbClr val="1B1B2F"/>
          </a:solidFill>
          <a:ln/>
        </p:spPr>
      </p:sp>
      <p:sp>
        <p:nvSpPr>
          <p:cNvPr id="10" name="Text 8"/>
          <p:cNvSpPr/>
          <p:nvPr/>
        </p:nvSpPr>
        <p:spPr>
          <a:xfrm>
            <a:off x="6519672" y="2084832"/>
            <a:ext cx="566928" cy="566928"/>
          </a:xfrm>
          <a:prstGeom prst="rect">
            <a:avLst/>
          </a:prstGeom>
          <a:noFill/>
          <a:ln/>
        </p:spPr>
        <p:txBody>
          <a:bodyPr wrap="square" rtlCol="0" anchor="ctr"/>
          <a:lstStyle/>
          <a:p>
            <a:pPr algn="ctr" indent="0" marL="0">
              <a:buNone/>
            </a:pPr>
            <a:r>
              <a:rPr lang="en-US" sz="2000" b="1" dirty="0">
                <a:solidFill>
                  <a:srgbClr val="C9A227"/>
                </a:solidFill>
                <a:latin typeface="Cambria" pitchFamily="34" charset="0"/>
                <a:ea typeface="Cambria" pitchFamily="34" charset="-122"/>
                <a:cs typeface="Cambria" pitchFamily="34" charset="-120"/>
              </a:rPr>
              <a:t>2</a:t>
            </a:r>
            <a:endParaRPr lang="en-US" sz="2000" dirty="0"/>
          </a:p>
        </p:txBody>
      </p:sp>
      <p:sp>
        <p:nvSpPr>
          <p:cNvPr id="11" name="Text 9"/>
          <p:cNvSpPr/>
          <p:nvPr/>
        </p:nvSpPr>
        <p:spPr>
          <a:xfrm>
            <a:off x="7269480" y="2029968"/>
            <a:ext cx="4023360" cy="1051560"/>
          </a:xfrm>
          <a:prstGeom prst="rect">
            <a:avLst/>
          </a:prstGeom>
          <a:noFill/>
          <a:ln/>
        </p:spPr>
        <p:txBody>
          <a:bodyPr wrap="square" rtlCol="0" anchor="ctr"/>
          <a:lstStyle/>
          <a:p>
            <a:pPr indent="0" marL="0">
              <a:lnSpc>
                <a:spcPct val="120000"/>
              </a:lnSpc>
              <a:buNone/>
            </a:pPr>
            <a:r>
              <a:rPr lang="en-US" sz="1400" dirty="0">
                <a:solidFill>
                  <a:srgbClr val="1B1B2F"/>
                </a:solidFill>
                <a:latin typeface="Calibri" pitchFamily="34" charset="0"/>
                <a:ea typeface="Calibri" pitchFamily="34" charset="-122"/>
                <a:cs typeface="Calibri" pitchFamily="34" charset="-120"/>
              </a:rPr>
              <a:t>Examine its operational incentives and performance metrics</a:t>
            </a:r>
            <a:endParaRPr lang="en-US" sz="1400" dirty="0"/>
          </a:p>
        </p:txBody>
      </p:sp>
      <p:sp>
        <p:nvSpPr>
          <p:cNvPr id="12" name="Shape 10"/>
          <p:cNvSpPr/>
          <p:nvPr/>
        </p:nvSpPr>
        <p:spPr>
          <a:xfrm>
            <a:off x="640080" y="3474720"/>
            <a:ext cx="5257800" cy="1417320"/>
          </a:xfrm>
          <a:prstGeom prst="roundRect">
            <a:avLst>
              <a:gd name="adj" fmla="val 6452"/>
            </a:avLst>
          </a:prstGeom>
          <a:solidFill>
            <a:srgbClr val="F4F3F7"/>
          </a:solidFill>
          <a:ln/>
          <a:effectLst>
            <a:outerShdw sx="100000" sy="100000" kx="0" ky="0" algn="bl" rotWithShape="0" blurRad="101600" dist="38100" dir="2700000">
              <a:srgbClr val="000000">
                <a:alpha val="14000"/>
              </a:srgbClr>
            </a:outerShdw>
          </a:effectLst>
        </p:spPr>
      </p:sp>
      <p:sp>
        <p:nvSpPr>
          <p:cNvPr id="13" name="Shape 11"/>
          <p:cNvSpPr/>
          <p:nvPr/>
        </p:nvSpPr>
        <p:spPr>
          <a:xfrm>
            <a:off x="896112" y="3730752"/>
            <a:ext cx="566928" cy="566928"/>
          </a:xfrm>
          <a:prstGeom prst="ellipse">
            <a:avLst/>
          </a:prstGeom>
          <a:solidFill>
            <a:srgbClr val="1B1B2F"/>
          </a:solidFill>
          <a:ln/>
        </p:spPr>
      </p:sp>
      <p:sp>
        <p:nvSpPr>
          <p:cNvPr id="14" name="Text 12"/>
          <p:cNvSpPr/>
          <p:nvPr/>
        </p:nvSpPr>
        <p:spPr>
          <a:xfrm>
            <a:off x="896112" y="3730752"/>
            <a:ext cx="566928" cy="566928"/>
          </a:xfrm>
          <a:prstGeom prst="rect">
            <a:avLst/>
          </a:prstGeom>
          <a:noFill/>
          <a:ln/>
        </p:spPr>
        <p:txBody>
          <a:bodyPr wrap="square" rtlCol="0" anchor="ctr"/>
          <a:lstStyle/>
          <a:p>
            <a:pPr algn="ctr" indent="0" marL="0">
              <a:buNone/>
            </a:pPr>
            <a:r>
              <a:rPr lang="en-US" sz="2000" b="1" dirty="0">
                <a:solidFill>
                  <a:srgbClr val="C9A227"/>
                </a:solidFill>
                <a:latin typeface="Cambria" pitchFamily="34" charset="0"/>
                <a:ea typeface="Cambria" pitchFamily="34" charset="-122"/>
                <a:cs typeface="Cambria" pitchFamily="34" charset="-120"/>
              </a:rPr>
              <a:t>3</a:t>
            </a:r>
            <a:endParaRPr lang="en-US" sz="2000" dirty="0"/>
          </a:p>
        </p:txBody>
      </p:sp>
      <p:sp>
        <p:nvSpPr>
          <p:cNvPr id="15" name="Text 13"/>
          <p:cNvSpPr/>
          <p:nvPr/>
        </p:nvSpPr>
        <p:spPr>
          <a:xfrm>
            <a:off x="1645920" y="3675888"/>
            <a:ext cx="4023360" cy="1051560"/>
          </a:xfrm>
          <a:prstGeom prst="rect">
            <a:avLst/>
          </a:prstGeom>
          <a:noFill/>
          <a:ln/>
        </p:spPr>
        <p:txBody>
          <a:bodyPr wrap="square" rtlCol="0" anchor="ctr"/>
          <a:lstStyle/>
          <a:p>
            <a:pPr indent="0" marL="0">
              <a:lnSpc>
                <a:spcPct val="120000"/>
              </a:lnSpc>
              <a:buNone/>
            </a:pPr>
            <a:r>
              <a:rPr lang="en-US" sz="1400" dirty="0">
                <a:solidFill>
                  <a:srgbClr val="1B1B2F"/>
                </a:solidFill>
                <a:latin typeface="Calibri" pitchFamily="34" charset="0"/>
                <a:ea typeface="Calibri" pitchFamily="34" charset="-122"/>
                <a:cs typeface="Calibri" pitchFamily="34" charset="-120"/>
              </a:rPr>
              <a:t>Apply Lacanian concepts — desire, the Big Other, lack, jouissance</a:t>
            </a:r>
            <a:endParaRPr lang="en-US" sz="1400" dirty="0"/>
          </a:p>
        </p:txBody>
      </p:sp>
      <p:sp>
        <p:nvSpPr>
          <p:cNvPr id="16" name="Shape 14"/>
          <p:cNvSpPr/>
          <p:nvPr/>
        </p:nvSpPr>
        <p:spPr>
          <a:xfrm>
            <a:off x="6263640" y="3474720"/>
            <a:ext cx="5257800" cy="1417320"/>
          </a:xfrm>
          <a:prstGeom prst="roundRect">
            <a:avLst>
              <a:gd name="adj" fmla="val 6452"/>
            </a:avLst>
          </a:prstGeom>
          <a:solidFill>
            <a:srgbClr val="F4F3F7"/>
          </a:solidFill>
          <a:ln/>
          <a:effectLst>
            <a:outerShdw sx="100000" sy="100000" kx="0" ky="0" algn="bl" rotWithShape="0" blurRad="101600" dist="38100" dir="2700000">
              <a:srgbClr val="000000">
                <a:alpha val="14000"/>
              </a:srgbClr>
            </a:outerShdw>
          </a:effectLst>
        </p:spPr>
      </p:sp>
      <p:sp>
        <p:nvSpPr>
          <p:cNvPr id="17" name="Shape 15"/>
          <p:cNvSpPr/>
          <p:nvPr/>
        </p:nvSpPr>
        <p:spPr>
          <a:xfrm>
            <a:off x="6519672" y="3730752"/>
            <a:ext cx="566928" cy="566928"/>
          </a:xfrm>
          <a:prstGeom prst="ellipse">
            <a:avLst/>
          </a:prstGeom>
          <a:solidFill>
            <a:srgbClr val="1B1B2F"/>
          </a:solidFill>
          <a:ln/>
        </p:spPr>
      </p:sp>
      <p:sp>
        <p:nvSpPr>
          <p:cNvPr id="18" name="Text 16"/>
          <p:cNvSpPr/>
          <p:nvPr/>
        </p:nvSpPr>
        <p:spPr>
          <a:xfrm>
            <a:off x="6519672" y="3730752"/>
            <a:ext cx="566928" cy="566928"/>
          </a:xfrm>
          <a:prstGeom prst="rect">
            <a:avLst/>
          </a:prstGeom>
          <a:noFill/>
          <a:ln/>
        </p:spPr>
        <p:txBody>
          <a:bodyPr wrap="square" rtlCol="0" anchor="ctr"/>
          <a:lstStyle/>
          <a:p>
            <a:pPr algn="ctr" indent="0" marL="0">
              <a:buNone/>
            </a:pPr>
            <a:r>
              <a:rPr lang="en-US" sz="2000" b="1" dirty="0">
                <a:solidFill>
                  <a:srgbClr val="C9A227"/>
                </a:solidFill>
                <a:latin typeface="Cambria" pitchFamily="34" charset="0"/>
                <a:ea typeface="Cambria" pitchFamily="34" charset="-122"/>
                <a:cs typeface="Cambria" pitchFamily="34" charset="-120"/>
              </a:rPr>
              <a:t>4</a:t>
            </a:r>
            <a:endParaRPr lang="en-US" sz="2000" dirty="0"/>
          </a:p>
        </p:txBody>
      </p:sp>
      <p:sp>
        <p:nvSpPr>
          <p:cNvPr id="19" name="Text 17"/>
          <p:cNvSpPr/>
          <p:nvPr/>
        </p:nvSpPr>
        <p:spPr>
          <a:xfrm>
            <a:off x="7269480" y="3675888"/>
            <a:ext cx="4023360" cy="1051560"/>
          </a:xfrm>
          <a:prstGeom prst="rect">
            <a:avLst/>
          </a:prstGeom>
          <a:noFill/>
          <a:ln/>
        </p:spPr>
        <p:txBody>
          <a:bodyPr wrap="square" rtlCol="0" anchor="ctr"/>
          <a:lstStyle/>
          <a:p>
            <a:pPr indent="0" marL="0">
              <a:lnSpc>
                <a:spcPct val="120000"/>
              </a:lnSpc>
              <a:buNone/>
            </a:pPr>
            <a:r>
              <a:rPr lang="en-US" sz="1400" dirty="0">
                <a:solidFill>
                  <a:srgbClr val="1B1B2F"/>
                </a:solidFill>
                <a:latin typeface="Calibri" pitchFamily="34" charset="0"/>
                <a:ea typeface="Calibri" pitchFamily="34" charset="-122"/>
                <a:cs typeface="Calibri" pitchFamily="34" charset="-120"/>
              </a:rPr>
              <a:t>Identify conflicts among shareholders, employees, consumers, regulators, environment</a:t>
            </a:r>
            <a:endParaRPr lang="en-US" sz="1400" dirty="0"/>
          </a:p>
        </p:txBody>
      </p:sp>
      <p:sp>
        <p:nvSpPr>
          <p:cNvPr id="20" name="Shape 18"/>
          <p:cNvSpPr/>
          <p:nvPr/>
        </p:nvSpPr>
        <p:spPr>
          <a:xfrm>
            <a:off x="640080" y="5120640"/>
            <a:ext cx="5257800" cy="1417320"/>
          </a:xfrm>
          <a:prstGeom prst="roundRect">
            <a:avLst>
              <a:gd name="adj" fmla="val 6452"/>
            </a:avLst>
          </a:prstGeom>
          <a:solidFill>
            <a:srgbClr val="F4F3F7"/>
          </a:solidFill>
          <a:ln/>
          <a:effectLst>
            <a:outerShdw sx="100000" sy="100000" kx="0" ky="0" algn="bl" rotWithShape="0" blurRad="101600" dist="38100" dir="2700000">
              <a:srgbClr val="000000">
                <a:alpha val="14000"/>
              </a:srgbClr>
            </a:outerShdw>
          </a:effectLst>
        </p:spPr>
      </p:sp>
      <p:sp>
        <p:nvSpPr>
          <p:cNvPr id="21" name="Shape 19"/>
          <p:cNvSpPr/>
          <p:nvPr/>
        </p:nvSpPr>
        <p:spPr>
          <a:xfrm>
            <a:off x="896112" y="5376672"/>
            <a:ext cx="566928" cy="566928"/>
          </a:xfrm>
          <a:prstGeom prst="ellipse">
            <a:avLst/>
          </a:prstGeom>
          <a:solidFill>
            <a:srgbClr val="1B1B2F"/>
          </a:solidFill>
          <a:ln/>
        </p:spPr>
      </p:sp>
      <p:sp>
        <p:nvSpPr>
          <p:cNvPr id="22" name="Text 20"/>
          <p:cNvSpPr/>
          <p:nvPr/>
        </p:nvSpPr>
        <p:spPr>
          <a:xfrm>
            <a:off x="896112" y="5376672"/>
            <a:ext cx="566928" cy="566928"/>
          </a:xfrm>
          <a:prstGeom prst="rect">
            <a:avLst/>
          </a:prstGeom>
          <a:noFill/>
          <a:ln/>
        </p:spPr>
        <p:txBody>
          <a:bodyPr wrap="square" rtlCol="0" anchor="ctr"/>
          <a:lstStyle/>
          <a:p>
            <a:pPr algn="ctr" indent="0" marL="0">
              <a:buNone/>
            </a:pPr>
            <a:r>
              <a:rPr lang="en-US" sz="2000" b="1" dirty="0">
                <a:solidFill>
                  <a:srgbClr val="C9A227"/>
                </a:solidFill>
                <a:latin typeface="Cambria" pitchFamily="34" charset="0"/>
                <a:ea typeface="Cambria" pitchFamily="34" charset="-122"/>
                <a:cs typeface="Cambria" pitchFamily="34" charset="-120"/>
              </a:rPr>
              <a:t>5</a:t>
            </a:r>
            <a:endParaRPr lang="en-US" sz="2000" dirty="0"/>
          </a:p>
        </p:txBody>
      </p:sp>
      <p:sp>
        <p:nvSpPr>
          <p:cNvPr id="23" name="Text 21"/>
          <p:cNvSpPr/>
          <p:nvPr/>
        </p:nvSpPr>
        <p:spPr>
          <a:xfrm>
            <a:off x="1645920" y="5321808"/>
            <a:ext cx="4023360" cy="1051560"/>
          </a:xfrm>
          <a:prstGeom prst="rect">
            <a:avLst/>
          </a:prstGeom>
          <a:noFill/>
          <a:ln/>
        </p:spPr>
        <p:txBody>
          <a:bodyPr wrap="square" rtlCol="0" anchor="ctr"/>
          <a:lstStyle/>
          <a:p>
            <a:pPr indent="0" marL="0">
              <a:lnSpc>
                <a:spcPct val="120000"/>
              </a:lnSpc>
              <a:buNone/>
            </a:pPr>
            <a:r>
              <a:rPr lang="en-US" sz="1400" dirty="0">
                <a:solidFill>
                  <a:srgbClr val="1B1B2F"/>
                </a:solidFill>
                <a:latin typeface="Calibri" pitchFamily="34" charset="0"/>
                <a:ea typeface="Calibri" pitchFamily="34" charset="-122"/>
                <a:cs typeface="Calibri" pitchFamily="34" charset="-120"/>
              </a:rPr>
              <a:t>Evaluate the ethical implications of its AI or digital technologies</a:t>
            </a:r>
            <a:endParaRPr lang="en-US" sz="1400" dirty="0"/>
          </a:p>
        </p:txBody>
      </p:sp>
      <p:sp>
        <p:nvSpPr>
          <p:cNvPr id="24" name="Shape 22"/>
          <p:cNvSpPr/>
          <p:nvPr/>
        </p:nvSpPr>
        <p:spPr>
          <a:xfrm>
            <a:off x="6263640" y="5120640"/>
            <a:ext cx="5257800" cy="1417320"/>
          </a:xfrm>
          <a:prstGeom prst="roundRect">
            <a:avLst>
              <a:gd name="adj" fmla="val 6452"/>
            </a:avLst>
          </a:prstGeom>
          <a:solidFill>
            <a:srgbClr val="F4F3F7"/>
          </a:solidFill>
          <a:ln/>
          <a:effectLst>
            <a:outerShdw sx="100000" sy="100000" kx="0" ky="0" algn="bl" rotWithShape="0" blurRad="101600" dist="38100" dir="2700000">
              <a:srgbClr val="000000">
                <a:alpha val="14000"/>
              </a:srgbClr>
            </a:outerShdw>
          </a:effectLst>
        </p:spPr>
      </p:sp>
      <p:sp>
        <p:nvSpPr>
          <p:cNvPr id="25" name="Shape 23"/>
          <p:cNvSpPr/>
          <p:nvPr/>
        </p:nvSpPr>
        <p:spPr>
          <a:xfrm>
            <a:off x="6519672" y="5376672"/>
            <a:ext cx="566928" cy="566928"/>
          </a:xfrm>
          <a:prstGeom prst="ellipse">
            <a:avLst/>
          </a:prstGeom>
          <a:solidFill>
            <a:srgbClr val="1B1B2F"/>
          </a:solidFill>
          <a:ln/>
        </p:spPr>
      </p:sp>
      <p:sp>
        <p:nvSpPr>
          <p:cNvPr id="26" name="Text 24"/>
          <p:cNvSpPr/>
          <p:nvPr/>
        </p:nvSpPr>
        <p:spPr>
          <a:xfrm>
            <a:off x="6519672" y="5376672"/>
            <a:ext cx="566928" cy="566928"/>
          </a:xfrm>
          <a:prstGeom prst="rect">
            <a:avLst/>
          </a:prstGeom>
          <a:noFill/>
          <a:ln/>
        </p:spPr>
        <p:txBody>
          <a:bodyPr wrap="square" rtlCol="0" anchor="ctr"/>
          <a:lstStyle/>
          <a:p>
            <a:pPr algn="ctr" indent="0" marL="0">
              <a:buNone/>
            </a:pPr>
            <a:r>
              <a:rPr lang="en-US" sz="2000" b="1" dirty="0">
                <a:solidFill>
                  <a:srgbClr val="C9A227"/>
                </a:solidFill>
                <a:latin typeface="Cambria" pitchFamily="34" charset="0"/>
                <a:ea typeface="Cambria" pitchFamily="34" charset="-122"/>
                <a:cs typeface="Cambria" pitchFamily="34" charset="-120"/>
              </a:rPr>
              <a:t>6</a:t>
            </a:r>
            <a:endParaRPr lang="en-US" sz="2000" dirty="0"/>
          </a:p>
        </p:txBody>
      </p:sp>
      <p:sp>
        <p:nvSpPr>
          <p:cNvPr id="27" name="Text 25"/>
          <p:cNvSpPr/>
          <p:nvPr/>
        </p:nvSpPr>
        <p:spPr>
          <a:xfrm>
            <a:off x="7269480" y="5321808"/>
            <a:ext cx="4023360" cy="1051560"/>
          </a:xfrm>
          <a:prstGeom prst="rect">
            <a:avLst/>
          </a:prstGeom>
          <a:noFill/>
          <a:ln/>
        </p:spPr>
        <p:txBody>
          <a:bodyPr wrap="square" rtlCol="0" anchor="ctr"/>
          <a:lstStyle/>
          <a:p>
            <a:pPr indent="0" marL="0">
              <a:lnSpc>
                <a:spcPct val="120000"/>
              </a:lnSpc>
              <a:buNone/>
            </a:pPr>
            <a:r>
              <a:rPr lang="en-US" sz="1400" dirty="0">
                <a:solidFill>
                  <a:srgbClr val="1B1B2F"/>
                </a:solidFill>
                <a:latin typeface="Calibri" pitchFamily="34" charset="0"/>
                <a:ea typeface="Calibri" pitchFamily="34" charset="-122"/>
                <a:cs typeface="Calibri" pitchFamily="34" charset="-120"/>
              </a:rPr>
              <a:t>Recommend governance, product, and sustainability improvements</a:t>
            </a:r>
            <a:endParaRPr lang="en-US" sz="1400" dirty="0"/>
          </a:p>
        </p:txBody>
      </p:sp>
      <p:sp>
        <p:nvSpPr>
          <p:cNvPr id="28" name="Text 26"/>
          <p:cNvSpPr/>
          <p:nvPr/>
        </p:nvSpPr>
        <p:spPr>
          <a:xfrm>
            <a:off x="11000232" y="6400800"/>
            <a:ext cx="914400" cy="320040"/>
          </a:xfrm>
          <a:prstGeom prst="rect">
            <a:avLst/>
          </a:prstGeom>
          <a:noFill/>
          <a:ln/>
        </p:spPr>
        <p:txBody>
          <a:bodyPr wrap="square" rtlCol="0" anchor="ctr"/>
          <a:lstStyle/>
          <a:p>
            <a:pPr algn="r" indent="0" marL="0">
              <a:buNone/>
            </a:pPr>
            <a:r>
              <a:rPr lang="en-US" sz="1000" dirty="0">
                <a:solidFill>
                  <a:srgbClr val="6B6B80"/>
                </a:solidFill>
                <a:latin typeface="Calibri" pitchFamily="34" charset="0"/>
                <a:ea typeface="Calibri" pitchFamily="34" charset="-122"/>
                <a:cs typeface="Calibri" pitchFamily="34" charset="-120"/>
              </a:rPr>
              <a:t>13 / 14</a:t>
            </a:r>
            <a:endParaRPr lang="en-US" sz="1000" dirty="0"/>
          </a:p>
        </p:txBody>
      </p:sp>
      <p:sp>
        <p:nvSpPr>
          <p:cNvPr id="29" name="Text 27"/>
          <p:cNvSpPr/>
          <p:nvPr/>
        </p:nvSpPr>
        <p:spPr>
          <a:xfrm>
            <a:off x="548640" y="6400800"/>
            <a:ext cx="5486400" cy="320040"/>
          </a:xfrm>
          <a:prstGeom prst="rect">
            <a:avLst/>
          </a:prstGeom>
          <a:noFill/>
          <a:ln/>
        </p:spPr>
        <p:txBody>
          <a:bodyPr wrap="square" rtlCol="0" anchor="ctr"/>
          <a:lstStyle/>
          <a:p>
            <a:pPr indent="0" marL="0">
              <a:buNone/>
            </a:pPr>
            <a:r>
              <a:rPr lang="en-US" sz="1000" spc="100" kern="0" dirty="0">
                <a:solidFill>
                  <a:srgbClr val="6B6B80"/>
                </a:solidFill>
                <a:latin typeface="Calibri" pitchFamily="34" charset="0"/>
                <a:ea typeface="Calibri" pitchFamily="34" charset="-122"/>
                <a:cs typeface="Calibri" pitchFamily="34" charset="-120"/>
              </a:rPr>
              <a:t>LACANIAN ETHICS IN THE DIGITAL AGE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1B2F"/>
        </a:solidFill>
      </p:bgPr>
    </p:bg>
    <p:spTree>
      <p:nvGrpSpPr>
        <p:cNvPr id="1" name=""/>
        <p:cNvGrpSpPr/>
        <p:nvPr/>
      </p:nvGrpSpPr>
      <p:grpSpPr>
        <a:xfrm>
          <a:off x="0" y="0"/>
          <a:ext cx="0" cy="0"/>
          <a:chOff x="0" y="0"/>
          <a:chExt cx="0" cy="0"/>
        </a:xfrm>
      </p:grpSpPr>
      <p:sp>
        <p:nvSpPr>
          <p:cNvPr id="2" name="Shape 0"/>
          <p:cNvSpPr/>
          <p:nvPr/>
        </p:nvSpPr>
        <p:spPr>
          <a:xfrm>
            <a:off x="-2194560" y="3474720"/>
            <a:ext cx="5943600" cy="5943600"/>
          </a:xfrm>
          <a:prstGeom prst="ellipse">
            <a:avLst/>
          </a:prstGeom>
          <a:solidFill>
            <a:srgbClr val="2A2A47"/>
          </a:solidFill>
          <a:ln/>
        </p:spPr>
      </p:sp>
      <p:sp>
        <p:nvSpPr>
          <p:cNvPr id="3" name="Text 1"/>
          <p:cNvSpPr/>
          <p:nvPr/>
        </p:nvSpPr>
        <p:spPr>
          <a:xfrm>
            <a:off x="822960" y="1097280"/>
            <a:ext cx="54864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CONCLUSION</a:t>
            </a:r>
            <a:endParaRPr lang="en-US" sz="1300" dirty="0"/>
          </a:p>
        </p:txBody>
      </p:sp>
      <p:sp>
        <p:nvSpPr>
          <p:cNvPr id="4" name="Text 2"/>
          <p:cNvSpPr/>
          <p:nvPr/>
        </p:nvSpPr>
        <p:spPr>
          <a:xfrm>
            <a:off x="822960" y="1463040"/>
            <a:ext cx="960120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Ethics as more than a set of rules</a:t>
            </a:r>
            <a:endParaRPr lang="en-US" sz="3200" dirty="0"/>
          </a:p>
        </p:txBody>
      </p:sp>
      <p:sp>
        <p:nvSpPr>
          <p:cNvPr id="5" name="Text 3"/>
          <p:cNvSpPr/>
          <p:nvPr/>
        </p:nvSpPr>
        <p:spPr>
          <a:xfrm>
            <a:off x="822960" y="2514600"/>
            <a:ext cx="7863840" cy="1371600"/>
          </a:xfrm>
          <a:prstGeom prst="rect">
            <a:avLst/>
          </a:prstGeom>
          <a:noFill/>
          <a:ln/>
        </p:spPr>
        <p:txBody>
          <a:bodyPr wrap="square" rtlCol="0" anchor="ctr"/>
          <a:lstStyle/>
          <a:p>
            <a:pPr indent="0" marL="0">
              <a:lnSpc>
                <a:spcPct val="140000"/>
              </a:lnSpc>
              <a:buNone/>
            </a:pPr>
            <a:r>
              <a:rPr lang="en-US" sz="1600" dirty="0">
                <a:solidFill>
                  <a:srgbClr val="E8E6F0"/>
                </a:solidFill>
                <a:latin typeface="Calibri" pitchFamily="34" charset="0"/>
                <a:ea typeface="Calibri" pitchFamily="34" charset="-122"/>
                <a:cs typeface="Calibri" pitchFamily="34" charset="-120"/>
              </a:rPr>
              <a:t>Traditional ethics explains what organizations ought to do. Lacanian theory helps explain why they struggle to act on it. Together, they equip learners to navigate the intersection of profitability, innovation, human well-being, sustainability, and AI.</a:t>
            </a:r>
            <a:endParaRPr lang="en-US" sz="1600" dirty="0"/>
          </a:p>
        </p:txBody>
      </p:sp>
      <p:sp>
        <p:nvSpPr>
          <p:cNvPr id="6" name="Shape 4"/>
          <p:cNvSpPr/>
          <p:nvPr/>
        </p:nvSpPr>
        <p:spPr>
          <a:xfrm>
            <a:off x="822960" y="4480560"/>
            <a:ext cx="548640" cy="548640"/>
          </a:xfrm>
          <a:prstGeom prst="ellipse">
            <a:avLst/>
          </a:prstGeom>
          <a:solidFill>
            <a:srgbClr val="2A2A47"/>
          </a:solidFill>
          <a:ln/>
        </p:spPr>
      </p:sp>
      <p:pic>
        <p:nvPicPr>
          <p:cNvPr id="7" name="Image 0" descr="preencoded.png">    </p:cNvPr>
          <p:cNvPicPr>
            <a:picLocks noChangeAspect="1"/>
          </p:cNvPicPr>
          <p:nvPr/>
        </p:nvPicPr>
        <p:blipFill>
          <a:blip r:embed="rId1"/>
          <a:stretch>
            <a:fillRect/>
          </a:stretch>
        </p:blipFill>
        <p:spPr>
          <a:xfrm>
            <a:off x="894283" y="4551883"/>
            <a:ext cx="405994" cy="405994"/>
          </a:xfrm>
          <a:prstGeom prst="rect">
            <a:avLst/>
          </a:prstGeom>
        </p:spPr>
      </p:pic>
      <p:sp>
        <p:nvSpPr>
          <p:cNvPr id="8" name="Text 5"/>
          <p:cNvSpPr/>
          <p:nvPr/>
        </p:nvSpPr>
        <p:spPr>
          <a:xfrm>
            <a:off x="1554480" y="4507992"/>
            <a:ext cx="7772400" cy="502920"/>
          </a:xfrm>
          <a:prstGeom prst="rect">
            <a:avLst/>
          </a:prstGeom>
          <a:noFill/>
          <a:ln/>
        </p:spPr>
        <p:txBody>
          <a:bodyPr wrap="square" rtlCol="0" anchor="ctr"/>
          <a:lstStyle/>
          <a:p>
            <a:pPr indent="0" marL="0">
              <a:buNone/>
            </a:pPr>
            <a:r>
              <a:rPr lang="en-US" sz="1400" i="1" dirty="0">
                <a:solidFill>
                  <a:srgbClr val="C9A227"/>
                </a:solidFill>
                <a:latin typeface="Calibri" pitchFamily="34" charset="0"/>
                <a:ea typeface="Calibri" pitchFamily="34" charset="-122"/>
                <a:cs typeface="Calibri" pitchFamily="34" charset="-120"/>
              </a:rPr>
              <a:t>A learning design for the age of AI, platforms, and unconscious desire.</a:t>
            </a:r>
            <a:endParaRPr lang="en-US" sz="1400" dirty="0"/>
          </a:p>
        </p:txBody>
      </p:sp>
      <p:sp>
        <p:nvSpPr>
          <p:cNvPr id="9" name="Text 6"/>
          <p:cNvSpPr/>
          <p:nvPr/>
        </p:nvSpPr>
        <p:spPr>
          <a:xfrm>
            <a:off x="822960" y="6172200"/>
            <a:ext cx="5486400" cy="365760"/>
          </a:xfrm>
          <a:prstGeom prst="rect">
            <a:avLst/>
          </a:prstGeom>
          <a:noFill/>
          <a:ln/>
        </p:spPr>
        <p:txBody>
          <a:bodyPr wrap="square" rtlCol="0" anchor="ctr"/>
          <a:lstStyle/>
          <a:p>
            <a:pPr indent="0" marL="0">
              <a:buNone/>
            </a:pPr>
            <a:r>
              <a:rPr lang="en-US" sz="1200" dirty="0">
                <a:solidFill>
                  <a:srgbClr val="9A9AB8"/>
                </a:solidFill>
                <a:latin typeface="Calibri" pitchFamily="34" charset="0"/>
                <a:ea typeface="Calibri" pitchFamily="34" charset="-122"/>
                <a:cs typeface="Calibri" pitchFamily="34" charset="-120"/>
              </a:rPr>
              <a:t>Berry Lab Pal  |  Instructional Design Portfolio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Lacanian Ethics in the Digital Age</dc:title>
  <dc:subject>PptxGenJS Presentation</dc:subject>
  <dc:creator>Berry Lab Pal</dc:creator>
  <cp:lastModifiedBy>Berry Lab Pal</cp:lastModifiedBy>
  <cp:revision>1</cp:revision>
  <dcterms:created xsi:type="dcterms:W3CDTF">2026-07-05T18:34:36Z</dcterms:created>
  <dcterms:modified xsi:type="dcterms:W3CDTF">2026-07-05T18:34:36Z</dcterms:modified>
</cp:coreProperties>
</file>