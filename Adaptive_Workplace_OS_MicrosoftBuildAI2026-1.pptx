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37160"/>
          </a:xfrm>
          <a:prstGeom prst="rect">
            <a:avLst/>
          </a:prstGeom>
          <a:solidFill>
            <a:srgbClr val="00BCF2"/>
          </a:solidFill>
          <a:ln w="12700">
            <a:solidFill>
              <a:srgbClr val="00BCF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822960"/>
            <a:ext cx="1645920" cy="1645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320040"/>
            <a:ext cx="2926080" cy="411480"/>
          </a:xfrm>
          <a:prstGeom prst="roundRect">
            <a:avLst>
              <a:gd name="adj" fmla="val 11111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320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MICROSOFT BUILD AI 2026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10058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457200" y="173736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B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OS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457200" y="26974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F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 AI-Powered Operating System for the Modern Enterprise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3291840"/>
            <a:ext cx="502920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3429000"/>
            <a:ext cx="3840480" cy="384048"/>
          </a:xfrm>
          <a:prstGeom prst="roundRect">
            <a:avLst>
              <a:gd name="adj" fmla="val 11905"/>
            </a:avLst>
          </a:prstGeom>
          <a:solidFill>
            <a:srgbClr val="162236"/>
          </a:solidFill>
          <a:ln w="12700">
            <a:solidFill>
              <a:srgbClr val="00BC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34290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CF2"/>
                </a:solidFill>
              </a:rPr>
              <a:t>Track: AI at Work — Productivity &amp; Teamwork Reimagined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3977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496AB"/>
                </a:solidFill>
              </a:rPr>
              <a:t>Pallab Behari Chaklanabis  |  Team: Solo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496AB"/>
                </a:solidFill>
              </a:rPr>
              <a:t>Powered by Azure OpenAI · Azure AI Foundry · Microsoft Graph API · Azure AI Search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TEAM &amp; SUBMISSION DETAILS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914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80160"/>
            <a:ext cx="3931920" cy="3200400"/>
          </a:xfrm>
          <a:prstGeom prst="rect">
            <a:avLst/>
          </a:prstGeom>
          <a:solidFill>
            <a:srgbClr val="F0F6FF"/>
          </a:solidFill>
          <a:ln w="12700">
            <a:solidFill>
              <a:srgbClr val="E8EFF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417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</a:rPr>
              <a:t>TEAM MEMBER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20574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496AB"/>
                </a:solidFill>
              </a:rPr>
              <a:t>Name: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828800" y="20574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</a:rPr>
              <a:t>Pallab Behari Chaklanabis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" y="25146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496AB"/>
                </a:solidFill>
              </a:rPr>
              <a:t>Background: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828800" y="25146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</a:rPr>
              <a:t>Electrical Engineering Graduate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4360" y="29718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496AB"/>
                </a:solidFill>
              </a:rPr>
              <a:t>Location: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828800" y="29718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</a:rPr>
              <a:t>Kolkata, India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754880" y="1280160"/>
            <a:ext cx="3977640" cy="3200400"/>
          </a:xfrm>
          <a:prstGeom prst="rect">
            <a:avLst/>
          </a:prstGeom>
          <a:solidFill>
            <a:srgbClr val="F0F6FF"/>
          </a:solidFill>
          <a:ln w="12700">
            <a:solidFill>
              <a:srgbClr val="E8EFF7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1732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669280" y="14173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</a:rPr>
              <a:t>SUBMISSION INFO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892040" y="20574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496AB"/>
                </a:solidFill>
              </a:rPr>
              <a:t>Hackathon: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126480" y="20574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</a:rPr>
              <a:t>Microsoft Build AI 2026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892040" y="244144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496AB"/>
                </a:solidFill>
              </a:rPr>
              <a:t>Theme: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126480" y="24414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</a:rPr>
              <a:t>AI at Work: Productivity &amp;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126480" y="282549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</a:rPr>
              <a:t>Teamwork Reimagined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892040" y="320954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496AB"/>
                </a:solidFill>
              </a:rPr>
              <a:t>Phase: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126480" y="320954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</a:rPr>
              <a:t>Prototype Phase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892040" y="359359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496AB"/>
                </a:solidFill>
              </a:rPr>
              <a:t>Submitted: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126480" y="35935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</a:rPr>
              <a:t>June 2026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411480" y="46177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496AB"/>
                </a:solidFill>
              </a:rPr>
              <a:t>Solo submission — all design, research, architecture and documentation by Pallab Behari Chaklanabis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7630C"/>
          </a:solidFill>
          <a:ln w="12700">
            <a:solidFill>
              <a:srgbClr val="F763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19050">
            <a:solidFill>
              <a:srgbClr val="F763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6868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FF7"/>
                </a:solidFill>
              </a:rPr>
              <a:t>Modern organizations operate across multiple disconnected applications — creating a fragmented work environment that costs time, energy and focus.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2743200" cy="1298448"/>
          </a:xfrm>
          <a:prstGeom prst="rect">
            <a:avLst/>
          </a:prstGeom>
          <a:solidFill>
            <a:srgbClr val="162236"/>
          </a:solidFill>
          <a:ln w="12700">
            <a:solidFill>
              <a:srgbClr val="1A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664208"/>
            <a:ext cx="73152" cy="1298448"/>
          </a:xfrm>
          <a:prstGeom prst="rect">
            <a:avLst/>
          </a:prstGeom>
          <a:solidFill>
            <a:srgbClr val="F7630C"/>
          </a:solidFill>
          <a:ln w="12700">
            <a:solidFill>
              <a:srgbClr val="F7630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8288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801368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Information Overload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84632" y="2322576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FF7"/>
                </a:solidFill>
              </a:rPr>
              <a:t>Emails, notifications &amp; meetings create constant noise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91840" y="1664208"/>
            <a:ext cx="2743200" cy="1298448"/>
          </a:xfrm>
          <a:prstGeom prst="rect">
            <a:avLst/>
          </a:prstGeom>
          <a:solidFill>
            <a:srgbClr val="162236"/>
          </a:solidFill>
          <a:ln w="12700">
            <a:solidFill>
              <a:srgbClr val="1A2D4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91840" y="1664208"/>
            <a:ext cx="73152" cy="1298448"/>
          </a:xfrm>
          <a:prstGeom prst="rect">
            <a:avLst/>
          </a:prstGeom>
          <a:solidFill>
            <a:srgbClr val="F7630C"/>
          </a:solidFill>
          <a:ln w="12700">
            <a:solidFill>
              <a:srgbClr val="F7630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182880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50208" y="1801368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Poor Task Prioritization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3429000" y="2322576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FF7"/>
                </a:solidFill>
              </a:rPr>
              <a:t>No unified view of deadlines, workload or urgency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36208" y="1664208"/>
            <a:ext cx="2743200" cy="1298448"/>
          </a:xfrm>
          <a:prstGeom prst="rect">
            <a:avLst/>
          </a:prstGeom>
          <a:solidFill>
            <a:srgbClr val="162236"/>
          </a:solidFill>
          <a:ln w="12700">
            <a:solidFill>
              <a:srgbClr val="1A2D4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36208" y="1664208"/>
            <a:ext cx="73152" cy="1298448"/>
          </a:xfrm>
          <a:prstGeom prst="rect">
            <a:avLst/>
          </a:prstGeom>
          <a:solidFill>
            <a:srgbClr val="F7630C"/>
          </a:solidFill>
          <a:ln w="12700">
            <a:solidFill>
              <a:srgbClr val="F7630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2880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94576" y="1801368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Admin Burden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373368" y="2322576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FF7"/>
                </a:solidFill>
              </a:rPr>
              <a:t>Repetitive drafting, logging and status reporting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347472" y="3127248"/>
            <a:ext cx="2743200" cy="1298448"/>
          </a:xfrm>
          <a:prstGeom prst="rect">
            <a:avLst/>
          </a:prstGeom>
          <a:solidFill>
            <a:srgbClr val="162236"/>
          </a:solidFill>
          <a:ln w="12700">
            <a:solidFill>
              <a:srgbClr val="1A2D45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47472" y="3127248"/>
            <a:ext cx="73152" cy="1298448"/>
          </a:xfrm>
          <a:prstGeom prst="rect">
            <a:avLst/>
          </a:prstGeom>
          <a:solidFill>
            <a:srgbClr val="F7630C"/>
          </a:solidFill>
          <a:ln w="12700">
            <a:solidFill>
              <a:srgbClr val="F7630C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329184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05840" y="3264408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Scattered Knowledge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84632" y="3785616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FF7"/>
                </a:solidFill>
              </a:rPr>
              <a:t>Org data spread across disconnected silos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3291840" y="3127248"/>
            <a:ext cx="2743200" cy="1298448"/>
          </a:xfrm>
          <a:prstGeom prst="rect">
            <a:avLst/>
          </a:prstGeom>
          <a:solidFill>
            <a:srgbClr val="162236"/>
          </a:solidFill>
          <a:ln w="12700">
            <a:solidFill>
              <a:srgbClr val="1A2D45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3291840" y="3127248"/>
            <a:ext cx="73152" cy="1298448"/>
          </a:xfrm>
          <a:prstGeom prst="rect">
            <a:avLst/>
          </a:prstGeom>
          <a:solidFill>
            <a:srgbClr val="F7630C"/>
          </a:solidFill>
          <a:ln w="12700">
            <a:solidFill>
              <a:srgbClr val="F7630C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6432" y="3291840"/>
            <a:ext cx="411480" cy="4114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950208" y="3264408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Audit Inefficiency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3429000" y="3785616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FF7"/>
                </a:solidFill>
              </a:rPr>
              <a:t>Manual compliance review is slow and error-prone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6236208" y="3127248"/>
            <a:ext cx="2743200" cy="1298448"/>
          </a:xfrm>
          <a:prstGeom prst="rect">
            <a:avLst/>
          </a:prstGeom>
          <a:solidFill>
            <a:srgbClr val="162236"/>
          </a:solidFill>
          <a:ln w="12700">
            <a:solidFill>
              <a:srgbClr val="1A2D45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6236208" y="3127248"/>
            <a:ext cx="73152" cy="1298448"/>
          </a:xfrm>
          <a:prstGeom prst="rect">
            <a:avLst/>
          </a:prstGeom>
          <a:solidFill>
            <a:srgbClr val="F7630C"/>
          </a:solidFill>
          <a:ln w="12700">
            <a:solidFill>
              <a:srgbClr val="F7630C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291840"/>
            <a:ext cx="411480" cy="41148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894576" y="3264408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Employee Burnout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6373368" y="3785616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FF7"/>
                </a:solidFill>
              </a:rPr>
              <a:t>Balancing regular work, training &amp; projects with no AI support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SOLUTION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914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430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D"/>
                </a:solidFill>
              </a:rPr>
              <a:t>One interface. No app-switching. Auto-submits daily tasks, runs projects on employee feasibility, audits with GenAI, and escalates ideas to management.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737360"/>
            <a:ext cx="2651760" cy="3200400"/>
          </a:xfrm>
          <a:prstGeom prst="rect">
            <a:avLst/>
          </a:prstGeom>
          <a:solidFill>
            <a:srgbClr val="F0F6FF"/>
          </a:solidFill>
          <a:ln w="12700">
            <a:solidFill>
              <a:srgbClr val="E8EF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737360"/>
            <a:ext cx="2651760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810512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87552" y="17373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Friction-Free Task OS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84632" y="251460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</a:rPr>
              <a:t>Daily tasks auto-submitted — eliminates task-level competition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</a:rPr>
              <a:t>Projects run autonomously by employee feasibility score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</a:rPr>
              <a:t>Prompts replace email formats — AI drafts and routes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</a:rPr>
              <a:t>Zero app-switching — all work through one interface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1737360"/>
            <a:ext cx="2651760" cy="3200400"/>
          </a:xfrm>
          <a:prstGeom prst="rect">
            <a:avLst/>
          </a:prstGeom>
          <a:solidFill>
            <a:srgbClr val="F0F6FF"/>
          </a:solidFill>
          <a:ln w="12700">
            <a:solidFill>
              <a:srgbClr val="E8EF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0400" y="1737360"/>
            <a:ext cx="2651760" cy="685800"/>
          </a:xfrm>
          <a:prstGeom prst="rect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810512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40480" y="17373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Shared Team Intelligence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337560" y="251460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</a:rPr>
              <a:t>Common team dashboard with preloaded tools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</a:rPr>
              <a:t>No setup required — context loaded per team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</a:rPr>
              <a:t>Meetings transcribed, summarised and shared live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</a:rPr>
              <a:t>Knowledge repository updated across all sessions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53328" y="1737360"/>
            <a:ext cx="2651760" cy="3200400"/>
          </a:xfrm>
          <a:prstGeom prst="rect">
            <a:avLst/>
          </a:prstGeom>
          <a:solidFill>
            <a:srgbClr val="F0F6FF"/>
          </a:solidFill>
          <a:ln w="12700">
            <a:solidFill>
              <a:srgbClr val="E8EFF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53328" y="1737360"/>
            <a:ext cx="2651760" cy="685800"/>
          </a:xfrm>
          <a:prstGeom prst="rect">
            <a:avLst/>
          </a:prstGeom>
          <a:solidFill>
            <a:srgbClr val="F7630C"/>
          </a:solidFill>
          <a:ln w="12700">
            <a:solidFill>
              <a:srgbClr val="F7630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1810512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93408" y="17373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GenAI Audit &amp; Idea Engine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190488" y="251460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</a:rPr>
              <a:t>Audit images and data via GenAI testing session flow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</a:rPr>
              <a:t>Compliance score from prompt-driven review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</a:rPr>
              <a:t>Bot captures ideas and stores to repository automatically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</a:rPr>
              <a:t>Brief and summary auto-escalated to higher management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CF2"/>
                </a:solidFill>
              </a:rPr>
              <a:t>Zero Task Competition   |   Autonomous Project Scheduling   |   GenAI Audit Sessions   |   Ideas → Management in One Click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F2"/>
          </a:solidFill>
          <a:ln w="12700">
            <a:solidFill>
              <a:srgbClr val="00BC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TECHNOLOGY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19050">
            <a:solidFill>
              <a:srgbClr val="00BC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914400"/>
            <a:ext cx="2029968" cy="38404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91440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FRONTEND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" y="1298448"/>
            <a:ext cx="2029968" cy="2011680"/>
          </a:xfrm>
          <a:prstGeom prst="rect">
            <a:avLst/>
          </a:prstGeom>
          <a:solidFill>
            <a:srgbClr val="162236"/>
          </a:solidFill>
          <a:ln w="12700">
            <a:solidFill>
              <a:srgbClr val="1A2D4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4475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86384" y="1426464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React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93392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86384" y="1975104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Next.js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42032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86384" y="2523744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Microsoft Fluent UI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2523744" y="914400"/>
            <a:ext cx="2029968" cy="384048"/>
          </a:xfrm>
          <a:prstGeom prst="rect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523744" y="91440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BACKEND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2523744" y="1298448"/>
            <a:ext cx="2029968" cy="2011680"/>
          </a:xfrm>
          <a:prstGeom prst="rect">
            <a:avLst/>
          </a:prstGeom>
          <a:solidFill>
            <a:srgbClr val="162236"/>
          </a:solidFill>
          <a:ln w="12700">
            <a:solidFill>
              <a:srgbClr val="1A2D45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3472" y="1444752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962656" y="1426464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.NET Core</a:t>
            </a:r>
            <a:endParaRPr lang="en-US" sz="11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3472" y="1993392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2962656" y="1975104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Azure Functions</a:t>
            </a:r>
            <a:endParaRPr lang="en-US" sz="11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3472" y="2542032"/>
            <a:ext cx="256032" cy="25603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2962656" y="2523744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Microsoft Graph APIs</a:t>
            </a:r>
            <a:endParaRPr lang="en-US" sz="1100" dirty="0"/>
          </a:p>
        </p:txBody>
      </p:sp>
      <p:sp>
        <p:nvSpPr>
          <p:cNvPr id="23" name="Shape 15"/>
          <p:cNvSpPr/>
          <p:nvPr/>
        </p:nvSpPr>
        <p:spPr>
          <a:xfrm>
            <a:off x="4700016" y="914400"/>
            <a:ext cx="2029968" cy="384048"/>
          </a:xfrm>
          <a:prstGeom prst="rect">
            <a:avLst/>
          </a:prstGeom>
          <a:solidFill>
            <a:srgbClr val="F7630C"/>
          </a:solidFill>
          <a:ln w="12700">
            <a:solidFill>
              <a:srgbClr val="F7630C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4700016" y="91440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SERVICES</a:t>
            </a:r>
            <a:endParaRPr lang="en-US" sz="1000" dirty="0"/>
          </a:p>
        </p:txBody>
      </p:sp>
      <p:sp>
        <p:nvSpPr>
          <p:cNvPr id="25" name="Shape 17"/>
          <p:cNvSpPr/>
          <p:nvPr/>
        </p:nvSpPr>
        <p:spPr>
          <a:xfrm>
            <a:off x="4700016" y="1298448"/>
            <a:ext cx="2029968" cy="2560320"/>
          </a:xfrm>
          <a:prstGeom prst="rect">
            <a:avLst/>
          </a:prstGeom>
          <a:solidFill>
            <a:srgbClr val="162236"/>
          </a:solidFill>
          <a:ln w="12700">
            <a:solidFill>
              <a:srgbClr val="1A2D45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9744" y="1444752"/>
            <a:ext cx="256032" cy="25603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138928" y="1426464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Azure OpenAI</a:t>
            </a:r>
            <a:endParaRPr lang="en-US" sz="11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9744" y="1993392"/>
            <a:ext cx="256032" cy="256032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5138928" y="1975104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Azure AI Foundry</a:t>
            </a:r>
            <a:endParaRPr lang="en-US" sz="110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9744" y="2542032"/>
            <a:ext cx="256032" cy="256032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5138928" y="2523744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Azure AI Search</a:t>
            </a:r>
            <a:endParaRPr lang="en-US" sz="1100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09744" y="3090672"/>
            <a:ext cx="256032" cy="256032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5138928" y="3072384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Azure AI Speech</a:t>
            </a:r>
            <a:endParaRPr lang="en-US" sz="1100" dirty="0"/>
          </a:p>
        </p:txBody>
      </p:sp>
      <p:sp>
        <p:nvSpPr>
          <p:cNvPr id="34" name="Shape 22"/>
          <p:cNvSpPr/>
          <p:nvPr/>
        </p:nvSpPr>
        <p:spPr>
          <a:xfrm>
            <a:off x="6876288" y="914400"/>
            <a:ext cx="2029968" cy="384048"/>
          </a:xfrm>
          <a:prstGeom prst="rect">
            <a:avLst/>
          </a:prstGeom>
          <a:solidFill>
            <a:srgbClr val="881798"/>
          </a:solidFill>
          <a:ln w="12700">
            <a:solidFill>
              <a:srgbClr val="881798"/>
            </a:solidFill>
            <a:prstDash val="solid"/>
          </a:ln>
        </p:spPr>
      </p:sp>
      <p:sp>
        <p:nvSpPr>
          <p:cNvPr id="35" name="Text 23"/>
          <p:cNvSpPr/>
          <p:nvPr/>
        </p:nvSpPr>
        <p:spPr>
          <a:xfrm>
            <a:off x="6876288" y="91440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&amp; INFRA</a:t>
            </a:r>
            <a:endParaRPr lang="en-US" sz="1000" dirty="0"/>
          </a:p>
        </p:txBody>
      </p:sp>
      <p:sp>
        <p:nvSpPr>
          <p:cNvPr id="36" name="Shape 24"/>
          <p:cNvSpPr/>
          <p:nvPr/>
        </p:nvSpPr>
        <p:spPr>
          <a:xfrm>
            <a:off x="6876288" y="1298448"/>
            <a:ext cx="2029968" cy="2560320"/>
          </a:xfrm>
          <a:prstGeom prst="rect">
            <a:avLst/>
          </a:prstGeom>
          <a:solidFill>
            <a:srgbClr val="162236"/>
          </a:solidFill>
          <a:ln w="12700">
            <a:solidFill>
              <a:srgbClr val="1A2D45"/>
            </a:solidFill>
            <a:prstDash val="solid"/>
          </a:ln>
        </p:spPr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86016" y="1444752"/>
            <a:ext cx="256032" cy="256032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7315200" y="1426464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Azure Blob Storage</a:t>
            </a:r>
            <a:endParaRPr lang="en-US" sz="1100" dirty="0"/>
          </a:p>
        </p:txBody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86016" y="1993392"/>
            <a:ext cx="256032" cy="256032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7315200" y="1975104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Azure SQL</a:t>
            </a:r>
            <a:endParaRPr lang="en-US" sz="1100" dirty="0"/>
          </a:p>
        </p:txBody>
      </p:sp>
      <p:pic>
        <p:nvPicPr>
          <p:cNvPr id="4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86016" y="2542032"/>
            <a:ext cx="256032" cy="256032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7315200" y="2523744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Microsoft Entra ID</a:t>
            </a:r>
            <a:endParaRPr lang="en-US" sz="1100" dirty="0"/>
          </a:p>
        </p:txBody>
      </p:sp>
      <p:pic>
        <p:nvPicPr>
          <p:cNvPr id="4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86016" y="3090672"/>
            <a:ext cx="256032" cy="256032"/>
          </a:xfrm>
          <a:prstGeom prst="rect">
            <a:avLst/>
          </a:prstGeom>
        </p:spPr>
      </p:pic>
      <p:sp>
        <p:nvSpPr>
          <p:cNvPr id="44" name="Text 28"/>
          <p:cNvSpPr/>
          <p:nvPr/>
        </p:nvSpPr>
        <p:spPr>
          <a:xfrm>
            <a:off x="7315200" y="3072384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Power Automate</a:t>
            </a:r>
            <a:endParaRPr lang="en-US" sz="1100" dirty="0"/>
          </a:p>
        </p:txBody>
      </p:sp>
      <p:sp>
        <p:nvSpPr>
          <p:cNvPr id="45" name="Shape 29"/>
          <p:cNvSpPr/>
          <p:nvPr/>
        </p:nvSpPr>
        <p:spPr>
          <a:xfrm>
            <a:off x="347472" y="3794760"/>
            <a:ext cx="8449056" cy="1005840"/>
          </a:xfrm>
          <a:prstGeom prst="rect">
            <a:avLst/>
          </a:prstGeom>
          <a:solidFill>
            <a:srgbClr val="162236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4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2920" y="3913632"/>
            <a:ext cx="502920" cy="502920"/>
          </a:xfrm>
          <a:prstGeom prst="rect">
            <a:avLst/>
          </a:prstGeom>
        </p:spPr>
      </p:pic>
      <p:sp>
        <p:nvSpPr>
          <p:cNvPr id="47" name="Text 30"/>
          <p:cNvSpPr/>
          <p:nvPr/>
        </p:nvSpPr>
        <p:spPr>
          <a:xfrm>
            <a:off x="1097280" y="38221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CF2"/>
                </a:solidFill>
              </a:rPr>
              <a:t>Why Azure?</a:t>
            </a:r>
            <a:endParaRPr lang="en-US" sz="1300" dirty="0"/>
          </a:p>
        </p:txBody>
      </p:sp>
      <p:pic>
        <p:nvPicPr>
          <p:cNvPr id="48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97280" y="4224528"/>
            <a:ext cx="228600" cy="228600"/>
          </a:xfrm>
          <a:prstGeom prst="rect">
            <a:avLst/>
          </a:prstGeom>
        </p:spPr>
      </p:pic>
      <p:sp>
        <p:nvSpPr>
          <p:cNvPr id="49" name="Text 31"/>
          <p:cNvSpPr/>
          <p:nvPr/>
        </p:nvSpPr>
        <p:spPr>
          <a:xfrm>
            <a:off x="1371600" y="42062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</a:rPr>
              <a:t>Enterprise-grade security</a:t>
            </a:r>
            <a:endParaRPr lang="en-US" sz="1100" dirty="0"/>
          </a:p>
        </p:txBody>
      </p:sp>
      <p:pic>
        <p:nvPicPr>
          <p:cNvPr id="5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090672" y="4224528"/>
            <a:ext cx="228600" cy="228600"/>
          </a:xfrm>
          <a:prstGeom prst="rect">
            <a:avLst/>
          </a:prstGeom>
        </p:spPr>
      </p:pic>
      <p:sp>
        <p:nvSpPr>
          <p:cNvPr id="51" name="Text 32"/>
          <p:cNvSpPr/>
          <p:nvPr/>
        </p:nvSpPr>
        <p:spPr>
          <a:xfrm>
            <a:off x="3364992" y="42062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</a:rPr>
              <a:t>Native M365 integration</a:t>
            </a:r>
            <a:endParaRPr lang="en-US" sz="1100" dirty="0"/>
          </a:p>
        </p:txBody>
      </p:sp>
      <p:pic>
        <p:nvPicPr>
          <p:cNvPr id="52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84064" y="4224528"/>
            <a:ext cx="228600" cy="228600"/>
          </a:xfrm>
          <a:prstGeom prst="rect">
            <a:avLst/>
          </a:prstGeom>
        </p:spPr>
      </p:pic>
      <p:sp>
        <p:nvSpPr>
          <p:cNvPr id="53" name="Text 33"/>
          <p:cNvSpPr/>
          <p:nvPr/>
        </p:nvSpPr>
        <p:spPr>
          <a:xfrm>
            <a:off x="5358384" y="42062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</a:rPr>
              <a:t>Scalable AI at edge</a:t>
            </a:r>
            <a:endParaRPr lang="en-US" sz="1100" dirty="0"/>
          </a:p>
        </p:txBody>
      </p:sp>
      <p:pic>
        <p:nvPicPr>
          <p:cNvPr id="54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77456" y="4224528"/>
            <a:ext cx="228600" cy="228600"/>
          </a:xfrm>
          <a:prstGeom prst="rect">
            <a:avLst/>
          </a:prstGeom>
        </p:spPr>
      </p:pic>
      <p:sp>
        <p:nvSpPr>
          <p:cNvPr id="55" name="Text 34"/>
          <p:cNvSpPr/>
          <p:nvPr/>
        </p:nvSpPr>
        <p:spPr>
          <a:xfrm>
            <a:off x="7351776" y="42062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7"/>
                </a:solidFill>
              </a:rPr>
              <a:t>Built-in governance &amp; compliance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METHODOLOGY &amp;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914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188720"/>
            <a:ext cx="2286000" cy="5029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25272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11887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Employee Login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691640"/>
            <a:ext cx="274320" cy="25603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47472" y="1965960"/>
            <a:ext cx="2286000" cy="50292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029968"/>
            <a:ext cx="347472" cy="3474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41248" y="19659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Entra ID Auth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2468880"/>
            <a:ext cx="274320" cy="256032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347472" y="2743200"/>
            <a:ext cx="2286000" cy="50292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2807208"/>
            <a:ext cx="347472" cy="34747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41248" y="2743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Role Identification</a:t>
            </a:r>
            <a:endParaRPr lang="en-US" sz="11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" y="3246120"/>
            <a:ext cx="274320" cy="256032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347472" y="3520440"/>
            <a:ext cx="2286000" cy="5029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" y="3584448"/>
            <a:ext cx="347472" cy="347472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841248" y="3520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Adaptive AI Dashboard</a:t>
            </a:r>
            <a:endParaRPr lang="en-US" sz="1100" dirty="0"/>
          </a:p>
        </p:txBody>
      </p:sp>
      <p:sp>
        <p:nvSpPr>
          <p:cNvPr id="20" name="Shape 11"/>
          <p:cNvSpPr/>
          <p:nvPr/>
        </p:nvSpPr>
        <p:spPr>
          <a:xfrm>
            <a:off x="3108960" y="1097280"/>
            <a:ext cx="3017520" cy="38404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1" name="Text 12"/>
          <p:cNvSpPr/>
          <p:nvPr/>
        </p:nvSpPr>
        <p:spPr>
          <a:xfrm>
            <a:off x="3108960" y="10972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AGENT LAYER</a:t>
            </a:r>
            <a:endParaRPr lang="en-US" sz="1200" dirty="0"/>
          </a:p>
        </p:txBody>
      </p:sp>
      <p:sp>
        <p:nvSpPr>
          <p:cNvPr id="22" name="Shape 13"/>
          <p:cNvSpPr/>
          <p:nvPr/>
        </p:nvSpPr>
        <p:spPr>
          <a:xfrm>
            <a:off x="3127248" y="1572768"/>
            <a:ext cx="1417320" cy="5303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18688" y="1664208"/>
            <a:ext cx="320040" cy="32004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3584448" y="1572768"/>
            <a:ext cx="896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Task Agent</a:t>
            </a:r>
            <a:endParaRPr lang="en-US" sz="900" dirty="0"/>
          </a:p>
        </p:txBody>
      </p:sp>
      <p:sp>
        <p:nvSpPr>
          <p:cNvPr id="25" name="Shape 15"/>
          <p:cNvSpPr/>
          <p:nvPr/>
        </p:nvSpPr>
        <p:spPr>
          <a:xfrm>
            <a:off x="4608576" y="1572768"/>
            <a:ext cx="1417320" cy="530352"/>
          </a:xfrm>
          <a:prstGeom prst="rect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0016" y="1664208"/>
            <a:ext cx="320040" cy="32004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065776" y="1572768"/>
            <a:ext cx="896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Meeting Agent</a:t>
            </a:r>
            <a:endParaRPr lang="en-US" sz="900" dirty="0"/>
          </a:p>
        </p:txBody>
      </p:sp>
      <p:sp>
        <p:nvSpPr>
          <p:cNvPr id="28" name="Shape 17"/>
          <p:cNvSpPr/>
          <p:nvPr/>
        </p:nvSpPr>
        <p:spPr>
          <a:xfrm>
            <a:off x="3127248" y="2231136"/>
            <a:ext cx="1417320" cy="530352"/>
          </a:xfrm>
          <a:prstGeom prst="rect">
            <a:avLst/>
          </a:prstGeom>
          <a:solidFill>
            <a:srgbClr val="F7630C"/>
          </a:solidFill>
          <a:ln w="12700">
            <a:solidFill>
              <a:srgbClr val="F7630C"/>
            </a:solidFill>
            <a:prstDash val="solid"/>
          </a:ln>
        </p:spPr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18688" y="2322576"/>
            <a:ext cx="320040" cy="32004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3584448" y="2231136"/>
            <a:ext cx="896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Communication Agent</a:t>
            </a:r>
            <a:endParaRPr lang="en-US" sz="900" dirty="0"/>
          </a:p>
        </p:txBody>
      </p:sp>
      <p:sp>
        <p:nvSpPr>
          <p:cNvPr id="31" name="Shape 19"/>
          <p:cNvSpPr/>
          <p:nvPr/>
        </p:nvSpPr>
        <p:spPr>
          <a:xfrm>
            <a:off x="4608576" y="2231136"/>
            <a:ext cx="1417320" cy="530352"/>
          </a:xfrm>
          <a:prstGeom prst="rect">
            <a:avLst/>
          </a:prstGeom>
          <a:solidFill>
            <a:srgbClr val="881798"/>
          </a:solidFill>
          <a:ln w="12700">
            <a:solidFill>
              <a:srgbClr val="881798"/>
            </a:solidFill>
            <a:prstDash val="solid"/>
          </a:ln>
        </p:spPr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00016" y="2322576"/>
            <a:ext cx="320040" cy="320040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5065776" y="2231136"/>
            <a:ext cx="896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Audit Agent</a:t>
            </a:r>
            <a:endParaRPr lang="en-US" sz="900" dirty="0"/>
          </a:p>
        </p:txBody>
      </p:sp>
      <p:sp>
        <p:nvSpPr>
          <p:cNvPr id="34" name="Shape 21"/>
          <p:cNvSpPr/>
          <p:nvPr/>
        </p:nvSpPr>
        <p:spPr>
          <a:xfrm>
            <a:off x="3127248" y="2889504"/>
            <a:ext cx="1417320" cy="530352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18688" y="2980944"/>
            <a:ext cx="320040" cy="320040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3584448" y="2889504"/>
            <a:ext cx="896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Knowledge Agent</a:t>
            </a:r>
            <a:endParaRPr lang="en-US" sz="900" dirty="0"/>
          </a:p>
        </p:txBody>
      </p:sp>
      <p:sp>
        <p:nvSpPr>
          <p:cNvPr id="37" name="Shape 23"/>
          <p:cNvSpPr/>
          <p:nvPr/>
        </p:nvSpPr>
        <p:spPr>
          <a:xfrm>
            <a:off x="4608576" y="2889504"/>
            <a:ext cx="1417320" cy="530352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pic>
        <p:nvPicPr>
          <p:cNvPr id="3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00016" y="2980944"/>
            <a:ext cx="320040" cy="320040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5065776" y="2889504"/>
            <a:ext cx="896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Innovation Agent</a:t>
            </a:r>
            <a:endParaRPr lang="en-US" sz="900" dirty="0"/>
          </a:p>
        </p:txBody>
      </p:sp>
      <p:sp>
        <p:nvSpPr>
          <p:cNvPr id="40" name="Shape 25"/>
          <p:cNvSpPr/>
          <p:nvPr/>
        </p:nvSpPr>
        <p:spPr>
          <a:xfrm>
            <a:off x="6537960" y="1188720"/>
            <a:ext cx="2240280" cy="5029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4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01968" y="1252728"/>
            <a:ext cx="347472" cy="347472"/>
          </a:xfrm>
          <a:prstGeom prst="rect">
            <a:avLst/>
          </a:prstGeom>
        </p:spPr>
      </p:pic>
      <p:sp>
        <p:nvSpPr>
          <p:cNvPr id="42" name="Text 26"/>
          <p:cNvSpPr/>
          <p:nvPr/>
        </p:nvSpPr>
        <p:spPr>
          <a:xfrm>
            <a:off x="6995160" y="118872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Azure AI Foundry</a:t>
            </a:r>
            <a:endParaRPr lang="en-US" sz="1000" dirty="0"/>
          </a:p>
        </p:txBody>
      </p:sp>
      <p:pic>
        <p:nvPicPr>
          <p:cNvPr id="4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06640" y="1691640"/>
            <a:ext cx="274320" cy="256032"/>
          </a:xfrm>
          <a:prstGeom prst="rect">
            <a:avLst/>
          </a:prstGeom>
        </p:spPr>
      </p:pic>
      <p:sp>
        <p:nvSpPr>
          <p:cNvPr id="44" name="Shape 27"/>
          <p:cNvSpPr/>
          <p:nvPr/>
        </p:nvSpPr>
        <p:spPr>
          <a:xfrm>
            <a:off x="6537960" y="1965960"/>
            <a:ext cx="2240280" cy="502920"/>
          </a:xfrm>
          <a:prstGeom prst="rect">
            <a:avLst/>
          </a:prstGeom>
          <a:solidFill>
            <a:srgbClr val="00BCF2"/>
          </a:solidFill>
          <a:ln w="12700">
            <a:solidFill>
              <a:srgbClr val="00BCF2"/>
            </a:solidFill>
            <a:prstDash val="solid"/>
          </a:ln>
        </p:spPr>
      </p:sp>
      <p:pic>
        <p:nvPicPr>
          <p:cNvPr id="4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01968" y="2029968"/>
            <a:ext cx="347472" cy="347472"/>
          </a:xfrm>
          <a:prstGeom prst="rect">
            <a:avLst/>
          </a:prstGeom>
        </p:spPr>
      </p:pic>
      <p:sp>
        <p:nvSpPr>
          <p:cNvPr id="46" name="Text 28"/>
          <p:cNvSpPr/>
          <p:nvPr/>
        </p:nvSpPr>
        <p:spPr>
          <a:xfrm>
            <a:off x="6995160" y="196596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Azure OpenAI + AI Search</a:t>
            </a:r>
            <a:endParaRPr lang="en-US" sz="1000" dirty="0"/>
          </a:p>
        </p:txBody>
      </p:sp>
      <p:pic>
        <p:nvPicPr>
          <p:cNvPr id="47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06640" y="2468880"/>
            <a:ext cx="274320" cy="256032"/>
          </a:xfrm>
          <a:prstGeom prst="rect">
            <a:avLst/>
          </a:prstGeom>
        </p:spPr>
      </p:pic>
      <p:sp>
        <p:nvSpPr>
          <p:cNvPr id="48" name="Shape 29"/>
          <p:cNvSpPr/>
          <p:nvPr/>
        </p:nvSpPr>
        <p:spPr>
          <a:xfrm>
            <a:off x="6537960" y="2743200"/>
            <a:ext cx="2240280" cy="502920"/>
          </a:xfrm>
          <a:prstGeom prst="rect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</p:sp>
      <p:pic>
        <p:nvPicPr>
          <p:cNvPr id="4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01968" y="2807208"/>
            <a:ext cx="347472" cy="347472"/>
          </a:xfrm>
          <a:prstGeom prst="rect">
            <a:avLst/>
          </a:prstGeom>
        </p:spPr>
      </p:pic>
      <p:sp>
        <p:nvSpPr>
          <p:cNvPr id="50" name="Text 30"/>
          <p:cNvSpPr/>
          <p:nvPr/>
        </p:nvSpPr>
        <p:spPr>
          <a:xfrm>
            <a:off x="6995160" y="274320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Enterprise Knowledge Base</a:t>
            </a:r>
            <a:endParaRPr lang="en-US" sz="1000" dirty="0"/>
          </a:p>
        </p:txBody>
      </p:sp>
      <p:pic>
        <p:nvPicPr>
          <p:cNvPr id="51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06640" y="3246120"/>
            <a:ext cx="274320" cy="256032"/>
          </a:xfrm>
          <a:prstGeom prst="rect">
            <a:avLst/>
          </a:prstGeom>
        </p:spPr>
      </p:pic>
      <p:sp>
        <p:nvSpPr>
          <p:cNvPr id="52" name="Shape 31"/>
          <p:cNvSpPr/>
          <p:nvPr/>
        </p:nvSpPr>
        <p:spPr>
          <a:xfrm>
            <a:off x="6537960" y="3520440"/>
            <a:ext cx="2240280" cy="50292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pic>
        <p:nvPicPr>
          <p:cNvPr id="53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01968" y="3584448"/>
            <a:ext cx="347472" cy="347472"/>
          </a:xfrm>
          <a:prstGeom prst="rect">
            <a:avLst/>
          </a:prstGeom>
        </p:spPr>
      </p:pic>
      <p:sp>
        <p:nvSpPr>
          <p:cNvPr id="54" name="Text 32"/>
          <p:cNvSpPr/>
          <p:nvPr/>
        </p:nvSpPr>
        <p:spPr>
          <a:xfrm>
            <a:off x="6995160" y="352044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Management Analytics</a:t>
            </a:r>
            <a:endParaRPr lang="en-US" sz="1000" dirty="0"/>
          </a:p>
        </p:txBody>
      </p:sp>
      <p:sp>
        <p:nvSpPr>
          <p:cNvPr id="55" name="Shape 3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0F6FF"/>
          </a:solidFill>
          <a:ln w="12700">
            <a:solidFill>
              <a:srgbClr val="E8EFF7"/>
            </a:solidFill>
            <a:prstDash val="solid"/>
          </a:ln>
        </p:spPr>
      </p:sp>
      <p:sp>
        <p:nvSpPr>
          <p:cNvPr id="56" name="Text 34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2D"/>
                </a:solidFill>
              </a:rPr>
              <a:t>↻  Continuous Feedback Loop — System learns and improves with every interaction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WORKFLOW — 11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19050">
            <a:solidFill>
              <a:srgbClr val="00B29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914400"/>
            <a:ext cx="1591056" cy="1234440"/>
          </a:xfrm>
          <a:prstGeom prst="rect">
            <a:avLst/>
          </a:prstGeom>
          <a:solidFill>
            <a:srgbClr val="162236"/>
          </a:solidFill>
          <a:ln w="12700">
            <a:solidFill>
              <a:srgbClr val="1A2D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005840"/>
            <a:ext cx="384048" cy="384048"/>
          </a:xfrm>
          <a:prstGeom prst="ellipse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44475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7"/>
                </a:solidFill>
              </a:rPr>
              <a:t>Employee logs in — role, workload &amp; team context loaded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57400" y="914400"/>
            <a:ext cx="1591056" cy="1234440"/>
          </a:xfrm>
          <a:prstGeom prst="rect">
            <a:avLst/>
          </a:prstGeom>
          <a:solidFill>
            <a:srgbClr val="162236"/>
          </a:solidFill>
          <a:ln w="12700">
            <a:solidFill>
              <a:srgbClr val="1A2D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48840" y="1005840"/>
            <a:ext cx="384048" cy="384048"/>
          </a:xfrm>
          <a:prstGeom prst="ellipse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8840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48840" y="144475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7"/>
                </a:solidFill>
              </a:rPr>
              <a:t>Common team dashboard opens with preloaded tools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67328" y="914400"/>
            <a:ext cx="1591056" cy="1234440"/>
          </a:xfrm>
          <a:prstGeom prst="rect">
            <a:avLst/>
          </a:prstGeom>
          <a:solidFill>
            <a:srgbClr val="162236"/>
          </a:solidFill>
          <a:ln w="12700">
            <a:solidFill>
              <a:srgbClr val="1A2D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58768" y="1005840"/>
            <a:ext cx="384048" cy="384048"/>
          </a:xfrm>
          <a:prstGeom prst="ellipse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58768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58768" y="144475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7"/>
                </a:solidFill>
              </a:rPr>
              <a:t>Daily tasks auto-submitted — no competition at task level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77256" y="914400"/>
            <a:ext cx="1591056" cy="1234440"/>
          </a:xfrm>
          <a:prstGeom prst="rect">
            <a:avLst/>
          </a:prstGeom>
          <a:solidFill>
            <a:srgbClr val="162236"/>
          </a:solidFill>
          <a:ln w="12700">
            <a:solidFill>
              <a:srgbClr val="1A2D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68696" y="1005840"/>
            <a:ext cx="384048" cy="384048"/>
          </a:xfrm>
          <a:prstGeom prst="ellipse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68696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68696" y="144475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7"/>
                </a:solidFill>
              </a:rPr>
              <a:t>Projects assessed by feasibility score — autonomous scheduling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87184" y="914400"/>
            <a:ext cx="1591056" cy="1234440"/>
          </a:xfrm>
          <a:prstGeom prst="rect">
            <a:avLst/>
          </a:prstGeom>
          <a:solidFill>
            <a:srgbClr val="162236"/>
          </a:solidFill>
          <a:ln w="12700">
            <a:solidFill>
              <a:srgbClr val="1A2D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78624" y="1005840"/>
            <a:ext cx="384048" cy="384048"/>
          </a:xfrm>
          <a:prstGeom prst="ellipse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78624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278624" y="144475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7"/>
                </a:solidFill>
              </a:rPr>
              <a:t>Prompts replace email formats — AI drafts &amp; routes messages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7472" y="2331720"/>
            <a:ext cx="1591056" cy="1234440"/>
          </a:xfrm>
          <a:prstGeom prst="rect">
            <a:avLst/>
          </a:prstGeom>
          <a:solidFill>
            <a:srgbClr val="162236"/>
          </a:solidFill>
          <a:ln w="12700">
            <a:solidFill>
              <a:srgbClr val="1A2D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" y="2423160"/>
            <a:ext cx="384048" cy="384048"/>
          </a:xfrm>
          <a:prstGeom prst="ellipse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8912" y="286207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7"/>
                </a:solidFill>
              </a:rPr>
              <a:t>Meetings transcribed live — summaries &amp; action items shared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057400" y="2331720"/>
            <a:ext cx="1591056" cy="1234440"/>
          </a:xfrm>
          <a:prstGeom prst="rect">
            <a:avLst/>
          </a:prstGeom>
          <a:solidFill>
            <a:srgbClr val="162236"/>
          </a:solidFill>
          <a:ln w="12700">
            <a:solidFill>
              <a:srgbClr val="1A2D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48840" y="2423160"/>
            <a:ext cx="384048" cy="384048"/>
          </a:xfrm>
          <a:prstGeom prst="ellipse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4884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148840" y="286207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7"/>
                </a:solidFill>
              </a:rPr>
              <a:t>Knowledge repository auto-updated across all sessions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767328" y="2331720"/>
            <a:ext cx="1591056" cy="1234440"/>
          </a:xfrm>
          <a:prstGeom prst="rect">
            <a:avLst/>
          </a:prstGeom>
          <a:solidFill>
            <a:srgbClr val="162236"/>
          </a:solidFill>
          <a:ln w="12700">
            <a:solidFill>
              <a:srgbClr val="1A2D4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58768" y="2423160"/>
            <a:ext cx="384048" cy="384048"/>
          </a:xfrm>
          <a:prstGeom prst="ellipse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58768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858768" y="286207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7"/>
                </a:solidFill>
              </a:rPr>
              <a:t>GenAI audit session — images &amp; data reviewed, scored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77256" y="2331720"/>
            <a:ext cx="1591056" cy="1234440"/>
          </a:xfrm>
          <a:prstGeom prst="rect">
            <a:avLst/>
          </a:prstGeom>
          <a:solidFill>
            <a:srgbClr val="162236"/>
          </a:solidFill>
          <a:ln w="12700">
            <a:solidFill>
              <a:srgbClr val="1A2D4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568696" y="2423160"/>
            <a:ext cx="384048" cy="384048"/>
          </a:xfrm>
          <a:prstGeom prst="ellipse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68696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568696" y="286207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7"/>
                </a:solidFill>
              </a:rPr>
              <a:t>Bot captures ideas → stored to repository automatically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187184" y="2331720"/>
            <a:ext cx="1591056" cy="1234440"/>
          </a:xfrm>
          <a:prstGeom prst="rect">
            <a:avLst/>
          </a:prstGeom>
          <a:solidFill>
            <a:srgbClr val="162236"/>
          </a:solidFill>
          <a:ln w="12700">
            <a:solidFill>
              <a:srgbClr val="1A2D4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78624" y="2423160"/>
            <a:ext cx="384048" cy="384048"/>
          </a:xfrm>
          <a:prstGeom prst="ellipse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78624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278624" y="286207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7"/>
                </a:solidFill>
              </a:rPr>
              <a:t>Brief &amp; summary generated — escalated to management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47472" y="3749040"/>
            <a:ext cx="3200400" cy="1234440"/>
          </a:xfrm>
          <a:prstGeom prst="rect">
            <a:avLst/>
          </a:prstGeom>
          <a:solidFill>
            <a:srgbClr val="162236"/>
          </a:solidFill>
          <a:ln w="12700">
            <a:solidFill>
              <a:srgbClr val="1A2D4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8912" y="3840480"/>
            <a:ext cx="384048" cy="384048"/>
          </a:xfrm>
          <a:prstGeom prst="ellipse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891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11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38912" y="427939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7"/>
                </a:solidFill>
              </a:rPr>
              <a:t>System learns and adapts via continuous feedback loop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WORKING PROTOTYPE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914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1556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</a:rPr>
              <a:t>Prototype Name: Adaptive Workplace OS   |   Scope: Functional Demonstration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572768"/>
            <a:ext cx="2697480" cy="914400"/>
          </a:xfrm>
          <a:prstGeom prst="rect">
            <a:avLst/>
          </a:prstGeom>
          <a:solidFill>
            <a:srgbClr val="F0F6FF"/>
          </a:solidFill>
          <a:ln w="12700">
            <a:solidFill>
              <a:srgbClr val="E8EF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572768"/>
            <a:ext cx="64008" cy="9144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82880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66420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</a:rPr>
              <a:t>User Login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05840" y="2048256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6AB"/>
                </a:solidFill>
              </a:rPr>
              <a:t>Secure Microsoft Entra ID authentication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00400" y="1572768"/>
            <a:ext cx="2697480" cy="914400"/>
          </a:xfrm>
          <a:prstGeom prst="rect">
            <a:avLst/>
          </a:prstGeom>
          <a:solidFill>
            <a:srgbClr val="F0F6FF"/>
          </a:solidFill>
          <a:ln w="12700">
            <a:solidFill>
              <a:srgbClr val="E8EF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0400" y="1572768"/>
            <a:ext cx="64008" cy="9144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828800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58768" y="166420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</a:rPr>
              <a:t>Adaptive AI Dashboard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858768" y="2048256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6AB"/>
                </a:solidFill>
              </a:rPr>
              <a:t>Common team view — preloaded tools, zero setup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53328" y="1572768"/>
            <a:ext cx="2697480" cy="914400"/>
          </a:xfrm>
          <a:prstGeom prst="rect">
            <a:avLst/>
          </a:prstGeom>
          <a:solidFill>
            <a:srgbClr val="F0F6FF"/>
          </a:solidFill>
          <a:ln w="12700">
            <a:solidFill>
              <a:srgbClr val="E8EFF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53328" y="1572768"/>
            <a:ext cx="64008" cy="9144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828800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11696" y="166420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</a:rPr>
              <a:t>Auto-Task Submission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711696" y="2048256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6AB"/>
                </a:solidFill>
              </a:rPr>
              <a:t>Daily tasks auto-submitted; projects on feasibility score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347472" y="2624328"/>
            <a:ext cx="2697480" cy="914400"/>
          </a:xfrm>
          <a:prstGeom prst="rect">
            <a:avLst/>
          </a:prstGeom>
          <a:solidFill>
            <a:srgbClr val="F0F6FF"/>
          </a:solidFill>
          <a:ln w="12700">
            <a:solidFill>
              <a:srgbClr val="E8EFF7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47472" y="2624328"/>
            <a:ext cx="64008" cy="9144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2880360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05840" y="271576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</a:rPr>
              <a:t>AI Chat Assistant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1005840" y="3099816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6AB"/>
                </a:solidFill>
              </a:rPr>
              <a:t>Prompt-first — no forms, no file-switching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3200400" y="2624328"/>
            <a:ext cx="2697480" cy="914400"/>
          </a:xfrm>
          <a:prstGeom prst="rect">
            <a:avLst/>
          </a:prstGeom>
          <a:solidFill>
            <a:srgbClr val="F0F6FF"/>
          </a:solidFill>
          <a:ln w="12700">
            <a:solidFill>
              <a:srgbClr val="E8EFF7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3200400" y="2624328"/>
            <a:ext cx="64008" cy="9144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2880360"/>
            <a:ext cx="384048" cy="38404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858768" y="271576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</a:rPr>
              <a:t>Meeting Intelligence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3858768" y="3099816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6AB"/>
                </a:solidFill>
              </a:rPr>
              <a:t>Live transcription, summary &amp; shared action items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6053328" y="2624328"/>
            <a:ext cx="2697480" cy="914400"/>
          </a:xfrm>
          <a:prstGeom prst="rect">
            <a:avLst/>
          </a:prstGeom>
          <a:solidFill>
            <a:srgbClr val="F0F6FF"/>
          </a:solidFill>
          <a:ln w="12700">
            <a:solidFill>
              <a:srgbClr val="E8EFF7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6053328" y="2624328"/>
            <a:ext cx="64008" cy="9144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2880360"/>
            <a:ext cx="384048" cy="38404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711696" y="271576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</a:rPr>
              <a:t>Knowledge Repository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6711696" y="3099816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6AB"/>
                </a:solidFill>
              </a:rPr>
              <a:t>RAG-powered enterprise retrieval, continuously updated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347472" y="3675888"/>
            <a:ext cx="2697480" cy="914400"/>
          </a:xfrm>
          <a:prstGeom prst="rect">
            <a:avLst/>
          </a:prstGeom>
          <a:solidFill>
            <a:srgbClr val="F0F6FF"/>
          </a:solidFill>
          <a:ln w="12700">
            <a:solidFill>
              <a:srgbClr val="E8EFF7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347472" y="3675888"/>
            <a:ext cx="64008" cy="9144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" y="3931920"/>
            <a:ext cx="384048" cy="384048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005840" y="376732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</a:rPr>
              <a:t>GenAI Audit Engine</a:t>
            </a:r>
            <a:endParaRPr lang="en-US" sz="1100" dirty="0"/>
          </a:p>
        </p:txBody>
      </p:sp>
      <p:sp>
        <p:nvSpPr>
          <p:cNvPr id="40" name="Text 31"/>
          <p:cNvSpPr/>
          <p:nvPr/>
        </p:nvSpPr>
        <p:spPr>
          <a:xfrm>
            <a:off x="1005840" y="4151376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6AB"/>
                </a:solidFill>
              </a:rPr>
              <a:t>Image &amp; data audit via GenAI with testing session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3200400" y="3675888"/>
            <a:ext cx="2697480" cy="914400"/>
          </a:xfrm>
          <a:prstGeom prst="rect">
            <a:avLst/>
          </a:prstGeom>
          <a:solidFill>
            <a:srgbClr val="F0F6FF"/>
          </a:solidFill>
          <a:ln w="12700">
            <a:solidFill>
              <a:srgbClr val="E8EFF7"/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3200400" y="3675888"/>
            <a:ext cx="64008" cy="9144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64992" y="3931920"/>
            <a:ext cx="384048" cy="384048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3858768" y="376732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</a:rPr>
              <a:t>Innovation Bot</a:t>
            </a:r>
            <a:endParaRPr lang="en-US" sz="1100" dirty="0"/>
          </a:p>
        </p:txBody>
      </p:sp>
      <p:sp>
        <p:nvSpPr>
          <p:cNvPr id="45" name="Text 35"/>
          <p:cNvSpPr/>
          <p:nvPr/>
        </p:nvSpPr>
        <p:spPr>
          <a:xfrm>
            <a:off x="3858768" y="4151376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6AB"/>
                </a:solidFill>
              </a:rPr>
              <a:t>Ideas captured → stored → brief auto-sent to management</a:t>
            </a:r>
            <a:endParaRPr lang="en-US" sz="1000" dirty="0"/>
          </a:p>
        </p:txBody>
      </p:sp>
      <p:sp>
        <p:nvSpPr>
          <p:cNvPr id="46" name="Shape 36"/>
          <p:cNvSpPr/>
          <p:nvPr/>
        </p:nvSpPr>
        <p:spPr>
          <a:xfrm>
            <a:off x="6053328" y="3675888"/>
            <a:ext cx="2697480" cy="914400"/>
          </a:xfrm>
          <a:prstGeom prst="rect">
            <a:avLst/>
          </a:prstGeom>
          <a:solidFill>
            <a:srgbClr val="F0F6FF"/>
          </a:solidFill>
          <a:ln w="12700">
            <a:solidFill>
              <a:srgbClr val="E8EFF7"/>
            </a:solidFill>
            <a:prstDash val="solid"/>
          </a:ln>
        </p:spPr>
      </p:sp>
      <p:sp>
        <p:nvSpPr>
          <p:cNvPr id="47" name="Shape 37"/>
          <p:cNvSpPr/>
          <p:nvPr/>
        </p:nvSpPr>
        <p:spPr>
          <a:xfrm>
            <a:off x="6053328" y="3675888"/>
            <a:ext cx="64008" cy="9144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7920" y="3931920"/>
            <a:ext cx="384048" cy="384048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6711696" y="376732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</a:rPr>
              <a:t>Management Dashboard</a:t>
            </a:r>
            <a:endParaRPr lang="en-US" sz="1100" dirty="0"/>
          </a:p>
        </p:txBody>
      </p:sp>
      <p:sp>
        <p:nvSpPr>
          <p:cNvPr id="50" name="Text 39"/>
          <p:cNvSpPr/>
          <p:nvPr/>
        </p:nvSpPr>
        <p:spPr>
          <a:xfrm>
            <a:off x="6711696" y="4151376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6AB"/>
                </a:solidFill>
              </a:rPr>
              <a:t>Analytics, productivity, compliance &amp; forecasting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APP WIREFRAMES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19050">
            <a:solidFill>
              <a:srgbClr val="FFB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914400"/>
            <a:ext cx="1600200" cy="3977640"/>
          </a:xfrm>
          <a:prstGeom prst="rect">
            <a:avLst/>
          </a:prstGeom>
          <a:solidFill>
            <a:srgbClr val="162236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914400"/>
            <a:ext cx="1600200" cy="4114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9144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Login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" y="1463040"/>
            <a:ext cx="1417320" cy="438912"/>
          </a:xfrm>
          <a:prstGeom prst="rect">
            <a:avLst/>
          </a:prstGeom>
          <a:solidFill>
            <a:srgbClr val="1A2D45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46304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FF7"/>
                </a:solidFill>
              </a:rPr>
              <a:t>Employee ID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8912" y="2103120"/>
            <a:ext cx="1417320" cy="438912"/>
          </a:xfrm>
          <a:prstGeom prst="rect">
            <a:avLst/>
          </a:prstGeom>
          <a:solidFill>
            <a:srgbClr val="1A2D45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10312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FF7"/>
                </a:solidFill>
              </a:rPr>
              <a:t>Password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8912" y="2743200"/>
            <a:ext cx="1417320" cy="438912"/>
          </a:xfrm>
          <a:prstGeom prst="rect">
            <a:avLst/>
          </a:prstGeom>
          <a:solidFill>
            <a:srgbClr val="1A2D45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743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FF7"/>
                </a:solidFill>
              </a:rPr>
              <a:t>[ Login 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7472" y="470916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496AB"/>
                </a:solidFill>
              </a:rPr>
              <a:t>Screen 1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066544" y="914400"/>
            <a:ext cx="1600200" cy="3977640"/>
          </a:xfrm>
          <a:prstGeom prst="rect">
            <a:avLst/>
          </a:prstGeom>
          <a:solidFill>
            <a:srgbClr val="162236"/>
          </a:solidFill>
          <a:ln w="12700">
            <a:solidFill>
              <a:srgbClr val="00B29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66544" y="914400"/>
            <a:ext cx="1600200" cy="411480"/>
          </a:xfrm>
          <a:prstGeom prst="rect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66544" y="9144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Team Dashboard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157984" y="1463040"/>
            <a:ext cx="1417320" cy="438912"/>
          </a:xfrm>
          <a:prstGeom prst="rect">
            <a:avLst/>
          </a:prstGeom>
          <a:solidFill>
            <a:srgbClr val="1A2D45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57984" y="146304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FF7"/>
                </a:solidFill>
              </a:rPr>
              <a:t>Team Tasks (auto-submitted)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157984" y="2103120"/>
            <a:ext cx="1417320" cy="438912"/>
          </a:xfrm>
          <a:prstGeom prst="rect">
            <a:avLst/>
          </a:prstGeom>
          <a:solidFill>
            <a:srgbClr val="1A2D45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57984" y="210312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FF7"/>
                </a:solidFill>
              </a:rPr>
              <a:t>Preloaded Tools Ready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157984" y="2743200"/>
            <a:ext cx="1417320" cy="438912"/>
          </a:xfrm>
          <a:prstGeom prst="rect">
            <a:avLst/>
          </a:prstGeom>
          <a:solidFill>
            <a:srgbClr val="1A2D45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57984" y="2743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FF7"/>
                </a:solidFill>
              </a:rPr>
              <a:t>Project Feasibility: 82%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157984" y="3383280"/>
            <a:ext cx="1417320" cy="438912"/>
          </a:xfrm>
          <a:prstGeom prst="rect">
            <a:avLst/>
          </a:prstGeom>
          <a:solidFill>
            <a:srgbClr val="1A2D45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57984" y="338328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FF7"/>
                </a:solidFill>
              </a:rPr>
              <a:t>AI Insights 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066544" y="470916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496AB"/>
                </a:solidFill>
              </a:rPr>
              <a:t>Screen 2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785616" y="914400"/>
            <a:ext cx="1600200" cy="3977640"/>
          </a:xfrm>
          <a:prstGeom prst="rect">
            <a:avLst/>
          </a:prstGeom>
          <a:solidFill>
            <a:srgbClr val="162236"/>
          </a:solidFill>
          <a:ln w="12700">
            <a:solidFill>
              <a:srgbClr val="F7630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85616" y="914400"/>
            <a:ext cx="1600200" cy="411480"/>
          </a:xfrm>
          <a:prstGeom prst="rect">
            <a:avLst/>
          </a:prstGeom>
          <a:solidFill>
            <a:srgbClr val="F7630C"/>
          </a:solidFill>
          <a:ln w="12700">
            <a:solidFill>
              <a:srgbClr val="F7630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85616" y="9144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Assistant Bot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77056" y="1463040"/>
            <a:ext cx="1417320" cy="438912"/>
          </a:xfrm>
          <a:prstGeom prst="rect">
            <a:avLst/>
          </a:prstGeom>
          <a:solidFill>
            <a:srgbClr val="1A2D45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77056" y="146304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FF7"/>
                </a:solidFill>
              </a:rPr>
              <a:t>Type your prompt…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877056" y="2103120"/>
            <a:ext cx="1417320" cy="438912"/>
          </a:xfrm>
          <a:prstGeom prst="rect">
            <a:avLst/>
          </a:prstGeom>
          <a:solidFill>
            <a:srgbClr val="1A2D45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77056" y="210312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FF7"/>
                </a:solidFill>
              </a:rPr>
              <a:t>&gt; Log this idea for mgmt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877056" y="2743200"/>
            <a:ext cx="1417320" cy="438912"/>
          </a:xfrm>
          <a:prstGeom prst="rect">
            <a:avLst/>
          </a:prstGeom>
          <a:solidFill>
            <a:srgbClr val="1A2D45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77056" y="2743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FF7"/>
                </a:solidFill>
              </a:rPr>
              <a:t>Stored to Repository ✓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877056" y="3383280"/>
            <a:ext cx="1417320" cy="438912"/>
          </a:xfrm>
          <a:prstGeom prst="rect">
            <a:avLst/>
          </a:prstGeom>
          <a:solidFill>
            <a:srgbClr val="1A2D45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77056" y="338328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FF7"/>
                </a:solidFill>
              </a:rPr>
              <a:t>Voice input 🎤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785616" y="470916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496AB"/>
                </a:solidFill>
              </a:rPr>
              <a:t>Screen 3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504688" y="914400"/>
            <a:ext cx="1600200" cy="3977640"/>
          </a:xfrm>
          <a:prstGeom prst="rect">
            <a:avLst/>
          </a:prstGeom>
          <a:solidFill>
            <a:srgbClr val="162236"/>
          </a:solidFill>
          <a:ln w="12700">
            <a:solidFill>
              <a:srgbClr val="88179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504688" y="914400"/>
            <a:ext cx="1600200" cy="411480"/>
          </a:xfrm>
          <a:prstGeom prst="rect">
            <a:avLst/>
          </a:prstGeom>
          <a:solidFill>
            <a:srgbClr val="881798"/>
          </a:solidFill>
          <a:ln w="12700">
            <a:solidFill>
              <a:srgbClr val="88179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04688" y="9144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GenAI Audit Session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596128" y="1463040"/>
            <a:ext cx="1417320" cy="438912"/>
          </a:xfrm>
          <a:prstGeom prst="rect">
            <a:avLst/>
          </a:prstGeom>
          <a:solidFill>
            <a:srgbClr val="1A2D45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96128" y="146304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FF7"/>
                </a:solidFill>
              </a:rPr>
              <a:t>Upload Image / Data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596128" y="2103120"/>
            <a:ext cx="1417320" cy="438912"/>
          </a:xfrm>
          <a:prstGeom prst="rect">
            <a:avLst/>
          </a:prstGeom>
          <a:solidFill>
            <a:srgbClr val="1A2D45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96128" y="210312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FF7"/>
                </a:solidFill>
              </a:rPr>
              <a:t>&gt; Run GenAI Audit Test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596128" y="2743200"/>
            <a:ext cx="1417320" cy="438912"/>
          </a:xfrm>
          <a:prstGeom prst="rect">
            <a:avLst/>
          </a:prstGeom>
          <a:solidFill>
            <a:srgbClr val="1A2D45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96128" y="2743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FF7"/>
                </a:solidFill>
              </a:rPr>
              <a:t>Compliance Score: 91/100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596128" y="3383280"/>
            <a:ext cx="1417320" cy="438912"/>
          </a:xfrm>
          <a:prstGeom prst="rect">
            <a:avLst/>
          </a:prstGeom>
          <a:solidFill>
            <a:srgbClr val="1A2D45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96128" y="338328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FF7"/>
                </a:solidFill>
              </a:rPr>
              <a:t>Review Report ▸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504688" y="470916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496AB"/>
                </a:solidFill>
              </a:rPr>
              <a:t>Screen 4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223760" y="914400"/>
            <a:ext cx="1600200" cy="3977640"/>
          </a:xfrm>
          <a:prstGeom prst="rect">
            <a:avLst/>
          </a:prstGeom>
          <a:solidFill>
            <a:srgbClr val="162236"/>
          </a:solidFill>
          <a:ln w="12700">
            <a:solidFill>
              <a:srgbClr val="00BC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223760" y="914400"/>
            <a:ext cx="1600200" cy="411480"/>
          </a:xfrm>
          <a:prstGeom prst="rect">
            <a:avLst/>
          </a:prstGeom>
          <a:solidFill>
            <a:srgbClr val="00BCF2"/>
          </a:solidFill>
          <a:ln w="12700">
            <a:solidFill>
              <a:srgbClr val="00BCF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23760" y="9144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Mgmt Dashboard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315200" y="1463040"/>
            <a:ext cx="1417320" cy="438912"/>
          </a:xfrm>
          <a:prstGeom prst="rect">
            <a:avLst/>
          </a:prstGeom>
          <a:solidFill>
            <a:srgbClr val="1A2D45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15200" y="146304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FF7"/>
                </a:solidFill>
              </a:rPr>
              <a:t>Idea Briefs Received: 4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315200" y="2103120"/>
            <a:ext cx="1417320" cy="438912"/>
          </a:xfrm>
          <a:prstGeom prst="rect">
            <a:avLst/>
          </a:prstGeom>
          <a:solidFill>
            <a:srgbClr val="1A2D45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15200" y="210312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FF7"/>
                </a:solidFill>
              </a:rPr>
              <a:t>Project Autonomy Score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315200" y="2743200"/>
            <a:ext cx="1417320" cy="438912"/>
          </a:xfrm>
          <a:prstGeom prst="rect">
            <a:avLst/>
          </a:prstGeom>
          <a:solidFill>
            <a:srgbClr val="1A2D45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315200" y="2743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FF7"/>
                </a:solidFill>
              </a:rPr>
              <a:t>Audit Pass Rate: 94%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315200" y="3383280"/>
            <a:ext cx="1417320" cy="438912"/>
          </a:xfrm>
          <a:prstGeom prst="rect">
            <a:avLst/>
          </a:prstGeom>
          <a:solidFill>
            <a:srgbClr val="1A2D45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15200" y="338328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FF7"/>
                </a:solidFill>
              </a:rPr>
              <a:t>AI Recommendations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223760" y="470916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496AB"/>
                </a:solidFill>
              </a:rPr>
              <a:t>Screen 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SCALABILITY &amp; IMPLEMENTATION PLAN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914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188720"/>
            <a:ext cx="2651760" cy="3200400"/>
          </a:xfrm>
          <a:prstGeom prst="rect">
            <a:avLst/>
          </a:prstGeom>
          <a:solidFill>
            <a:srgbClr val="F0F6FF"/>
          </a:solidFill>
          <a:ln w="12700">
            <a:solidFill>
              <a:srgbClr val="E8EF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188720"/>
            <a:ext cx="2651760" cy="7498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2070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" y="1554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Foundation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2103120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41248" y="20756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</a:rPr>
              <a:t>AI Dashboard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260604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41248" y="25786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</a:rPr>
              <a:t>Task Prioritisation Engine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3108960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1248" y="30815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</a:rPr>
              <a:t>Communication Assistant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3611880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41248" y="35844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</a:rPr>
              <a:t>Basic Bot Integration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3200400" y="1188720"/>
            <a:ext cx="2651760" cy="3200400"/>
          </a:xfrm>
          <a:prstGeom prst="rect">
            <a:avLst/>
          </a:prstGeom>
          <a:solidFill>
            <a:srgbClr val="F0F6FF"/>
          </a:solidFill>
          <a:ln w="12700">
            <a:solidFill>
              <a:srgbClr val="E8EFF7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3200400" y="1188720"/>
            <a:ext cx="2651760" cy="749808"/>
          </a:xfrm>
          <a:prstGeom prst="rect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337560" y="12070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02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3337560" y="1554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Intelligence</a:t>
            </a:r>
            <a:endParaRPr lang="en-US" sz="12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2103120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694176" y="20756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</a:rPr>
              <a:t>Meeting Intelligence Hub</a:t>
            </a:r>
            <a:endParaRPr lang="en-US" sz="11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4992" y="2606040"/>
            <a:ext cx="256032" cy="25603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3694176" y="25786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</a:rPr>
              <a:t>Enterprise Knowledge Repository</a:t>
            </a:r>
            <a:endParaRPr lang="en-US" sz="11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4992" y="3108960"/>
            <a:ext cx="256032" cy="25603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3694176" y="30815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</a:rPr>
              <a:t>Advanced Analytics</a:t>
            </a:r>
            <a:endParaRPr lang="en-US" sz="11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64992" y="3611880"/>
            <a:ext cx="256032" cy="256032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3694176" y="35844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</a:rPr>
              <a:t>Multi-department rollout</a:t>
            </a:r>
            <a:endParaRPr lang="en-US" sz="1100" dirty="0"/>
          </a:p>
        </p:txBody>
      </p:sp>
      <p:sp>
        <p:nvSpPr>
          <p:cNvPr id="29" name="Shape 19"/>
          <p:cNvSpPr/>
          <p:nvPr/>
        </p:nvSpPr>
        <p:spPr>
          <a:xfrm>
            <a:off x="6053328" y="1188720"/>
            <a:ext cx="2651760" cy="3200400"/>
          </a:xfrm>
          <a:prstGeom prst="rect">
            <a:avLst/>
          </a:prstGeom>
          <a:solidFill>
            <a:srgbClr val="F0F6FF"/>
          </a:solidFill>
          <a:ln w="12700">
            <a:solidFill>
              <a:srgbClr val="E8EFF7"/>
            </a:solidFill>
            <a:prstDash val="solid"/>
          </a:ln>
        </p:spPr>
      </p:sp>
      <p:sp>
        <p:nvSpPr>
          <p:cNvPr id="30" name="Shape 20"/>
          <p:cNvSpPr/>
          <p:nvPr/>
        </p:nvSpPr>
        <p:spPr>
          <a:xfrm>
            <a:off x="6053328" y="1188720"/>
            <a:ext cx="2651760" cy="749808"/>
          </a:xfrm>
          <a:prstGeom prst="rect">
            <a:avLst/>
          </a:prstGeom>
          <a:solidFill>
            <a:srgbClr val="F7630C"/>
          </a:solidFill>
          <a:ln w="12700">
            <a:solidFill>
              <a:srgbClr val="F7630C"/>
            </a:solidFill>
            <a:prstDash val="solid"/>
          </a:ln>
        </p:spPr>
      </p:sp>
      <p:sp>
        <p:nvSpPr>
          <p:cNvPr id="31" name="Text 21"/>
          <p:cNvSpPr/>
          <p:nvPr/>
        </p:nvSpPr>
        <p:spPr>
          <a:xfrm>
            <a:off x="6190488" y="12070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03</a:t>
            </a:r>
            <a:endParaRPr lang="en-US" sz="1400" dirty="0"/>
          </a:p>
        </p:txBody>
      </p:sp>
      <p:sp>
        <p:nvSpPr>
          <p:cNvPr id="32" name="Text 22"/>
          <p:cNvSpPr/>
          <p:nvPr/>
        </p:nvSpPr>
        <p:spPr>
          <a:xfrm>
            <a:off x="6190488" y="1554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Enterprise Scale</a:t>
            </a:r>
            <a:endParaRPr lang="en-US" sz="12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7920" y="2103120"/>
            <a:ext cx="256032" cy="256032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6547104" y="20756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</a:rPr>
              <a:t>Audit Automation Engine</a:t>
            </a:r>
            <a:endParaRPr lang="en-US" sz="11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7920" y="2606040"/>
            <a:ext cx="256032" cy="256032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6547104" y="25786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</a:rPr>
              <a:t>Predictive Analytics</a:t>
            </a:r>
            <a:endParaRPr lang="en-US" sz="1100" dirty="0"/>
          </a:p>
        </p:txBody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7920" y="3108960"/>
            <a:ext cx="256032" cy="256032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6547104" y="30815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</a:rPr>
              <a:t>Multi-region deployment</a:t>
            </a:r>
            <a:endParaRPr lang="en-US" sz="1100" dirty="0"/>
          </a:p>
        </p:txBody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7920" y="3611880"/>
            <a:ext cx="256032" cy="256032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6547104" y="35844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</a:rPr>
              <a:t>AI Agent Swarm integration</a:t>
            </a:r>
            <a:endParaRPr lang="en-US" sz="1100" dirty="0"/>
          </a:p>
        </p:txBody>
      </p:sp>
      <p:sp>
        <p:nvSpPr>
          <p:cNvPr id="41" name="Shape 27"/>
          <p:cNvSpPr/>
          <p:nvPr/>
        </p:nvSpPr>
        <p:spPr>
          <a:xfrm>
            <a:off x="347472" y="4526280"/>
            <a:ext cx="8449056" cy="457200"/>
          </a:xfrm>
          <a:prstGeom prst="rect">
            <a:avLst/>
          </a:prstGeom>
          <a:solidFill>
            <a:srgbClr val="F0F6FF"/>
          </a:solidFill>
          <a:ln w="12700">
            <a:solidFill>
              <a:srgbClr val="E8EFF7"/>
            </a:solidFill>
            <a:prstDash val="solid"/>
          </a:ln>
        </p:spPr>
      </p:sp>
      <p:sp>
        <p:nvSpPr>
          <p:cNvPr id="42" name="Text 28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B2D"/>
                </a:solidFill>
              </a:rPr>
              <a:t>Cloud-native Azure architecture enables horizontal scaling · Multi-region deployment · Suitable for SMEs to Global Enterprises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37160"/>
          </a:xfrm>
          <a:prstGeom prst="rect">
            <a:avLst/>
          </a:prstGeom>
          <a:solidFill>
            <a:srgbClr val="00BCF2"/>
          </a:solidFill>
          <a:ln w="12700">
            <a:solidFill>
              <a:srgbClr val="00BCF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73152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008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Why Adaptive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57200" y="1261872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BCF2"/>
                </a:solidFill>
              </a:rPr>
              <a:t>Workplace OS Wins</a:t>
            </a:r>
            <a:endParaRPr lang="en-US" sz="3800" dirty="0"/>
          </a:p>
        </p:txBody>
      </p:sp>
      <p:sp>
        <p:nvSpPr>
          <p:cNvPr id="7" name="Shape 4"/>
          <p:cNvSpPr/>
          <p:nvPr/>
        </p:nvSpPr>
        <p:spPr>
          <a:xfrm>
            <a:off x="457200" y="2057400"/>
            <a:ext cx="502920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12848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219456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FF7"/>
                </a:solidFill>
              </a:rPr>
              <a:t>Daily task auto-submission removes competition and cognitive load at task level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88336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2960" y="267004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FF7"/>
                </a:solidFill>
              </a:rPr>
              <a:t>Project autonomy based on employee feasibility — not manual scheduling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63824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2960" y="314553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FF7"/>
                </a:solidFill>
              </a:rPr>
              <a:t>Common team dashboard with preloaded tools eliminates fragmentation</a:t>
            </a:r>
            <a:endParaRPr lang="en-US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639312"/>
            <a:ext cx="274320" cy="2743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22960" y="362102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FF7"/>
                </a:solidFill>
              </a:rPr>
              <a:t>GenAI audit of images and data with testing session — no manual review</a:t>
            </a:r>
            <a:endParaRPr lang="en-US" sz="13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114800"/>
            <a:ext cx="274320" cy="27432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22960" y="409651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FF7"/>
                </a:solidFill>
              </a:rPr>
              <a:t>Bot-to-repository idea pipeline with auto-brief to management closes the loop</a:t>
            </a:r>
            <a:endParaRPr lang="en-US" sz="1300" dirty="0"/>
          </a:p>
        </p:txBody>
      </p:sp>
      <p:sp>
        <p:nvSpPr>
          <p:cNvPr id="18" name="Shape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19" name="Text 11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496AB"/>
                </a:solidFill>
              </a:rPr>
              <a:t>Pallab Behari Chaklanabis  |  Microsoft Build AI 2026  |  Adaptive Workplace OS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Workplace OS — Microsoft Build AI 2026</dc:title>
  <dc:subject>PptxGenJS Presentation</dc:subject>
  <dc:creator>Pallab Behari Chaklanabis</dc:creator>
  <cp:lastModifiedBy>Pallab Behari Chaklanabis</cp:lastModifiedBy>
  <cp:revision>1</cp:revision>
  <dcterms:created xsi:type="dcterms:W3CDTF">2026-06-05T18:23:17Z</dcterms:created>
  <dcterms:modified xsi:type="dcterms:W3CDTF">2026-06-05T18:23:17Z</dcterms:modified>
</cp:coreProperties>
</file>